
<file path=[Content_Types].xml><?xml version="1.0" encoding="utf-8"?>
<Types xmlns="http://schemas.openxmlformats.org/package/2006/content-types">
  <Default ContentType="application/xml" Extension="xml"/>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16.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1.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49" r:id="rId3"/>
  </p:sldMasterIdLst>
  <p:notesMasterIdLst>
    <p:notesMasterId r:id="rId4"/>
  </p:notesMasterIdLst>
  <p:sldIdLst>
    <p:sldId id="256" r:id="rId5"/>
    <p:sldId id="257" r:id="rId6"/>
    <p:sldId id="258" r:id="rId7"/>
    <p:sldId id="259" r:id="rId8"/>
    <p:sldId id="260" r:id="rId9"/>
    <p:sldId id="261" r:id="rId10"/>
    <p:sldId id="262" r:id="rId11"/>
    <p:sldId id="263" r:id="rId12"/>
    <p:sldId id="264" r:id="rId13"/>
    <p:sldId id="265" r:id="rId14"/>
    <p:sldId id="266" r:id="rId15"/>
    <p:sldId id="267" r:id="rId16"/>
    <p:sldId id="268" r:id="rId17"/>
    <p:sldId id="269" r:id="rId18"/>
    <p:sldId id="270" r:id="rId19"/>
    <p:sldId id="271" r:id="rId20"/>
  </p:sldIdLst>
  <p:sldSz cy="6858000" cx="12188950"/>
  <p:notesSz cx="6858000" cy="1218895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20" Type="http://schemas.openxmlformats.org/officeDocument/2006/relationships/slide" Target="slides/slide16.xml"/><Relationship Id="rId11" Type="http://schemas.openxmlformats.org/officeDocument/2006/relationships/slide" Target="slides/slide7.xml"/><Relationship Id="rId10" Type="http://schemas.openxmlformats.org/officeDocument/2006/relationships/slide" Target="slides/slide6.xml"/><Relationship Id="rId13" Type="http://schemas.openxmlformats.org/officeDocument/2006/relationships/slide" Target="slides/slide9.xml"/><Relationship Id="rId12" Type="http://schemas.openxmlformats.org/officeDocument/2006/relationships/slide" Target="slides/slide8.xml"/><Relationship Id="rId1" Type="http://schemas.openxmlformats.org/officeDocument/2006/relationships/theme" Target="theme/theme2.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9" Type="http://schemas.openxmlformats.org/officeDocument/2006/relationships/slide" Target="slides/slide5.xml"/><Relationship Id="rId15" Type="http://schemas.openxmlformats.org/officeDocument/2006/relationships/slide" Target="slides/slide11.xml"/><Relationship Id="rId14" Type="http://schemas.openxmlformats.org/officeDocument/2006/relationships/slide" Target="slides/slide10.xml"/><Relationship Id="rId17" Type="http://schemas.openxmlformats.org/officeDocument/2006/relationships/slide" Target="slides/slide13.xml"/><Relationship Id="rId16" Type="http://schemas.openxmlformats.org/officeDocument/2006/relationships/slide" Target="slides/slide12.xml"/><Relationship Id="rId5" Type="http://schemas.openxmlformats.org/officeDocument/2006/relationships/slide" Target="slides/slide1.xml"/><Relationship Id="rId19" Type="http://schemas.openxmlformats.org/officeDocument/2006/relationships/slide" Target="slides/slide15.xml"/><Relationship Id="rId6" Type="http://schemas.openxmlformats.org/officeDocument/2006/relationships/slide" Target="slides/slide2.xml"/><Relationship Id="rId18" Type="http://schemas.openxmlformats.org/officeDocument/2006/relationships/slide" Target="slides/slide14.xml"/><Relationship Id="rId7" Type="http://schemas.openxmlformats.org/officeDocument/2006/relationships/slide" Target="slides/slide3.xml"/><Relationship Id="rId8" Type="http://schemas.openxmlformats.org/officeDocument/2006/relationships/slide" Target="slides/slide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indent="-228600" lvl="1" marL="914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2pPr>
            <a:lvl3pPr indent="-228600" lvl="2" marL="1371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3pPr>
            <a:lvl4pPr indent="-228600" lvl="3" marL="1828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4pPr>
            <a:lvl5pPr indent="-228600" lvl="4" marL="22860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 name="Shape 11"/>
        <p:cNvGrpSpPr/>
        <p:nvPr/>
      </p:nvGrpSpPr>
      <p:grpSpPr>
        <a:xfrm>
          <a:off x="0" y="0"/>
          <a:ext cx="0" cy="0"/>
          <a:chOff x="0" y="0"/>
          <a:chExt cx="0" cy="0"/>
        </a:xfrm>
      </p:grpSpPr>
      <p:sp>
        <p:nvSpPr>
          <p:cNvPr id="12" name="Google Shape;12;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 name="Google Shape;13;p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4" name="Google Shape;14;p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 name="Shape 31"/>
        <p:cNvGrpSpPr/>
        <p:nvPr/>
      </p:nvGrpSpPr>
      <p:grpSpPr>
        <a:xfrm>
          <a:off x="0" y="0"/>
          <a:ext cx="0" cy="0"/>
          <a:chOff x="0" y="0"/>
          <a:chExt cx="0" cy="0"/>
        </a:xfrm>
      </p:grpSpPr>
      <p:sp>
        <p:nvSpPr>
          <p:cNvPr id="32" name="Google Shape;32;p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3" name="Google Shape;33;p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4" name="Google Shape;34;p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 name="Shape 57"/>
        <p:cNvGrpSpPr/>
        <p:nvPr/>
      </p:nvGrpSpPr>
      <p:grpSpPr>
        <a:xfrm>
          <a:off x="0" y="0"/>
          <a:ext cx="0" cy="0"/>
          <a:chOff x="0" y="0"/>
          <a:chExt cx="0" cy="0"/>
        </a:xfrm>
      </p:grpSpPr>
      <p:sp>
        <p:nvSpPr>
          <p:cNvPr id="58" name="Google Shape;58;p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9" name="Google Shape;59;p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0" name="Google Shape;60;p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9" name="Shape 89"/>
        <p:cNvGrpSpPr/>
        <p:nvPr/>
      </p:nvGrpSpPr>
      <p:grpSpPr>
        <a:xfrm>
          <a:off x="0" y="0"/>
          <a:ext cx="0" cy="0"/>
          <a:chOff x="0" y="0"/>
          <a:chExt cx="0" cy="0"/>
        </a:xfrm>
      </p:grpSpPr>
      <p:sp>
        <p:nvSpPr>
          <p:cNvPr id="90" name="Google Shape;90;p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1" name="Google Shape;91;p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2" name="Google Shape;92;p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8" name="Shape 118"/>
        <p:cNvGrpSpPr/>
        <p:nvPr/>
      </p:nvGrpSpPr>
      <p:grpSpPr>
        <a:xfrm>
          <a:off x="0" y="0"/>
          <a:ext cx="0" cy="0"/>
          <a:chOff x="0" y="0"/>
          <a:chExt cx="0" cy="0"/>
        </a:xfrm>
      </p:grpSpPr>
      <p:sp>
        <p:nvSpPr>
          <p:cNvPr id="119" name="Google Shape;119;p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20" name="Google Shape;120;p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Creator onboarding flow (Application -&gt; Review -&gt; Approval -&gt; Publishing -&gt; Revenue) is the required narrative sequence. NEEDS: Code Audit confirmation that this matches the actual implemented workflow before presenting as fact. Dashboard balance figure needs UI Screenshot Gallery or a confirmed real number.</a:t>
            </a:r>
            <a:endParaRPr/>
          </a:p>
        </p:txBody>
      </p:sp>
      <p:sp>
        <p:nvSpPr>
          <p:cNvPr id="121" name="Google Shape;121;p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5" name="Shape 155"/>
        <p:cNvGrpSpPr/>
        <p:nvPr/>
      </p:nvGrpSpPr>
      <p:grpSpPr>
        <a:xfrm>
          <a:off x="0" y="0"/>
          <a:ext cx="0" cy="0"/>
          <a:chOff x="0" y="0"/>
          <a:chExt cx="0" cy="0"/>
        </a:xfrm>
      </p:grpSpPr>
      <p:sp>
        <p:nvSpPr>
          <p:cNvPr id="156" name="Google Shape;156;p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57" name="Google Shape;157;p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Guardrail set is the required narrative content (session budgets, max report price, provider allowlists, duplicate prevention, cooldowns). NEEDS: Code Audit Report to confirm each of these is actually implemented as described, and to supply real default values in place of the illustrative framing above.</a:t>
            </a:r>
            <a:endParaRPr/>
          </a:p>
        </p:txBody>
      </p:sp>
      <p:sp>
        <p:nvSpPr>
          <p:cNvPr id="158" name="Google Shape;158;p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1" name="Shape 191"/>
        <p:cNvGrpSpPr/>
        <p:nvPr/>
      </p:nvGrpSpPr>
      <p:grpSpPr>
        <a:xfrm>
          <a:off x="0" y="0"/>
          <a:ext cx="0" cy="0"/>
          <a:chOff x="0" y="0"/>
          <a:chExt cx="0" cy="0"/>
        </a:xfrm>
      </p:grpSpPr>
      <p:sp>
        <p:nvSpPr>
          <p:cNvPr id="192" name="Google Shape;192;p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93" name="Google Shape;193;p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NEEDS: Code Audit Report to confirm this eight-step sequence matches the actual implemented agent execution flow rather than an idealized version.</a:t>
            </a:r>
            <a:endParaRPr/>
          </a:p>
        </p:txBody>
      </p:sp>
      <p:sp>
        <p:nvSpPr>
          <p:cNvPr id="194" name="Google Shape;194;p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3" name="Shape 233"/>
        <p:cNvGrpSpPr/>
        <p:nvPr/>
      </p:nvGrpSpPr>
      <p:grpSpPr>
        <a:xfrm>
          <a:off x="0" y="0"/>
          <a:ext cx="0" cy="0"/>
          <a:chOff x="0" y="0"/>
          <a:chExt cx="0" cy="0"/>
        </a:xfrm>
      </p:grpSpPr>
      <p:sp>
        <p:nvSpPr>
          <p:cNvPr id="234" name="Google Shape;234;p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35" name="Google Shape;235;p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Raw HTTP 402 payloads, EIP-712 signing internals, contract addresses, and chain IDs intentionally excluded from this slide per brief — see Appendix. NEEDS: Code Audit to confirm actual measured Arc settlement time before using a specific figure.</a:t>
            </a:r>
            <a:endParaRPr/>
          </a:p>
        </p:txBody>
      </p:sp>
      <p:sp>
        <p:nvSpPr>
          <p:cNvPr id="236" name="Google Shape;236;p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5" name="Shape 265"/>
        <p:cNvGrpSpPr/>
        <p:nvPr/>
      </p:nvGrpSpPr>
      <p:grpSpPr>
        <a:xfrm>
          <a:off x="0" y="0"/>
          <a:ext cx="0" cy="0"/>
          <a:chOff x="0" y="0"/>
          <a:chExt cx="0" cy="0"/>
        </a:xfrm>
      </p:grpSpPr>
      <p:sp>
        <p:nvSpPr>
          <p:cNvPr id="266" name="Google Shape;266;p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67" name="Google Shape;267;p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NEEDS: Code Audit Report to confirm every claim on this slide. 'Webhook sandboxing' and 'verification locks' specifically do not appear in the original deck (which only covered EIP-712 signing, Circle KMS custody, and idempotency) -- confirm these are real hardening work before presenting them.</a:t>
            </a:r>
            <a:endParaRPr/>
          </a:p>
        </p:txBody>
      </p:sp>
      <p:sp>
        <p:nvSpPr>
          <p:cNvPr id="268" name="Google Shape;268;p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1" name="Shape 301"/>
        <p:cNvGrpSpPr/>
        <p:nvPr/>
      </p:nvGrpSpPr>
      <p:grpSpPr>
        <a:xfrm>
          <a:off x="0" y="0"/>
          <a:ext cx="0" cy="0"/>
          <a:chOff x="0" y="0"/>
          <a:chExt cx="0" cy="0"/>
        </a:xfrm>
      </p:grpSpPr>
      <p:sp>
        <p:nvSpPr>
          <p:cNvPr id="302" name="Google Shape;302;p1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03" name="Google Shape;303;p1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NEEDS: UI Screenshot Gallery. Replace each placeholder frame with the real screenshot for Landing Page, Marketplace, Workbench, Profile, and Agent Session UI, in that order, to show an actual user journey rather than an illustration.</a:t>
            </a:r>
            <a:endParaRPr/>
          </a:p>
        </p:txBody>
      </p:sp>
      <p:sp>
        <p:nvSpPr>
          <p:cNvPr id="304" name="Google Shape;304;p1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7" name="Shape 337"/>
        <p:cNvGrpSpPr/>
        <p:nvPr/>
      </p:nvGrpSpPr>
      <p:grpSpPr>
        <a:xfrm>
          <a:off x="0" y="0"/>
          <a:ext cx="0" cy="0"/>
          <a:chOff x="0" y="0"/>
          <a:chExt cx="0" cy="0"/>
        </a:xfrm>
      </p:grpSpPr>
      <p:sp>
        <p:nvSpPr>
          <p:cNvPr id="338" name="Google Shape;338;p1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39" name="Google Shape;339;p1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40" name="Google Shape;340;p1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3" name="Shape 363"/>
        <p:cNvGrpSpPr/>
        <p:nvPr/>
      </p:nvGrpSpPr>
      <p:grpSpPr>
        <a:xfrm>
          <a:off x="0" y="0"/>
          <a:ext cx="0" cy="0"/>
          <a:chOff x="0" y="0"/>
          <a:chExt cx="0" cy="0"/>
        </a:xfrm>
      </p:grpSpPr>
      <p:sp>
        <p:nvSpPr>
          <p:cNvPr id="364" name="Google Shape;364;p1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65" name="Google Shape;365;p1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NEEDS: Code Audit Report to confirm actual current deployment stage (testnet vs mainnet) before labeling Phase 1 status. Phase 2/3 items reflect required narrative (agent-to-agent commerce, provider bidding markets, reputation/calibration).</a:t>
            </a:r>
            <a:endParaRPr/>
          </a:p>
        </p:txBody>
      </p:sp>
      <p:sp>
        <p:nvSpPr>
          <p:cNvPr id="366" name="Google Shape;366;p1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1" name="Shape 401"/>
        <p:cNvGrpSpPr/>
        <p:nvPr/>
      </p:nvGrpSpPr>
      <p:grpSpPr>
        <a:xfrm>
          <a:off x="0" y="0"/>
          <a:ext cx="0" cy="0"/>
          <a:chOff x="0" y="0"/>
          <a:chExt cx="0" cy="0"/>
        </a:xfrm>
      </p:grpSpPr>
      <p:sp>
        <p:nvSpPr>
          <p:cNvPr id="402" name="Google Shape;402;p1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03" name="Google Shape;403;p1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04" name="Google Shape;404;p1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1" name="Shape 411"/>
        <p:cNvGrpSpPr/>
        <p:nvPr/>
      </p:nvGrpSpPr>
      <p:grpSpPr>
        <a:xfrm>
          <a:off x="0" y="0"/>
          <a:ext cx="0" cy="0"/>
          <a:chOff x="0" y="0"/>
          <a:chExt cx="0" cy="0"/>
        </a:xfrm>
      </p:grpSpPr>
      <p:sp>
        <p:nvSpPr>
          <p:cNvPr id="412" name="Google Shape;412;p1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13" name="Google Shape;413;p1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14" name="Google Shape;414;p1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7" name="Shape 437"/>
        <p:cNvGrpSpPr/>
        <p:nvPr/>
      </p:nvGrpSpPr>
      <p:grpSpPr>
        <a:xfrm>
          <a:off x="0" y="0"/>
          <a:ext cx="0" cy="0"/>
          <a:chOff x="0" y="0"/>
          <a:chExt cx="0" cy="0"/>
        </a:xfrm>
      </p:grpSpPr>
      <p:sp>
        <p:nvSpPr>
          <p:cNvPr id="438" name="Google Shape;438;p1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39" name="Google Shape;439;p1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NEEDS: Code Audit Report to confirm this JSON payload matches actual middleware output before showing it in any technical Q&amp;A session.</a:t>
            </a:r>
            <a:endParaRPr/>
          </a:p>
        </p:txBody>
      </p:sp>
      <p:sp>
        <p:nvSpPr>
          <p:cNvPr id="440" name="Google Shape;440;p1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6" name="Shape 456"/>
        <p:cNvGrpSpPr/>
        <p:nvPr/>
      </p:nvGrpSpPr>
      <p:grpSpPr>
        <a:xfrm>
          <a:off x="0" y="0"/>
          <a:ext cx="0" cy="0"/>
          <a:chOff x="0" y="0"/>
          <a:chExt cx="0" cy="0"/>
        </a:xfrm>
      </p:grpSpPr>
      <p:sp>
        <p:nvSpPr>
          <p:cNvPr id="457" name="Google Shape;457;p1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58" name="Google Shape;458;p1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NEEDS: Code Audit Report for verified contract addresses / chain ID and to confirm the payment state machine and idempotency claims above.</a:t>
            </a:r>
            <a:endParaRPr/>
          </a:p>
        </p:txBody>
      </p:sp>
      <p:sp>
        <p:nvSpPr>
          <p:cNvPr id="459" name="Google Shape;459;p1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FAULT">
  <p:cSld name="DEFAULT">
    <p:bg>
      <p:bgPr>
        <a:solidFill>
          <a:schemeClr val="lt1"/>
        </a:solidFill>
      </p:bgPr>
    </p:bg>
    <p:spTree>
      <p:nvGrpSpPr>
        <p:cNvPr id="10" name="Shape 10"/>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 name="Shape 9"/>
        <p:cNvGrpSpPr/>
        <p:nvPr/>
      </p:nvGrpSpPr>
      <p:grpSpPr>
        <a:xfrm>
          <a:off x="0" y="0"/>
          <a:ext cx="0" cy="0"/>
          <a:chOff x="0" y="0"/>
          <a:chExt cx="0" cy="0"/>
        </a:xfrm>
      </p:grpSpPr>
    </p:spTree>
  </p:cSld>
  <p:clrMap accent1="accent1" accent2="accent2" accent3="accent3" accent4="accent4" accent5="accent5" accent6="accent6" bg1="lt1" bg2="dk2" tx1="dk1" tx2="lt2" folHlink="folHlink" hlink="hlink"/>
  <p:sldLayoutIdLst>
    <p:sldLayoutId id="2147483648" r:id="rId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B0F1C"/>
        </a:solidFill>
      </p:bgPr>
    </p:bg>
    <p:spTree>
      <p:nvGrpSpPr>
        <p:cNvPr id="15" name="Shape 15"/>
        <p:cNvGrpSpPr/>
        <p:nvPr/>
      </p:nvGrpSpPr>
      <p:grpSpPr>
        <a:xfrm>
          <a:off x="0" y="0"/>
          <a:ext cx="0" cy="0"/>
          <a:chOff x="0" y="0"/>
          <a:chExt cx="0" cy="0"/>
        </a:xfrm>
      </p:grpSpPr>
      <p:sp>
        <p:nvSpPr>
          <p:cNvPr id="16" name="Google Shape;16;p3"/>
          <p:cNvSpPr/>
          <p:nvPr/>
        </p:nvSpPr>
        <p:spPr>
          <a:xfrm>
            <a:off x="3717036" y="502920"/>
            <a:ext cx="4754880" cy="4754880"/>
          </a:xfrm>
          <a:prstGeom prst="ellipse">
            <a:avLst/>
          </a:prstGeom>
          <a:noFill/>
          <a:ln cap="flat" cmpd="sng" w="12700">
            <a:solidFill>
              <a:srgbClr val="232C4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 name="Google Shape;17;p3"/>
          <p:cNvSpPr/>
          <p:nvPr/>
        </p:nvSpPr>
        <p:spPr>
          <a:xfrm>
            <a:off x="4219956" y="1005840"/>
            <a:ext cx="3749040" cy="3749040"/>
          </a:xfrm>
          <a:prstGeom prst="ellipse">
            <a:avLst/>
          </a:prstGeom>
          <a:noFill/>
          <a:ln cap="flat" cmpd="sng" w="12700">
            <a:solidFill>
              <a:srgbClr val="232C4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 name="Google Shape;18;p3"/>
          <p:cNvSpPr/>
          <p:nvPr/>
        </p:nvSpPr>
        <p:spPr>
          <a:xfrm>
            <a:off x="4722876" y="1508760"/>
            <a:ext cx="2743200" cy="2743200"/>
          </a:xfrm>
          <a:prstGeom prst="ellipse">
            <a:avLst/>
          </a:prstGeom>
          <a:noFill/>
          <a:ln cap="flat" cmpd="sng" w="19050">
            <a:solidFill>
              <a:srgbClr val="2DD4B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 name="Google Shape;19;p3"/>
          <p:cNvSpPr/>
          <p:nvPr/>
        </p:nvSpPr>
        <p:spPr>
          <a:xfrm>
            <a:off x="6012180" y="420624"/>
            <a:ext cx="164592" cy="164592"/>
          </a:xfrm>
          <a:prstGeom prst="ellipse">
            <a:avLst/>
          </a:prstGeom>
          <a:solidFill>
            <a:srgbClr val="2DD4B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 name="Google Shape;20;p3"/>
          <p:cNvSpPr/>
          <p:nvPr/>
        </p:nvSpPr>
        <p:spPr>
          <a:xfrm>
            <a:off x="8069580" y="1609344"/>
            <a:ext cx="164592" cy="164592"/>
          </a:xfrm>
          <a:prstGeom prst="ellipse">
            <a:avLst/>
          </a:prstGeom>
          <a:solidFill>
            <a:srgbClr val="8B7CF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 name="Google Shape;21;p3"/>
          <p:cNvSpPr/>
          <p:nvPr/>
        </p:nvSpPr>
        <p:spPr>
          <a:xfrm>
            <a:off x="8069580" y="3986784"/>
            <a:ext cx="164592" cy="164592"/>
          </a:xfrm>
          <a:prstGeom prst="ellipse">
            <a:avLst/>
          </a:prstGeom>
          <a:solidFill>
            <a:srgbClr val="34D39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 name="Google Shape;22;p3"/>
          <p:cNvSpPr/>
          <p:nvPr/>
        </p:nvSpPr>
        <p:spPr>
          <a:xfrm>
            <a:off x="6012180" y="5175504"/>
            <a:ext cx="164592" cy="164592"/>
          </a:xfrm>
          <a:prstGeom prst="ellipse">
            <a:avLst/>
          </a:prstGeom>
          <a:solidFill>
            <a:srgbClr val="2DD4B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 name="Google Shape;23;p3"/>
          <p:cNvSpPr/>
          <p:nvPr/>
        </p:nvSpPr>
        <p:spPr>
          <a:xfrm>
            <a:off x="3954780" y="3986784"/>
            <a:ext cx="164592" cy="164592"/>
          </a:xfrm>
          <a:prstGeom prst="ellipse">
            <a:avLst/>
          </a:prstGeom>
          <a:solidFill>
            <a:srgbClr val="8B7CF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 name="Google Shape;24;p3"/>
          <p:cNvSpPr/>
          <p:nvPr/>
        </p:nvSpPr>
        <p:spPr>
          <a:xfrm>
            <a:off x="3954780" y="1609344"/>
            <a:ext cx="164592" cy="164592"/>
          </a:xfrm>
          <a:prstGeom prst="ellipse">
            <a:avLst/>
          </a:prstGeom>
          <a:solidFill>
            <a:srgbClr val="34D39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 name="Google Shape;25;p3"/>
          <p:cNvSpPr/>
          <p:nvPr/>
        </p:nvSpPr>
        <p:spPr>
          <a:xfrm>
            <a:off x="0" y="2103120"/>
            <a:ext cx="12188952" cy="100584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6000"/>
              <a:buFont typeface="Calibri"/>
              <a:buNone/>
            </a:pPr>
            <a:r>
              <a:rPr b="1" i="0" lang="en-US" sz="6000" u="none" cap="none" strike="noStrike">
                <a:solidFill>
                  <a:srgbClr val="FFFFFF"/>
                </a:solidFill>
                <a:latin typeface="Calibri"/>
                <a:ea typeface="Calibri"/>
                <a:cs typeface="Calibri"/>
                <a:sym typeface="Calibri"/>
              </a:rPr>
              <a:t>QMA</a:t>
            </a:r>
            <a:endParaRPr b="0" i="0" sz="6000" u="none" cap="none" strike="noStrike">
              <a:solidFill>
                <a:schemeClr val="dk1"/>
              </a:solidFill>
              <a:latin typeface="Calibri"/>
              <a:ea typeface="Calibri"/>
              <a:cs typeface="Calibri"/>
              <a:sym typeface="Calibri"/>
            </a:endParaRPr>
          </a:p>
        </p:txBody>
      </p:sp>
      <p:sp>
        <p:nvSpPr>
          <p:cNvPr id="26" name="Google Shape;26;p3"/>
          <p:cNvSpPr/>
          <p:nvPr/>
        </p:nvSpPr>
        <p:spPr>
          <a:xfrm>
            <a:off x="0" y="3136392"/>
            <a:ext cx="12188952" cy="36576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2DD4BF"/>
              </a:buClr>
              <a:buSzPts val="1500"/>
              <a:buFont typeface="Calibri"/>
              <a:buNone/>
            </a:pPr>
            <a:r>
              <a:rPr b="1" i="0" lang="en-US" sz="1500" u="none" cap="none" strike="noStrike">
                <a:solidFill>
                  <a:srgbClr val="2DD4BF"/>
                </a:solidFill>
                <a:latin typeface="Calibri"/>
                <a:ea typeface="Calibri"/>
                <a:cs typeface="Calibri"/>
                <a:sym typeface="Calibri"/>
              </a:rPr>
              <a:t>AUTONOMOUS INTELLIGENCE MARKETPLACE</a:t>
            </a:r>
            <a:endParaRPr b="0" i="0" sz="1500" u="none" cap="none" strike="noStrike">
              <a:solidFill>
                <a:schemeClr val="dk1"/>
              </a:solidFill>
              <a:latin typeface="Calibri"/>
              <a:ea typeface="Calibri"/>
              <a:cs typeface="Calibri"/>
              <a:sym typeface="Calibri"/>
            </a:endParaRPr>
          </a:p>
        </p:txBody>
      </p:sp>
      <p:sp>
        <p:nvSpPr>
          <p:cNvPr id="27" name="Google Shape;27;p3"/>
          <p:cNvSpPr/>
          <p:nvPr/>
        </p:nvSpPr>
        <p:spPr>
          <a:xfrm>
            <a:off x="0" y="3538728"/>
            <a:ext cx="12188952" cy="41148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8B93A7"/>
              </a:buClr>
              <a:buSzPts val="1300"/>
              <a:buFont typeface="Calibri"/>
              <a:buNone/>
            </a:pPr>
            <a:r>
              <a:rPr b="0" i="1" lang="en-US" sz="1300" u="none" cap="none" strike="noStrike">
                <a:solidFill>
                  <a:srgbClr val="8B93A7"/>
                </a:solidFill>
                <a:latin typeface="Calibri"/>
                <a:ea typeface="Calibri"/>
                <a:cs typeface="Calibri"/>
                <a:sym typeface="Calibri"/>
              </a:rPr>
              <a:t>Where analysts publish, traders buy, and AI agents transact — priced and settled in USDC.</a:t>
            </a:r>
            <a:endParaRPr b="0" i="0" sz="1300" u="none" cap="none" strike="noStrike">
              <a:solidFill>
                <a:schemeClr val="dk1"/>
              </a:solidFill>
              <a:latin typeface="Calibri"/>
              <a:ea typeface="Calibri"/>
              <a:cs typeface="Calibri"/>
              <a:sym typeface="Calibri"/>
            </a:endParaRPr>
          </a:p>
        </p:txBody>
      </p:sp>
      <p:sp>
        <p:nvSpPr>
          <p:cNvPr id="28" name="Google Shape;28;p3"/>
          <p:cNvSpPr/>
          <p:nvPr/>
        </p:nvSpPr>
        <p:spPr>
          <a:xfrm>
            <a:off x="0" y="6172200"/>
            <a:ext cx="12188952" cy="32004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8B93A7"/>
              </a:buClr>
              <a:buSzPts val="1100"/>
              <a:buFont typeface="Calibri"/>
              <a:buNone/>
            </a:pPr>
            <a:r>
              <a:rPr b="0" i="0" lang="en-US" sz="1100" u="none" cap="none" strike="noStrike">
                <a:solidFill>
                  <a:srgbClr val="8B93A7"/>
                </a:solidFill>
                <a:latin typeface="Calibri"/>
                <a:ea typeface="Calibri"/>
                <a:cs typeface="Calibri"/>
                <a:sym typeface="Calibri"/>
              </a:rPr>
              <a:t>Presented by the QMA Team</a:t>
            </a:r>
            <a:endParaRPr b="0" i="0" sz="1100" u="none" cap="none" strike="noStrike">
              <a:solidFill>
                <a:schemeClr val="dk1"/>
              </a:solidFill>
              <a:latin typeface="Calibri"/>
              <a:ea typeface="Calibri"/>
              <a:cs typeface="Calibri"/>
              <a:sym typeface="Calibri"/>
            </a:endParaRPr>
          </a:p>
        </p:txBody>
      </p:sp>
      <p:sp>
        <p:nvSpPr>
          <p:cNvPr id="29" name="Google Shape;29;p3"/>
          <p:cNvSpPr/>
          <p:nvPr/>
        </p:nvSpPr>
        <p:spPr>
          <a:xfrm>
            <a:off x="457200" y="6473952"/>
            <a:ext cx="18288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B93A7"/>
              </a:buClr>
              <a:buSzPts val="1000"/>
              <a:buFont typeface="Calibri"/>
              <a:buNone/>
            </a:pPr>
            <a:r>
              <a:rPr b="1" i="0" lang="en-US" sz="1000" u="none" cap="none" strike="noStrike">
                <a:solidFill>
                  <a:srgbClr val="8B93A7"/>
                </a:solidFill>
                <a:latin typeface="Calibri"/>
                <a:ea typeface="Calibri"/>
                <a:cs typeface="Calibri"/>
                <a:sym typeface="Calibri"/>
              </a:rPr>
              <a:t>QMA</a:t>
            </a:r>
            <a:endParaRPr b="0" i="0" sz="1000" u="none" cap="none" strike="noStrike">
              <a:solidFill>
                <a:schemeClr val="dk1"/>
              </a:solidFill>
              <a:latin typeface="Calibri"/>
              <a:ea typeface="Calibri"/>
              <a:cs typeface="Calibri"/>
              <a:sym typeface="Calibri"/>
            </a:endParaRPr>
          </a:p>
        </p:txBody>
      </p:sp>
      <p:sp>
        <p:nvSpPr>
          <p:cNvPr id="30" name="Google Shape;30;p3"/>
          <p:cNvSpPr/>
          <p:nvPr/>
        </p:nvSpPr>
        <p:spPr>
          <a:xfrm>
            <a:off x="10817352" y="6473952"/>
            <a:ext cx="914400" cy="27432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8B93A7"/>
              </a:buClr>
              <a:buSzPts val="1000"/>
              <a:buFont typeface="Calibri"/>
              <a:buNone/>
            </a:pPr>
            <a:r>
              <a:rPr b="0" i="0" lang="en-US" sz="1000" u="none" cap="none" strike="noStrike">
                <a:solidFill>
                  <a:srgbClr val="8B93A7"/>
                </a:solidFill>
                <a:latin typeface="Calibri"/>
                <a:ea typeface="Calibri"/>
                <a:cs typeface="Calibri"/>
                <a:sym typeface="Calibri"/>
              </a:rPr>
              <a:t>01 / 16</a:t>
            </a:r>
            <a:endParaRPr b="0" i="0" sz="1000" u="none" cap="none" strike="noStrike">
              <a:solidFill>
                <a:schemeClr val="dk1"/>
              </a:solidFill>
              <a:latin typeface="Calibri"/>
              <a:ea typeface="Calibri"/>
              <a:cs typeface="Calibri"/>
              <a:sym typeface="Calibri"/>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B0F1C"/>
        </a:solidFill>
      </p:bgPr>
    </p:bg>
    <p:spTree>
      <p:nvGrpSpPr>
        <p:cNvPr id="35" name="Shape 35"/>
        <p:cNvGrpSpPr/>
        <p:nvPr/>
      </p:nvGrpSpPr>
      <p:grpSpPr>
        <a:xfrm>
          <a:off x="0" y="0"/>
          <a:ext cx="0" cy="0"/>
          <a:chOff x="0" y="0"/>
          <a:chExt cx="0" cy="0"/>
        </a:xfrm>
      </p:grpSpPr>
      <p:sp>
        <p:nvSpPr>
          <p:cNvPr id="36" name="Google Shape;36;p4"/>
          <p:cNvSpPr/>
          <p:nvPr/>
        </p:nvSpPr>
        <p:spPr>
          <a:xfrm>
            <a:off x="640080" y="502920"/>
            <a:ext cx="7315200" cy="32004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2DD4BF"/>
              </a:buClr>
              <a:buSzPts val="1200"/>
              <a:buFont typeface="Calibri"/>
              <a:buNone/>
            </a:pPr>
            <a:r>
              <a:rPr b="1" i="0" lang="en-US" sz="1200" u="none" cap="none" strike="noStrike">
                <a:solidFill>
                  <a:srgbClr val="2DD4BF"/>
                </a:solidFill>
                <a:latin typeface="Calibri"/>
                <a:ea typeface="Calibri"/>
                <a:cs typeface="Calibri"/>
                <a:sym typeface="Calibri"/>
              </a:rPr>
              <a:t>THE CORE PROBLEM</a:t>
            </a:r>
            <a:endParaRPr b="0" i="0" sz="1200" u="none" cap="none" strike="noStrike">
              <a:solidFill>
                <a:schemeClr val="dk1"/>
              </a:solidFill>
              <a:latin typeface="Calibri"/>
              <a:ea typeface="Calibri"/>
              <a:cs typeface="Calibri"/>
              <a:sym typeface="Calibri"/>
            </a:endParaRPr>
          </a:p>
        </p:txBody>
      </p:sp>
      <p:sp>
        <p:nvSpPr>
          <p:cNvPr id="37" name="Google Shape;37;p4"/>
          <p:cNvSpPr/>
          <p:nvPr/>
        </p:nvSpPr>
        <p:spPr>
          <a:xfrm>
            <a:off x="640080" y="804672"/>
            <a:ext cx="10789920" cy="7315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3400"/>
              <a:buFont typeface="Calibri"/>
              <a:buNone/>
            </a:pPr>
            <a:r>
              <a:rPr b="1" lang="en-US" sz="3400">
                <a:solidFill>
                  <a:srgbClr val="FFFFFF"/>
                </a:solidFill>
                <a:latin typeface="Calibri"/>
                <a:ea typeface="Calibri"/>
                <a:cs typeface="Calibri"/>
                <a:sym typeface="Calibri"/>
              </a:rPr>
              <a:t>Existing intelligence markets are built for humans, </a:t>
            </a:r>
            <a:br>
              <a:rPr b="1" lang="en-US" sz="3400">
                <a:solidFill>
                  <a:srgbClr val="FFFFFF"/>
                </a:solidFill>
                <a:latin typeface="Calibri"/>
                <a:ea typeface="Calibri"/>
                <a:cs typeface="Calibri"/>
                <a:sym typeface="Calibri"/>
              </a:rPr>
            </a:br>
            <a:r>
              <a:rPr b="1" lang="en-US" sz="3400">
                <a:solidFill>
                  <a:srgbClr val="FFFFFF"/>
                </a:solidFill>
                <a:latin typeface="Calibri"/>
                <a:ea typeface="Calibri"/>
                <a:cs typeface="Calibri"/>
                <a:sym typeface="Calibri"/>
              </a:rPr>
              <a:t>not agents </a:t>
            </a:r>
            <a:endParaRPr b="0" i="0" sz="3400" u="none" cap="none" strike="noStrike">
              <a:solidFill>
                <a:schemeClr val="dk1"/>
              </a:solidFill>
              <a:latin typeface="Calibri"/>
              <a:ea typeface="Calibri"/>
              <a:cs typeface="Calibri"/>
              <a:sym typeface="Calibri"/>
            </a:endParaRPr>
          </a:p>
        </p:txBody>
      </p:sp>
      <p:sp>
        <p:nvSpPr>
          <p:cNvPr id="38" name="Google Shape;38;p4"/>
          <p:cNvSpPr/>
          <p:nvPr/>
        </p:nvSpPr>
        <p:spPr>
          <a:xfrm>
            <a:off x="640080" y="1682495"/>
            <a:ext cx="9875400" cy="457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C7CCDA"/>
              </a:buClr>
              <a:buSzPts val="1500"/>
              <a:buFont typeface="Calibri"/>
              <a:buNone/>
            </a:pPr>
            <a:r>
              <a:rPr b="0" i="1" lang="en-US" sz="1500" u="none" cap="none" strike="noStrike">
                <a:solidFill>
                  <a:srgbClr val="C7CCDA"/>
                </a:solidFill>
                <a:latin typeface="Calibri"/>
                <a:ea typeface="Calibri"/>
                <a:cs typeface="Calibri"/>
                <a:sym typeface="Calibri"/>
              </a:rPr>
              <a:t>The market fails everyone — creators, buyers, and machines — in different ways.</a:t>
            </a:r>
            <a:endParaRPr b="0" i="0" sz="1500" u="none" cap="none" strike="noStrike">
              <a:solidFill>
                <a:schemeClr val="dk1"/>
              </a:solidFill>
              <a:latin typeface="Calibri"/>
              <a:ea typeface="Calibri"/>
              <a:cs typeface="Calibri"/>
              <a:sym typeface="Calibri"/>
            </a:endParaRPr>
          </a:p>
        </p:txBody>
      </p:sp>
      <p:sp>
        <p:nvSpPr>
          <p:cNvPr id="39" name="Google Shape;39;p4"/>
          <p:cNvSpPr/>
          <p:nvPr/>
        </p:nvSpPr>
        <p:spPr>
          <a:xfrm>
            <a:off x="640080" y="2286000"/>
            <a:ext cx="3413760" cy="3383280"/>
          </a:xfrm>
          <a:prstGeom prst="roundRect">
            <a:avLst>
              <a:gd fmla="val 2432" name="adj"/>
            </a:avLst>
          </a:prstGeom>
          <a:solidFill>
            <a:srgbClr val="141B2E"/>
          </a:solidFill>
          <a:ln cap="flat" cmpd="sng" w="12700">
            <a:solidFill>
              <a:srgbClr val="232C42"/>
            </a:solidFill>
            <a:prstDash val="solid"/>
            <a:round/>
            <a:headEnd len="sm" w="sm" type="none"/>
            <a:tailEnd len="sm" w="sm" type="none"/>
          </a:ln>
          <a:effectLst>
            <a:outerShdw blurRad="101600" rotWithShape="0" algn="bl" dir="5400000" dist="38100">
              <a:srgbClr val="000000">
                <a:alpha val="34902"/>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 name="Google Shape;40;p4"/>
          <p:cNvSpPr/>
          <p:nvPr/>
        </p:nvSpPr>
        <p:spPr>
          <a:xfrm>
            <a:off x="891540" y="2537460"/>
            <a:ext cx="685800" cy="685800"/>
          </a:xfrm>
          <a:prstGeom prst="ellipse">
            <a:avLst/>
          </a:prstGeom>
          <a:solidFill>
            <a:srgbClr val="0F1526"/>
          </a:solidFill>
          <a:ln cap="flat" cmpd="sng" w="22225">
            <a:solidFill>
              <a:srgbClr val="8B7CF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 name="Google Shape;41;p4"/>
          <p:cNvSpPr/>
          <p:nvPr/>
        </p:nvSpPr>
        <p:spPr>
          <a:xfrm>
            <a:off x="891540" y="2537460"/>
            <a:ext cx="685800" cy="6858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8B7CF6"/>
              </a:buClr>
              <a:buSzPts val="2550"/>
              <a:buFont typeface="Calibri"/>
              <a:buNone/>
            </a:pPr>
            <a:r>
              <a:rPr b="1" i="0" lang="en-US" sz="2550" u="none" cap="none" strike="noStrike">
                <a:solidFill>
                  <a:srgbClr val="8B7CF6"/>
                </a:solidFill>
                <a:latin typeface="Calibri"/>
                <a:ea typeface="Calibri"/>
                <a:cs typeface="Calibri"/>
                <a:sym typeface="Calibri"/>
              </a:rPr>
              <a:t>A</a:t>
            </a:r>
            <a:endParaRPr b="0" i="0" sz="2550" u="none" cap="none" strike="noStrike">
              <a:solidFill>
                <a:schemeClr val="dk1"/>
              </a:solidFill>
              <a:latin typeface="Calibri"/>
              <a:ea typeface="Calibri"/>
              <a:cs typeface="Calibri"/>
              <a:sym typeface="Calibri"/>
            </a:endParaRPr>
          </a:p>
        </p:txBody>
      </p:sp>
      <p:sp>
        <p:nvSpPr>
          <p:cNvPr id="42" name="Google Shape;42;p4"/>
          <p:cNvSpPr/>
          <p:nvPr/>
        </p:nvSpPr>
        <p:spPr>
          <a:xfrm>
            <a:off x="960120" y="3429000"/>
            <a:ext cx="2773680" cy="64008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1600"/>
              <a:buFont typeface="Calibri"/>
              <a:buNone/>
            </a:pPr>
            <a:r>
              <a:rPr b="1" i="0" lang="en-US" sz="1600" u="none" cap="none" strike="noStrike">
                <a:solidFill>
                  <a:srgbClr val="FFFFFF"/>
                </a:solidFill>
                <a:latin typeface="Calibri"/>
                <a:ea typeface="Calibri"/>
                <a:cs typeface="Calibri"/>
                <a:sym typeface="Calibri"/>
              </a:rPr>
              <a:t>Analysts Can't Monetize</a:t>
            </a:r>
            <a:endParaRPr b="0" i="0" sz="1600" u="none" cap="none" strike="noStrike">
              <a:solidFill>
                <a:schemeClr val="dk1"/>
              </a:solidFill>
              <a:latin typeface="Calibri"/>
              <a:ea typeface="Calibri"/>
              <a:cs typeface="Calibri"/>
              <a:sym typeface="Calibri"/>
            </a:endParaRPr>
          </a:p>
        </p:txBody>
      </p:sp>
      <p:sp>
        <p:nvSpPr>
          <p:cNvPr id="43" name="Google Shape;43;p4"/>
          <p:cNvSpPr/>
          <p:nvPr/>
        </p:nvSpPr>
        <p:spPr>
          <a:xfrm>
            <a:off x="960120" y="4069080"/>
            <a:ext cx="2773680" cy="1371600"/>
          </a:xfrm>
          <a:prstGeom prst="rect">
            <a:avLst/>
          </a:prstGeom>
          <a:noFill/>
          <a:ln>
            <a:noFill/>
          </a:ln>
        </p:spPr>
        <p:txBody>
          <a:bodyPr anchorCtr="0" anchor="t" bIns="45700" lIns="91425" spcFirstLastPara="1" rIns="91425" wrap="square" tIns="45700">
            <a:noAutofit/>
          </a:bodyPr>
          <a:lstStyle/>
          <a:p>
            <a:pPr indent="0" lvl="0" marL="0" marR="0" rtl="0" algn="l">
              <a:lnSpc>
                <a:spcPct val="144000"/>
              </a:lnSpc>
              <a:spcBef>
                <a:spcPts val="0"/>
              </a:spcBef>
              <a:spcAft>
                <a:spcPts val="0"/>
              </a:spcAft>
              <a:buClr>
                <a:srgbClr val="C7CCDA"/>
              </a:buClr>
              <a:buSzPts val="1250"/>
              <a:buFont typeface="Calibri"/>
              <a:buNone/>
            </a:pPr>
            <a:r>
              <a:rPr b="0" i="0" lang="en-US" sz="1250" u="none" cap="none" strike="noStrike">
                <a:solidFill>
                  <a:srgbClr val="C7CCDA"/>
                </a:solidFill>
                <a:latin typeface="Calibri"/>
                <a:ea typeface="Calibri"/>
                <a:cs typeface="Calibri"/>
                <a:sym typeface="Calibri"/>
              </a:rPr>
              <a:t>Real insight has no lightweight path to income — only all-or-nothing subscription businesses to build and run.</a:t>
            </a:r>
            <a:endParaRPr b="0" i="0" sz="1250" u="none" cap="none" strike="noStrike">
              <a:solidFill>
                <a:schemeClr val="dk1"/>
              </a:solidFill>
              <a:latin typeface="Calibri"/>
              <a:ea typeface="Calibri"/>
              <a:cs typeface="Calibri"/>
              <a:sym typeface="Calibri"/>
            </a:endParaRPr>
          </a:p>
        </p:txBody>
      </p:sp>
      <p:sp>
        <p:nvSpPr>
          <p:cNvPr id="44" name="Google Shape;44;p4"/>
          <p:cNvSpPr/>
          <p:nvPr/>
        </p:nvSpPr>
        <p:spPr>
          <a:xfrm>
            <a:off x="4373880" y="2286000"/>
            <a:ext cx="3413760" cy="3383280"/>
          </a:xfrm>
          <a:prstGeom prst="roundRect">
            <a:avLst>
              <a:gd fmla="val 2432" name="adj"/>
            </a:avLst>
          </a:prstGeom>
          <a:solidFill>
            <a:srgbClr val="141B2E"/>
          </a:solidFill>
          <a:ln cap="flat" cmpd="sng" w="12700">
            <a:solidFill>
              <a:srgbClr val="232C42"/>
            </a:solidFill>
            <a:prstDash val="solid"/>
            <a:round/>
            <a:headEnd len="sm" w="sm" type="none"/>
            <a:tailEnd len="sm" w="sm" type="none"/>
          </a:ln>
          <a:effectLst>
            <a:outerShdw blurRad="101600" rotWithShape="0" algn="bl" dir="5400000" dist="38100">
              <a:srgbClr val="000000">
                <a:alpha val="34902"/>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 name="Google Shape;45;p4"/>
          <p:cNvSpPr/>
          <p:nvPr/>
        </p:nvSpPr>
        <p:spPr>
          <a:xfrm>
            <a:off x="4625340" y="2537460"/>
            <a:ext cx="685800" cy="685800"/>
          </a:xfrm>
          <a:prstGeom prst="ellipse">
            <a:avLst/>
          </a:prstGeom>
          <a:solidFill>
            <a:srgbClr val="0F1526"/>
          </a:solidFill>
          <a:ln cap="flat" cmpd="sng" w="22225">
            <a:solidFill>
              <a:srgbClr val="2DD4B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 name="Google Shape;46;p4"/>
          <p:cNvSpPr/>
          <p:nvPr/>
        </p:nvSpPr>
        <p:spPr>
          <a:xfrm>
            <a:off x="4625340" y="2537460"/>
            <a:ext cx="685800" cy="6858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2DD4BF"/>
              </a:buClr>
              <a:buSzPts val="2550"/>
              <a:buFont typeface="Calibri"/>
              <a:buNone/>
            </a:pPr>
            <a:r>
              <a:rPr b="1" i="0" lang="en-US" sz="2550" u="none" cap="none" strike="noStrike">
                <a:solidFill>
                  <a:srgbClr val="2DD4BF"/>
                </a:solidFill>
                <a:latin typeface="Calibri"/>
                <a:ea typeface="Calibri"/>
                <a:cs typeface="Calibri"/>
                <a:sym typeface="Calibri"/>
              </a:rPr>
              <a:t>T</a:t>
            </a:r>
            <a:endParaRPr b="0" i="0" sz="2550" u="none" cap="none" strike="noStrike">
              <a:solidFill>
                <a:schemeClr val="dk1"/>
              </a:solidFill>
              <a:latin typeface="Calibri"/>
              <a:ea typeface="Calibri"/>
              <a:cs typeface="Calibri"/>
              <a:sym typeface="Calibri"/>
            </a:endParaRPr>
          </a:p>
        </p:txBody>
      </p:sp>
      <p:sp>
        <p:nvSpPr>
          <p:cNvPr id="47" name="Google Shape;47;p4"/>
          <p:cNvSpPr/>
          <p:nvPr/>
        </p:nvSpPr>
        <p:spPr>
          <a:xfrm>
            <a:off x="4693920" y="3429000"/>
            <a:ext cx="2773680" cy="64008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1600"/>
              <a:buFont typeface="Calibri"/>
              <a:buNone/>
            </a:pPr>
            <a:r>
              <a:rPr b="1" i="0" lang="en-US" sz="1600" u="none" cap="none" strike="noStrike">
                <a:solidFill>
                  <a:srgbClr val="FFFFFF"/>
                </a:solidFill>
                <a:latin typeface="Calibri"/>
                <a:ea typeface="Calibri"/>
                <a:cs typeface="Calibri"/>
                <a:sym typeface="Calibri"/>
              </a:rPr>
              <a:t>Traders Face Subscription Fatigue</a:t>
            </a:r>
            <a:endParaRPr b="0" i="0" sz="1600" u="none" cap="none" strike="noStrike">
              <a:solidFill>
                <a:schemeClr val="dk1"/>
              </a:solidFill>
              <a:latin typeface="Calibri"/>
              <a:ea typeface="Calibri"/>
              <a:cs typeface="Calibri"/>
              <a:sym typeface="Calibri"/>
            </a:endParaRPr>
          </a:p>
        </p:txBody>
      </p:sp>
      <p:sp>
        <p:nvSpPr>
          <p:cNvPr id="48" name="Google Shape;48;p4"/>
          <p:cNvSpPr/>
          <p:nvPr/>
        </p:nvSpPr>
        <p:spPr>
          <a:xfrm>
            <a:off x="4693920" y="4069080"/>
            <a:ext cx="2773680" cy="1371600"/>
          </a:xfrm>
          <a:prstGeom prst="rect">
            <a:avLst/>
          </a:prstGeom>
          <a:noFill/>
          <a:ln>
            <a:noFill/>
          </a:ln>
        </p:spPr>
        <p:txBody>
          <a:bodyPr anchorCtr="0" anchor="t" bIns="45700" lIns="91425" spcFirstLastPara="1" rIns="91425" wrap="square" tIns="45700">
            <a:noAutofit/>
          </a:bodyPr>
          <a:lstStyle/>
          <a:p>
            <a:pPr indent="0" lvl="0" marL="0" marR="0" rtl="0" algn="l">
              <a:lnSpc>
                <a:spcPct val="144000"/>
              </a:lnSpc>
              <a:spcBef>
                <a:spcPts val="0"/>
              </a:spcBef>
              <a:spcAft>
                <a:spcPts val="0"/>
              </a:spcAft>
              <a:buClr>
                <a:srgbClr val="C7CCDA"/>
              </a:buClr>
              <a:buSzPts val="1250"/>
              <a:buFont typeface="Calibri"/>
              <a:buNone/>
            </a:pPr>
            <a:r>
              <a:rPr b="0" i="0" lang="en-US" sz="1250" u="none" cap="none" strike="noStrike">
                <a:solidFill>
                  <a:srgbClr val="C7CCDA"/>
                </a:solidFill>
                <a:latin typeface="Calibri"/>
                <a:ea typeface="Calibri"/>
                <a:cs typeface="Calibri"/>
                <a:sym typeface="Calibri"/>
              </a:rPr>
              <a:t>Buyers pay for bundles of data just to get the one signal they actually want.</a:t>
            </a:r>
            <a:endParaRPr b="0" i="0" sz="1250" u="none" cap="none" strike="noStrike">
              <a:solidFill>
                <a:schemeClr val="dk1"/>
              </a:solidFill>
              <a:latin typeface="Calibri"/>
              <a:ea typeface="Calibri"/>
              <a:cs typeface="Calibri"/>
              <a:sym typeface="Calibri"/>
            </a:endParaRPr>
          </a:p>
        </p:txBody>
      </p:sp>
      <p:sp>
        <p:nvSpPr>
          <p:cNvPr id="49" name="Google Shape;49;p4"/>
          <p:cNvSpPr/>
          <p:nvPr/>
        </p:nvSpPr>
        <p:spPr>
          <a:xfrm>
            <a:off x="8107680" y="2286000"/>
            <a:ext cx="3413760" cy="3383280"/>
          </a:xfrm>
          <a:prstGeom prst="roundRect">
            <a:avLst>
              <a:gd fmla="val 2432" name="adj"/>
            </a:avLst>
          </a:prstGeom>
          <a:solidFill>
            <a:srgbClr val="141B2E"/>
          </a:solidFill>
          <a:ln cap="flat" cmpd="sng" w="12700">
            <a:solidFill>
              <a:srgbClr val="232C42"/>
            </a:solidFill>
            <a:prstDash val="solid"/>
            <a:round/>
            <a:headEnd len="sm" w="sm" type="none"/>
            <a:tailEnd len="sm" w="sm" type="none"/>
          </a:ln>
          <a:effectLst>
            <a:outerShdw blurRad="101600" rotWithShape="0" algn="bl" dir="5400000" dist="38100">
              <a:srgbClr val="000000">
                <a:alpha val="34902"/>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 name="Google Shape;50;p4"/>
          <p:cNvSpPr/>
          <p:nvPr/>
        </p:nvSpPr>
        <p:spPr>
          <a:xfrm>
            <a:off x="8359140" y="2537460"/>
            <a:ext cx="685800" cy="685800"/>
          </a:xfrm>
          <a:prstGeom prst="ellipse">
            <a:avLst/>
          </a:prstGeom>
          <a:solidFill>
            <a:srgbClr val="0F1526"/>
          </a:solidFill>
          <a:ln cap="flat" cmpd="sng" w="22225">
            <a:solidFill>
              <a:srgbClr val="34D39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 name="Google Shape;51;p4"/>
          <p:cNvSpPr/>
          <p:nvPr/>
        </p:nvSpPr>
        <p:spPr>
          <a:xfrm>
            <a:off x="8359140" y="2537460"/>
            <a:ext cx="685800" cy="6858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34D399"/>
              </a:buClr>
              <a:buSzPts val="2550"/>
              <a:buFont typeface="Calibri"/>
              <a:buNone/>
            </a:pPr>
            <a:r>
              <a:rPr b="1" i="0" lang="en-US" sz="2550" u="none" cap="none" strike="noStrike">
                <a:solidFill>
                  <a:srgbClr val="34D399"/>
                </a:solidFill>
                <a:latin typeface="Calibri"/>
                <a:ea typeface="Calibri"/>
                <a:cs typeface="Calibri"/>
                <a:sym typeface="Calibri"/>
              </a:rPr>
              <a:t>AI</a:t>
            </a:r>
            <a:endParaRPr b="0" i="0" sz="2550" u="none" cap="none" strike="noStrike">
              <a:solidFill>
                <a:schemeClr val="dk1"/>
              </a:solidFill>
              <a:latin typeface="Calibri"/>
              <a:ea typeface="Calibri"/>
              <a:cs typeface="Calibri"/>
              <a:sym typeface="Calibri"/>
            </a:endParaRPr>
          </a:p>
        </p:txBody>
      </p:sp>
      <p:sp>
        <p:nvSpPr>
          <p:cNvPr id="52" name="Google Shape;52;p4"/>
          <p:cNvSpPr/>
          <p:nvPr/>
        </p:nvSpPr>
        <p:spPr>
          <a:xfrm>
            <a:off x="8427720" y="3429000"/>
            <a:ext cx="2773680" cy="64008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1600"/>
              <a:buFont typeface="Calibri"/>
              <a:buNone/>
            </a:pPr>
            <a:r>
              <a:rPr b="1" i="0" lang="en-US" sz="1600" u="none" cap="none" strike="noStrike">
                <a:solidFill>
                  <a:srgbClr val="FFFFFF"/>
                </a:solidFill>
                <a:latin typeface="Calibri"/>
                <a:ea typeface="Calibri"/>
                <a:cs typeface="Calibri"/>
                <a:sym typeface="Calibri"/>
              </a:rPr>
              <a:t>Agents Can't Safely Buy</a:t>
            </a:r>
            <a:endParaRPr b="0" i="0" sz="1600" u="none" cap="none" strike="noStrike">
              <a:solidFill>
                <a:schemeClr val="dk1"/>
              </a:solidFill>
              <a:latin typeface="Calibri"/>
              <a:ea typeface="Calibri"/>
              <a:cs typeface="Calibri"/>
              <a:sym typeface="Calibri"/>
            </a:endParaRPr>
          </a:p>
        </p:txBody>
      </p:sp>
      <p:sp>
        <p:nvSpPr>
          <p:cNvPr id="53" name="Google Shape;53;p4"/>
          <p:cNvSpPr/>
          <p:nvPr/>
        </p:nvSpPr>
        <p:spPr>
          <a:xfrm>
            <a:off x="8427720" y="4069080"/>
            <a:ext cx="2773680" cy="1371600"/>
          </a:xfrm>
          <a:prstGeom prst="rect">
            <a:avLst/>
          </a:prstGeom>
          <a:noFill/>
          <a:ln>
            <a:noFill/>
          </a:ln>
        </p:spPr>
        <p:txBody>
          <a:bodyPr anchorCtr="0" anchor="t" bIns="45700" lIns="91425" spcFirstLastPara="1" rIns="91425" wrap="square" tIns="45700">
            <a:noAutofit/>
          </a:bodyPr>
          <a:lstStyle/>
          <a:p>
            <a:pPr indent="0" lvl="0" marL="0" marR="0" rtl="0" algn="l">
              <a:lnSpc>
                <a:spcPct val="144000"/>
              </a:lnSpc>
              <a:spcBef>
                <a:spcPts val="0"/>
              </a:spcBef>
              <a:spcAft>
                <a:spcPts val="0"/>
              </a:spcAft>
              <a:buClr>
                <a:srgbClr val="C7CCDA"/>
              </a:buClr>
              <a:buSzPts val="1250"/>
              <a:buFont typeface="Calibri"/>
              <a:buNone/>
            </a:pPr>
            <a:r>
              <a:rPr b="0" i="0" lang="en-US" sz="1250" u="none" cap="none" strike="noStrike">
                <a:solidFill>
                  <a:srgbClr val="C7CCDA"/>
                </a:solidFill>
                <a:latin typeface="Calibri"/>
                <a:ea typeface="Calibri"/>
                <a:cs typeface="Calibri"/>
                <a:sym typeface="Calibri"/>
              </a:rPr>
              <a:t>AI agents can't hold a credit card or manage a subscription — paywalls lock them out of intelligence entirely.</a:t>
            </a:r>
            <a:endParaRPr b="0" i="0" sz="1250" u="none" cap="none" strike="noStrike">
              <a:solidFill>
                <a:schemeClr val="dk1"/>
              </a:solidFill>
              <a:latin typeface="Calibri"/>
              <a:ea typeface="Calibri"/>
              <a:cs typeface="Calibri"/>
              <a:sym typeface="Calibri"/>
            </a:endParaRPr>
          </a:p>
        </p:txBody>
      </p:sp>
      <p:sp>
        <p:nvSpPr>
          <p:cNvPr id="54" name="Google Shape;54;p4"/>
          <p:cNvSpPr/>
          <p:nvPr/>
        </p:nvSpPr>
        <p:spPr>
          <a:xfrm>
            <a:off x="457200" y="6473952"/>
            <a:ext cx="18288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B93A7"/>
              </a:buClr>
              <a:buSzPts val="1000"/>
              <a:buFont typeface="Calibri"/>
              <a:buNone/>
            </a:pPr>
            <a:r>
              <a:rPr b="1" i="0" lang="en-US" sz="1000" u="none" cap="none" strike="noStrike">
                <a:solidFill>
                  <a:srgbClr val="8B93A7"/>
                </a:solidFill>
                <a:latin typeface="Calibri"/>
                <a:ea typeface="Calibri"/>
                <a:cs typeface="Calibri"/>
                <a:sym typeface="Calibri"/>
              </a:rPr>
              <a:t>QMA</a:t>
            </a:r>
            <a:endParaRPr b="0" i="0" sz="1000" u="none" cap="none" strike="noStrike">
              <a:solidFill>
                <a:schemeClr val="dk1"/>
              </a:solidFill>
              <a:latin typeface="Calibri"/>
              <a:ea typeface="Calibri"/>
              <a:cs typeface="Calibri"/>
              <a:sym typeface="Calibri"/>
            </a:endParaRPr>
          </a:p>
        </p:txBody>
      </p:sp>
      <p:sp>
        <p:nvSpPr>
          <p:cNvPr id="55" name="Google Shape;55;p4"/>
          <p:cNvSpPr/>
          <p:nvPr/>
        </p:nvSpPr>
        <p:spPr>
          <a:xfrm>
            <a:off x="1828800" y="6473952"/>
            <a:ext cx="45720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B93A7"/>
              </a:buClr>
              <a:buSzPts val="900"/>
              <a:buFont typeface="Calibri"/>
              <a:buNone/>
            </a:pPr>
            <a:r>
              <a:rPr b="0" i="0" lang="en-US" sz="900" u="none" cap="none" strike="noStrike">
                <a:solidFill>
                  <a:srgbClr val="8B93A7"/>
                </a:solidFill>
                <a:latin typeface="Calibri"/>
                <a:ea typeface="Calibri"/>
                <a:cs typeface="Calibri"/>
                <a:sym typeface="Calibri"/>
              </a:rPr>
              <a:t>Problem</a:t>
            </a:r>
            <a:endParaRPr b="0" i="0" sz="900" u="none" cap="none" strike="noStrike">
              <a:solidFill>
                <a:schemeClr val="dk1"/>
              </a:solidFill>
              <a:latin typeface="Calibri"/>
              <a:ea typeface="Calibri"/>
              <a:cs typeface="Calibri"/>
              <a:sym typeface="Calibri"/>
            </a:endParaRPr>
          </a:p>
        </p:txBody>
      </p:sp>
      <p:sp>
        <p:nvSpPr>
          <p:cNvPr id="56" name="Google Shape;56;p4"/>
          <p:cNvSpPr/>
          <p:nvPr/>
        </p:nvSpPr>
        <p:spPr>
          <a:xfrm>
            <a:off x="10817352" y="6473952"/>
            <a:ext cx="914400" cy="27432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8B93A7"/>
              </a:buClr>
              <a:buSzPts val="1000"/>
              <a:buFont typeface="Calibri"/>
              <a:buNone/>
            </a:pPr>
            <a:r>
              <a:rPr b="0" i="0" lang="en-US" sz="1000" u="none" cap="none" strike="noStrike">
                <a:solidFill>
                  <a:srgbClr val="8B93A7"/>
                </a:solidFill>
                <a:latin typeface="Calibri"/>
                <a:ea typeface="Calibri"/>
                <a:cs typeface="Calibri"/>
                <a:sym typeface="Calibri"/>
              </a:rPr>
              <a:t>02 / 16</a:t>
            </a:r>
            <a:endParaRPr b="0" i="0" sz="1000" u="none" cap="none" strike="noStrike">
              <a:solidFill>
                <a:schemeClr val="dk1"/>
              </a:solidFill>
              <a:latin typeface="Calibri"/>
              <a:ea typeface="Calibri"/>
              <a:cs typeface="Calibri"/>
              <a:sym typeface="Calibri"/>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B0F1C"/>
        </a:solidFill>
      </p:bgPr>
    </p:bg>
    <p:spTree>
      <p:nvGrpSpPr>
        <p:cNvPr id="61" name="Shape 61"/>
        <p:cNvGrpSpPr/>
        <p:nvPr/>
      </p:nvGrpSpPr>
      <p:grpSpPr>
        <a:xfrm>
          <a:off x="0" y="0"/>
          <a:ext cx="0" cy="0"/>
          <a:chOff x="0" y="0"/>
          <a:chExt cx="0" cy="0"/>
        </a:xfrm>
      </p:grpSpPr>
      <p:sp>
        <p:nvSpPr>
          <p:cNvPr id="62" name="Google Shape;62;p5"/>
          <p:cNvSpPr/>
          <p:nvPr/>
        </p:nvSpPr>
        <p:spPr>
          <a:xfrm>
            <a:off x="640080" y="502920"/>
            <a:ext cx="7315200" cy="32004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2DD4BF"/>
              </a:buClr>
              <a:buSzPts val="1200"/>
              <a:buFont typeface="Calibri"/>
              <a:buNone/>
            </a:pPr>
            <a:r>
              <a:rPr b="1" i="0" lang="en-US" sz="1200" u="none" cap="none" strike="noStrike">
                <a:solidFill>
                  <a:srgbClr val="2DD4BF"/>
                </a:solidFill>
                <a:latin typeface="Calibri"/>
                <a:ea typeface="Calibri"/>
                <a:cs typeface="Calibri"/>
                <a:sym typeface="Calibri"/>
              </a:rPr>
              <a:t>THE SOLUTION</a:t>
            </a:r>
            <a:endParaRPr b="0" i="0" sz="1200" u="none" cap="none" strike="noStrike">
              <a:solidFill>
                <a:schemeClr val="dk1"/>
              </a:solidFill>
              <a:latin typeface="Calibri"/>
              <a:ea typeface="Calibri"/>
              <a:cs typeface="Calibri"/>
              <a:sym typeface="Calibri"/>
            </a:endParaRPr>
          </a:p>
        </p:txBody>
      </p:sp>
      <p:sp>
        <p:nvSpPr>
          <p:cNvPr id="63" name="Google Shape;63;p5"/>
          <p:cNvSpPr/>
          <p:nvPr/>
        </p:nvSpPr>
        <p:spPr>
          <a:xfrm>
            <a:off x="640080" y="804672"/>
            <a:ext cx="10789920" cy="7315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3400"/>
              <a:buFont typeface="Calibri"/>
              <a:buNone/>
            </a:pPr>
            <a:r>
              <a:rPr b="1" i="0" lang="en-US" sz="3400" u="none" cap="none" strike="noStrike">
                <a:solidFill>
                  <a:srgbClr val="FFFFFF"/>
                </a:solidFill>
                <a:latin typeface="Calibri"/>
                <a:ea typeface="Calibri"/>
                <a:cs typeface="Calibri"/>
                <a:sym typeface="Calibri"/>
              </a:rPr>
              <a:t>QMA Marketplace</a:t>
            </a:r>
            <a:endParaRPr b="0" i="0" sz="3400" u="none" cap="none" strike="noStrike">
              <a:solidFill>
                <a:schemeClr val="dk1"/>
              </a:solidFill>
              <a:latin typeface="Calibri"/>
              <a:ea typeface="Calibri"/>
              <a:cs typeface="Calibri"/>
              <a:sym typeface="Calibri"/>
            </a:endParaRPr>
          </a:p>
        </p:txBody>
      </p:sp>
      <p:sp>
        <p:nvSpPr>
          <p:cNvPr id="64" name="Google Shape;64;p5"/>
          <p:cNvSpPr/>
          <p:nvPr/>
        </p:nvSpPr>
        <p:spPr>
          <a:xfrm>
            <a:off x="640080" y="1417320"/>
            <a:ext cx="9875520" cy="457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C7CCDA"/>
              </a:buClr>
              <a:buSzPts val="1500"/>
              <a:buFont typeface="Calibri"/>
              <a:buNone/>
            </a:pPr>
            <a:r>
              <a:rPr b="0" i="1" lang="en-US" sz="1500" u="none" cap="none" strike="noStrike">
                <a:solidFill>
                  <a:srgbClr val="C7CCDA"/>
                </a:solidFill>
                <a:latin typeface="Calibri"/>
                <a:ea typeface="Calibri"/>
                <a:cs typeface="Calibri"/>
                <a:sym typeface="Calibri"/>
              </a:rPr>
              <a:t>Publish once. Get paid per report. Sold to humans and agents alike.</a:t>
            </a:r>
            <a:endParaRPr b="0" i="0" sz="1500" u="none" cap="none" strike="noStrike">
              <a:solidFill>
                <a:schemeClr val="dk1"/>
              </a:solidFill>
              <a:latin typeface="Calibri"/>
              <a:ea typeface="Calibri"/>
              <a:cs typeface="Calibri"/>
              <a:sym typeface="Calibri"/>
            </a:endParaRPr>
          </a:p>
        </p:txBody>
      </p:sp>
      <p:sp>
        <p:nvSpPr>
          <p:cNvPr id="65" name="Google Shape;65;p5"/>
          <p:cNvSpPr/>
          <p:nvPr/>
        </p:nvSpPr>
        <p:spPr>
          <a:xfrm>
            <a:off x="640080" y="2386584"/>
            <a:ext cx="100584" cy="100584"/>
          </a:xfrm>
          <a:prstGeom prst="ellipse">
            <a:avLst/>
          </a:prstGeom>
          <a:solidFill>
            <a:srgbClr val="2DD4B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 name="Google Shape;66;p5"/>
          <p:cNvSpPr/>
          <p:nvPr/>
        </p:nvSpPr>
        <p:spPr>
          <a:xfrm>
            <a:off x="914400" y="2258568"/>
            <a:ext cx="5120640" cy="32004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1500"/>
              <a:buFont typeface="Calibri"/>
              <a:buNone/>
            </a:pPr>
            <a:r>
              <a:rPr b="1" i="0" lang="en-US" sz="1500" u="none" cap="none" strike="noStrike">
                <a:solidFill>
                  <a:srgbClr val="FFFFFF"/>
                </a:solidFill>
                <a:latin typeface="Calibri"/>
                <a:ea typeface="Calibri"/>
                <a:cs typeface="Calibri"/>
                <a:sym typeface="Calibri"/>
              </a:rPr>
              <a:t>Creators publish intelligence</a:t>
            </a:r>
            <a:endParaRPr b="0" i="0" sz="1500" u="none" cap="none" strike="noStrike">
              <a:solidFill>
                <a:schemeClr val="dk1"/>
              </a:solidFill>
              <a:latin typeface="Calibri"/>
              <a:ea typeface="Calibri"/>
              <a:cs typeface="Calibri"/>
              <a:sym typeface="Calibri"/>
            </a:endParaRPr>
          </a:p>
        </p:txBody>
      </p:sp>
      <p:sp>
        <p:nvSpPr>
          <p:cNvPr id="67" name="Google Shape;67;p5"/>
          <p:cNvSpPr/>
          <p:nvPr/>
        </p:nvSpPr>
        <p:spPr>
          <a:xfrm>
            <a:off x="914400" y="2578608"/>
            <a:ext cx="5120640" cy="502920"/>
          </a:xfrm>
          <a:prstGeom prst="rect">
            <a:avLst/>
          </a:prstGeom>
          <a:noFill/>
          <a:ln>
            <a:noFill/>
          </a:ln>
        </p:spPr>
        <p:txBody>
          <a:bodyPr anchorCtr="0" anchor="ctr" bIns="45700" lIns="91425" spcFirstLastPara="1" rIns="91425" wrap="square" tIns="45700">
            <a:noAutofit/>
          </a:bodyPr>
          <a:lstStyle/>
          <a:p>
            <a:pPr indent="0" lvl="0" marL="0" marR="0" rtl="0" algn="l">
              <a:lnSpc>
                <a:spcPct val="133333"/>
              </a:lnSpc>
              <a:spcBef>
                <a:spcPts val="0"/>
              </a:spcBef>
              <a:spcAft>
                <a:spcPts val="0"/>
              </a:spcAft>
              <a:buClr>
                <a:srgbClr val="C7CCDA"/>
              </a:buClr>
              <a:buSzPts val="1200"/>
              <a:buFont typeface="Calibri"/>
              <a:buNone/>
            </a:pPr>
            <a:r>
              <a:rPr b="0" i="0" lang="en-US" sz="1200" u="none" cap="none" strike="noStrike">
                <a:solidFill>
                  <a:srgbClr val="C7CCDA"/>
                </a:solidFill>
                <a:latin typeface="Calibri"/>
                <a:ea typeface="Calibri"/>
                <a:cs typeface="Calibri"/>
                <a:sym typeface="Calibri"/>
              </a:rPr>
              <a:t>Discrete, priced reports — not subscriptions.</a:t>
            </a:r>
            <a:endParaRPr b="0" i="0" sz="1200" u="none" cap="none" strike="noStrike">
              <a:solidFill>
                <a:schemeClr val="dk1"/>
              </a:solidFill>
              <a:latin typeface="Calibri"/>
              <a:ea typeface="Calibri"/>
              <a:cs typeface="Calibri"/>
              <a:sym typeface="Calibri"/>
            </a:endParaRPr>
          </a:p>
        </p:txBody>
      </p:sp>
      <p:sp>
        <p:nvSpPr>
          <p:cNvPr id="68" name="Google Shape;68;p5"/>
          <p:cNvSpPr/>
          <p:nvPr/>
        </p:nvSpPr>
        <p:spPr>
          <a:xfrm>
            <a:off x="640080" y="3438144"/>
            <a:ext cx="100584" cy="100584"/>
          </a:xfrm>
          <a:prstGeom prst="ellipse">
            <a:avLst/>
          </a:prstGeom>
          <a:solidFill>
            <a:srgbClr val="2DD4B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 name="Google Shape;69;p5"/>
          <p:cNvSpPr/>
          <p:nvPr/>
        </p:nvSpPr>
        <p:spPr>
          <a:xfrm>
            <a:off x="914400" y="3310128"/>
            <a:ext cx="5120640" cy="32004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1500"/>
              <a:buFont typeface="Calibri"/>
              <a:buNone/>
            </a:pPr>
            <a:r>
              <a:rPr b="1" i="0" lang="en-US" sz="1500" u="none" cap="none" strike="noStrike">
                <a:solidFill>
                  <a:srgbClr val="FFFFFF"/>
                </a:solidFill>
                <a:latin typeface="Calibri"/>
                <a:ea typeface="Calibri"/>
                <a:cs typeface="Calibri"/>
                <a:sym typeface="Calibri"/>
              </a:rPr>
              <a:t>Buyers purchase on demand</a:t>
            </a:r>
            <a:endParaRPr b="0" i="0" sz="1500" u="none" cap="none" strike="noStrike">
              <a:solidFill>
                <a:schemeClr val="dk1"/>
              </a:solidFill>
              <a:latin typeface="Calibri"/>
              <a:ea typeface="Calibri"/>
              <a:cs typeface="Calibri"/>
              <a:sym typeface="Calibri"/>
            </a:endParaRPr>
          </a:p>
        </p:txBody>
      </p:sp>
      <p:sp>
        <p:nvSpPr>
          <p:cNvPr id="70" name="Google Shape;70;p5"/>
          <p:cNvSpPr/>
          <p:nvPr/>
        </p:nvSpPr>
        <p:spPr>
          <a:xfrm>
            <a:off x="914400" y="3630168"/>
            <a:ext cx="5120640" cy="502920"/>
          </a:xfrm>
          <a:prstGeom prst="rect">
            <a:avLst/>
          </a:prstGeom>
          <a:noFill/>
          <a:ln>
            <a:noFill/>
          </a:ln>
        </p:spPr>
        <p:txBody>
          <a:bodyPr anchorCtr="0" anchor="ctr" bIns="45700" lIns="91425" spcFirstLastPara="1" rIns="91425" wrap="square" tIns="45700">
            <a:noAutofit/>
          </a:bodyPr>
          <a:lstStyle/>
          <a:p>
            <a:pPr indent="0" lvl="0" marL="0" marR="0" rtl="0" algn="l">
              <a:lnSpc>
                <a:spcPct val="133333"/>
              </a:lnSpc>
              <a:spcBef>
                <a:spcPts val="0"/>
              </a:spcBef>
              <a:spcAft>
                <a:spcPts val="0"/>
              </a:spcAft>
              <a:buClr>
                <a:srgbClr val="C7CCDA"/>
              </a:buClr>
              <a:buSzPts val="1200"/>
              <a:buFont typeface="Calibri"/>
              <a:buNone/>
            </a:pPr>
            <a:r>
              <a:rPr b="0" i="0" lang="en-US" sz="1200" u="none" cap="none" strike="noStrike">
                <a:solidFill>
                  <a:srgbClr val="C7CCDA"/>
                </a:solidFill>
                <a:latin typeface="Calibri"/>
                <a:ea typeface="Calibri"/>
                <a:cs typeface="Calibri"/>
                <a:sym typeface="Calibri"/>
              </a:rPr>
              <a:t>Humans and autonomous agents pay per report, only for what they need.</a:t>
            </a:r>
            <a:endParaRPr b="0" i="0" sz="1200" u="none" cap="none" strike="noStrike">
              <a:solidFill>
                <a:schemeClr val="dk1"/>
              </a:solidFill>
              <a:latin typeface="Calibri"/>
              <a:ea typeface="Calibri"/>
              <a:cs typeface="Calibri"/>
              <a:sym typeface="Calibri"/>
            </a:endParaRPr>
          </a:p>
        </p:txBody>
      </p:sp>
      <p:sp>
        <p:nvSpPr>
          <p:cNvPr id="71" name="Google Shape;71;p5"/>
          <p:cNvSpPr/>
          <p:nvPr/>
        </p:nvSpPr>
        <p:spPr>
          <a:xfrm>
            <a:off x="640080" y="4489704"/>
            <a:ext cx="100584" cy="100584"/>
          </a:xfrm>
          <a:prstGeom prst="ellipse">
            <a:avLst/>
          </a:prstGeom>
          <a:solidFill>
            <a:srgbClr val="2DD4B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 name="Google Shape;72;p5"/>
          <p:cNvSpPr/>
          <p:nvPr/>
        </p:nvSpPr>
        <p:spPr>
          <a:xfrm>
            <a:off x="914400" y="4361688"/>
            <a:ext cx="5120640" cy="32004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1500"/>
              <a:buFont typeface="Calibri"/>
              <a:buNone/>
            </a:pPr>
            <a:r>
              <a:rPr b="1" i="0" lang="en-US" sz="1500" u="none" cap="none" strike="noStrike">
                <a:solidFill>
                  <a:srgbClr val="FFFFFF"/>
                </a:solidFill>
                <a:latin typeface="Calibri"/>
                <a:ea typeface="Calibri"/>
                <a:cs typeface="Calibri"/>
                <a:sym typeface="Calibri"/>
              </a:rPr>
              <a:t>No accounts, no friction</a:t>
            </a:r>
            <a:endParaRPr b="0" i="0" sz="1500" u="none" cap="none" strike="noStrike">
              <a:solidFill>
                <a:schemeClr val="dk1"/>
              </a:solidFill>
              <a:latin typeface="Calibri"/>
              <a:ea typeface="Calibri"/>
              <a:cs typeface="Calibri"/>
              <a:sym typeface="Calibri"/>
            </a:endParaRPr>
          </a:p>
        </p:txBody>
      </p:sp>
      <p:sp>
        <p:nvSpPr>
          <p:cNvPr id="73" name="Google Shape;73;p5"/>
          <p:cNvSpPr/>
          <p:nvPr/>
        </p:nvSpPr>
        <p:spPr>
          <a:xfrm>
            <a:off x="914400" y="4681728"/>
            <a:ext cx="5120640" cy="502920"/>
          </a:xfrm>
          <a:prstGeom prst="rect">
            <a:avLst/>
          </a:prstGeom>
          <a:noFill/>
          <a:ln>
            <a:noFill/>
          </a:ln>
        </p:spPr>
        <p:txBody>
          <a:bodyPr anchorCtr="0" anchor="ctr" bIns="45700" lIns="91425" spcFirstLastPara="1" rIns="91425" wrap="square" tIns="45700">
            <a:noAutofit/>
          </a:bodyPr>
          <a:lstStyle/>
          <a:p>
            <a:pPr indent="0" lvl="0" marL="0" marR="0" rtl="0" algn="l">
              <a:lnSpc>
                <a:spcPct val="133333"/>
              </a:lnSpc>
              <a:spcBef>
                <a:spcPts val="0"/>
              </a:spcBef>
              <a:spcAft>
                <a:spcPts val="0"/>
              </a:spcAft>
              <a:buClr>
                <a:srgbClr val="C7CCDA"/>
              </a:buClr>
              <a:buSzPts val="1200"/>
              <a:buFont typeface="Calibri"/>
              <a:buNone/>
            </a:pPr>
            <a:r>
              <a:rPr b="0" i="0" lang="en-US" sz="1200" u="none" cap="none" strike="noStrike">
                <a:solidFill>
                  <a:srgbClr val="C7CCDA"/>
                </a:solidFill>
                <a:latin typeface="Calibri"/>
                <a:ea typeface="Calibri"/>
                <a:cs typeface="Calibri"/>
                <a:sym typeface="Calibri"/>
              </a:rPr>
              <a:t>Every transaction clears instantly, without signup or negotiation.</a:t>
            </a:r>
            <a:endParaRPr b="0" i="0" sz="1200" u="none" cap="none" strike="noStrike">
              <a:solidFill>
                <a:schemeClr val="dk1"/>
              </a:solidFill>
              <a:latin typeface="Calibri"/>
              <a:ea typeface="Calibri"/>
              <a:cs typeface="Calibri"/>
              <a:sym typeface="Calibri"/>
            </a:endParaRPr>
          </a:p>
        </p:txBody>
      </p:sp>
      <p:sp>
        <p:nvSpPr>
          <p:cNvPr id="74" name="Google Shape;74;p5"/>
          <p:cNvSpPr/>
          <p:nvPr/>
        </p:nvSpPr>
        <p:spPr>
          <a:xfrm>
            <a:off x="6400800" y="2331720"/>
            <a:ext cx="5120640" cy="3566160"/>
          </a:xfrm>
          <a:prstGeom prst="roundRect">
            <a:avLst>
              <a:gd fmla="val 2308" name="adj"/>
            </a:avLst>
          </a:prstGeom>
          <a:solidFill>
            <a:srgbClr val="141B2E"/>
          </a:solidFill>
          <a:ln cap="flat" cmpd="sng" w="12700">
            <a:solidFill>
              <a:srgbClr val="232C42"/>
            </a:solidFill>
            <a:prstDash val="solid"/>
            <a:round/>
            <a:headEnd len="sm" w="sm" type="none"/>
            <a:tailEnd len="sm" w="sm" type="none"/>
          </a:ln>
          <a:effectLst>
            <a:outerShdw blurRad="101600" rotWithShape="0" algn="bl" dir="5400000" dist="38100">
              <a:srgbClr val="000000">
                <a:alpha val="34902"/>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 name="Google Shape;75;p5"/>
          <p:cNvSpPr/>
          <p:nvPr/>
        </p:nvSpPr>
        <p:spPr>
          <a:xfrm>
            <a:off x="6720840" y="2606040"/>
            <a:ext cx="448056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2DD4BF"/>
              </a:buClr>
              <a:buSzPts val="1050"/>
              <a:buFont typeface="Calibri"/>
              <a:buNone/>
            </a:pPr>
            <a:r>
              <a:rPr b="1" i="0" lang="en-US" sz="1050" u="none" cap="none" strike="noStrike">
                <a:solidFill>
                  <a:srgbClr val="2DD4BF"/>
                </a:solidFill>
                <a:latin typeface="Calibri"/>
                <a:ea typeface="Calibri"/>
                <a:cs typeface="Calibri"/>
                <a:sym typeface="Calibri"/>
              </a:rPr>
              <a:t>QMA · LIVE QUERY</a:t>
            </a:r>
            <a:endParaRPr b="0" i="0" sz="1050" u="none" cap="none" strike="noStrike">
              <a:solidFill>
                <a:schemeClr val="dk1"/>
              </a:solidFill>
              <a:latin typeface="Calibri"/>
              <a:ea typeface="Calibri"/>
              <a:cs typeface="Calibri"/>
              <a:sym typeface="Calibri"/>
            </a:endParaRPr>
          </a:p>
        </p:txBody>
      </p:sp>
      <p:sp>
        <p:nvSpPr>
          <p:cNvPr id="76" name="Google Shape;76;p5"/>
          <p:cNvSpPr/>
          <p:nvPr/>
        </p:nvSpPr>
        <p:spPr>
          <a:xfrm>
            <a:off x="6720840" y="2926080"/>
            <a:ext cx="4480560" cy="36576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1700"/>
              <a:buFont typeface="Calibri"/>
              <a:buNone/>
            </a:pPr>
            <a:r>
              <a:rPr b="1" i="0" lang="en-US" sz="1700" u="none" cap="none" strike="noStrike">
                <a:solidFill>
                  <a:srgbClr val="FFFFFF"/>
                </a:solidFill>
                <a:latin typeface="Calibri"/>
                <a:ea typeface="Calibri"/>
                <a:cs typeface="Calibri"/>
                <a:sym typeface="Calibri"/>
              </a:rPr>
              <a:t>BTC-USDT Order Flow Signal</a:t>
            </a:r>
            <a:endParaRPr b="0" i="0" sz="1700" u="none" cap="none" strike="noStrike">
              <a:solidFill>
                <a:schemeClr val="dk1"/>
              </a:solidFill>
              <a:latin typeface="Calibri"/>
              <a:ea typeface="Calibri"/>
              <a:cs typeface="Calibri"/>
              <a:sym typeface="Calibri"/>
            </a:endParaRPr>
          </a:p>
        </p:txBody>
      </p:sp>
      <p:sp>
        <p:nvSpPr>
          <p:cNvPr id="77" name="Google Shape;77;p5"/>
          <p:cNvSpPr/>
          <p:nvPr/>
        </p:nvSpPr>
        <p:spPr>
          <a:xfrm>
            <a:off x="6720840" y="3291840"/>
            <a:ext cx="4480560" cy="36576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B93A7"/>
              </a:buClr>
              <a:buSzPts val="1100"/>
              <a:buFont typeface="Calibri"/>
              <a:buNone/>
            </a:pPr>
            <a:r>
              <a:rPr b="0" i="0" lang="en-US" sz="1100" u="none" cap="none" strike="noStrike">
                <a:solidFill>
                  <a:srgbClr val="8B93A7"/>
                </a:solidFill>
                <a:latin typeface="Calibri"/>
                <a:ea typeface="Calibri"/>
                <a:cs typeface="Calibri"/>
                <a:sym typeface="Calibri"/>
              </a:rPr>
              <a:t>Aggregated depth + momentum report, updated 30s ago</a:t>
            </a:r>
            <a:endParaRPr b="0" i="0" sz="1100" u="none" cap="none" strike="noStrike">
              <a:solidFill>
                <a:schemeClr val="dk1"/>
              </a:solidFill>
              <a:latin typeface="Calibri"/>
              <a:ea typeface="Calibri"/>
              <a:cs typeface="Calibri"/>
              <a:sym typeface="Calibri"/>
            </a:endParaRPr>
          </a:p>
        </p:txBody>
      </p:sp>
      <p:cxnSp>
        <p:nvCxnSpPr>
          <p:cNvPr id="78" name="Google Shape;78;p5"/>
          <p:cNvCxnSpPr/>
          <p:nvPr/>
        </p:nvCxnSpPr>
        <p:spPr>
          <a:xfrm>
            <a:off x="6720840" y="3794760"/>
            <a:ext cx="4480560" cy="0"/>
          </a:xfrm>
          <a:prstGeom prst="straightConnector1">
            <a:avLst/>
          </a:prstGeom>
          <a:noFill/>
          <a:ln cap="flat" cmpd="sng" w="12700">
            <a:solidFill>
              <a:srgbClr val="232C42"/>
            </a:solidFill>
            <a:prstDash val="solid"/>
            <a:round/>
            <a:headEnd len="sm" w="sm" type="none"/>
            <a:tailEnd len="sm" w="sm" type="none"/>
          </a:ln>
        </p:spPr>
      </p:cxnSp>
      <p:sp>
        <p:nvSpPr>
          <p:cNvPr id="79" name="Google Shape;79;p5"/>
          <p:cNvSpPr/>
          <p:nvPr/>
        </p:nvSpPr>
        <p:spPr>
          <a:xfrm>
            <a:off x="6720840" y="3977640"/>
            <a:ext cx="2011680" cy="64008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34D399"/>
              </a:buClr>
              <a:buSzPts val="3400"/>
              <a:buFont typeface="Calibri"/>
              <a:buNone/>
            </a:pPr>
            <a:r>
              <a:rPr b="1" i="0" lang="en-US" sz="3400" u="none" cap="none" strike="noStrike">
                <a:solidFill>
                  <a:srgbClr val="34D399"/>
                </a:solidFill>
                <a:latin typeface="Calibri"/>
                <a:ea typeface="Calibri"/>
                <a:cs typeface="Calibri"/>
                <a:sym typeface="Calibri"/>
              </a:rPr>
              <a:t>$0.0</a:t>
            </a:r>
            <a:r>
              <a:rPr b="1" lang="en-US" sz="3400">
                <a:solidFill>
                  <a:srgbClr val="34D399"/>
                </a:solidFill>
                <a:latin typeface="Calibri"/>
                <a:ea typeface="Calibri"/>
                <a:cs typeface="Calibri"/>
                <a:sym typeface="Calibri"/>
              </a:rPr>
              <a:t>01</a:t>
            </a:r>
            <a:endParaRPr b="0" i="0" sz="3400" u="none" cap="none" strike="noStrike">
              <a:solidFill>
                <a:schemeClr val="dk1"/>
              </a:solidFill>
              <a:latin typeface="Calibri"/>
              <a:ea typeface="Calibri"/>
              <a:cs typeface="Calibri"/>
              <a:sym typeface="Calibri"/>
            </a:endParaRPr>
          </a:p>
        </p:txBody>
      </p:sp>
      <p:sp>
        <p:nvSpPr>
          <p:cNvPr id="80" name="Google Shape;80;p5"/>
          <p:cNvSpPr/>
          <p:nvPr/>
        </p:nvSpPr>
        <p:spPr>
          <a:xfrm>
            <a:off x="6720840" y="4572000"/>
            <a:ext cx="201168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B93A7"/>
              </a:buClr>
              <a:buSzPts val="1050"/>
              <a:buFont typeface="Calibri"/>
              <a:buNone/>
            </a:pPr>
            <a:r>
              <a:rPr b="0" i="0" lang="en-US" sz="1050" u="none" cap="none" strike="noStrike">
                <a:solidFill>
                  <a:srgbClr val="8B93A7"/>
                </a:solidFill>
                <a:latin typeface="Calibri"/>
                <a:ea typeface="Calibri"/>
                <a:cs typeface="Calibri"/>
                <a:sym typeface="Calibri"/>
              </a:rPr>
              <a:t>per report preview</a:t>
            </a:r>
            <a:endParaRPr b="0" i="0" sz="1050" u="none" cap="none" strike="noStrike">
              <a:solidFill>
                <a:schemeClr val="dk1"/>
              </a:solidFill>
              <a:latin typeface="Calibri"/>
              <a:ea typeface="Calibri"/>
              <a:cs typeface="Calibri"/>
              <a:sym typeface="Calibri"/>
            </a:endParaRPr>
          </a:p>
        </p:txBody>
      </p:sp>
      <p:sp>
        <p:nvSpPr>
          <p:cNvPr id="81" name="Google Shape;81;p5"/>
          <p:cNvSpPr/>
          <p:nvPr/>
        </p:nvSpPr>
        <p:spPr>
          <a:xfrm>
            <a:off x="9555480" y="4114800"/>
            <a:ext cx="1645920" cy="457200"/>
          </a:xfrm>
          <a:prstGeom prst="roundRect">
            <a:avLst>
              <a:gd fmla="val 30000" name="adj"/>
            </a:avLst>
          </a:prstGeom>
          <a:solidFill>
            <a:srgbClr val="2DD4B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 name="Google Shape;82;p5"/>
          <p:cNvSpPr/>
          <p:nvPr/>
        </p:nvSpPr>
        <p:spPr>
          <a:xfrm>
            <a:off x="9555480" y="4114800"/>
            <a:ext cx="1645920" cy="4572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0B0F1C"/>
              </a:buClr>
              <a:buSzPts val="1100"/>
              <a:buFont typeface="Calibri"/>
              <a:buNone/>
            </a:pPr>
            <a:r>
              <a:rPr b="1" i="0" lang="en-US" sz="1100" u="none" cap="none" strike="noStrike">
                <a:solidFill>
                  <a:srgbClr val="0B0F1C"/>
                </a:solidFill>
                <a:latin typeface="Calibri"/>
                <a:ea typeface="Calibri"/>
                <a:cs typeface="Calibri"/>
                <a:sym typeface="Calibri"/>
              </a:rPr>
              <a:t>Unlock Report</a:t>
            </a:r>
            <a:endParaRPr b="0" i="0" sz="1100" u="none" cap="none" strike="noStrike">
              <a:solidFill>
                <a:schemeClr val="dk1"/>
              </a:solidFill>
              <a:latin typeface="Calibri"/>
              <a:ea typeface="Calibri"/>
              <a:cs typeface="Calibri"/>
              <a:sym typeface="Calibri"/>
            </a:endParaRPr>
          </a:p>
        </p:txBody>
      </p:sp>
      <p:sp>
        <p:nvSpPr>
          <p:cNvPr id="83" name="Google Shape;83;p5"/>
          <p:cNvSpPr/>
          <p:nvPr/>
        </p:nvSpPr>
        <p:spPr>
          <a:xfrm>
            <a:off x="6720840" y="5074920"/>
            <a:ext cx="448056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B93A7"/>
              </a:buClr>
              <a:buSzPts val="1000"/>
              <a:buFont typeface="Calibri"/>
              <a:buNone/>
            </a:pPr>
            <a:r>
              <a:rPr b="0" i="0" lang="en-US" sz="1000" u="none" cap="none" strike="noStrike">
                <a:solidFill>
                  <a:srgbClr val="8B93A7"/>
                </a:solidFill>
                <a:latin typeface="Calibri"/>
                <a:ea typeface="Calibri"/>
                <a:cs typeface="Calibri"/>
                <a:sym typeface="Calibri"/>
              </a:rPr>
              <a:t>No signup  ·  No card on file  ·  Pay-per-call</a:t>
            </a:r>
            <a:endParaRPr b="0" i="0" sz="1000" u="none" cap="none" strike="noStrike">
              <a:solidFill>
                <a:schemeClr val="dk1"/>
              </a:solidFill>
              <a:latin typeface="Calibri"/>
              <a:ea typeface="Calibri"/>
              <a:cs typeface="Calibri"/>
              <a:sym typeface="Calibri"/>
            </a:endParaRPr>
          </a:p>
        </p:txBody>
      </p:sp>
      <p:sp>
        <p:nvSpPr>
          <p:cNvPr id="84" name="Google Shape;84;p5"/>
          <p:cNvSpPr/>
          <p:nvPr/>
        </p:nvSpPr>
        <p:spPr>
          <a:xfrm>
            <a:off x="6720840" y="5394960"/>
            <a:ext cx="2651760" cy="320040"/>
          </a:xfrm>
          <a:prstGeom prst="roundRect">
            <a:avLst>
              <a:gd fmla="val 42857" name="adj"/>
            </a:avLst>
          </a:prstGeom>
          <a:solidFill>
            <a:srgbClr val="0F152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 name="Google Shape;85;p5"/>
          <p:cNvSpPr/>
          <p:nvPr/>
        </p:nvSpPr>
        <p:spPr>
          <a:xfrm>
            <a:off x="6720840" y="5394960"/>
            <a:ext cx="2651760" cy="32004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2DD4BF"/>
              </a:buClr>
              <a:buSzPts val="1100"/>
              <a:buFont typeface="Calibri"/>
              <a:buNone/>
            </a:pPr>
            <a:r>
              <a:rPr b="1" i="0" lang="en-US" sz="1100" u="none" cap="none" strike="noStrike">
                <a:solidFill>
                  <a:srgbClr val="2DD4BF"/>
                </a:solidFill>
                <a:latin typeface="Calibri"/>
                <a:ea typeface="Calibri"/>
                <a:cs typeface="Calibri"/>
                <a:sym typeface="Calibri"/>
              </a:rPr>
              <a:t>Settled via USDC on Arc</a:t>
            </a:r>
            <a:endParaRPr b="0" i="0" sz="1100" u="none" cap="none" strike="noStrike">
              <a:solidFill>
                <a:schemeClr val="dk1"/>
              </a:solidFill>
              <a:latin typeface="Calibri"/>
              <a:ea typeface="Calibri"/>
              <a:cs typeface="Calibri"/>
              <a:sym typeface="Calibri"/>
            </a:endParaRPr>
          </a:p>
        </p:txBody>
      </p:sp>
      <p:sp>
        <p:nvSpPr>
          <p:cNvPr id="86" name="Google Shape;86;p5"/>
          <p:cNvSpPr/>
          <p:nvPr/>
        </p:nvSpPr>
        <p:spPr>
          <a:xfrm>
            <a:off x="457200" y="6473952"/>
            <a:ext cx="18288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B93A7"/>
              </a:buClr>
              <a:buSzPts val="1000"/>
              <a:buFont typeface="Calibri"/>
              <a:buNone/>
            </a:pPr>
            <a:r>
              <a:rPr b="1" i="0" lang="en-US" sz="1000" u="none" cap="none" strike="noStrike">
                <a:solidFill>
                  <a:srgbClr val="8B93A7"/>
                </a:solidFill>
                <a:latin typeface="Calibri"/>
                <a:ea typeface="Calibri"/>
                <a:cs typeface="Calibri"/>
                <a:sym typeface="Calibri"/>
              </a:rPr>
              <a:t>QMA</a:t>
            </a:r>
            <a:endParaRPr b="0" i="0" sz="1000" u="none" cap="none" strike="noStrike">
              <a:solidFill>
                <a:schemeClr val="dk1"/>
              </a:solidFill>
              <a:latin typeface="Calibri"/>
              <a:ea typeface="Calibri"/>
              <a:cs typeface="Calibri"/>
              <a:sym typeface="Calibri"/>
            </a:endParaRPr>
          </a:p>
        </p:txBody>
      </p:sp>
      <p:sp>
        <p:nvSpPr>
          <p:cNvPr id="87" name="Google Shape;87;p5"/>
          <p:cNvSpPr/>
          <p:nvPr/>
        </p:nvSpPr>
        <p:spPr>
          <a:xfrm>
            <a:off x="1828800" y="6473952"/>
            <a:ext cx="45720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B93A7"/>
              </a:buClr>
              <a:buSzPts val="900"/>
              <a:buFont typeface="Calibri"/>
              <a:buNone/>
            </a:pPr>
            <a:r>
              <a:rPr b="0" i="0" lang="en-US" sz="900" u="none" cap="none" strike="noStrike">
                <a:solidFill>
                  <a:srgbClr val="8B93A7"/>
                </a:solidFill>
                <a:latin typeface="Calibri"/>
                <a:ea typeface="Calibri"/>
                <a:cs typeface="Calibri"/>
                <a:sym typeface="Calibri"/>
              </a:rPr>
              <a:t>Solution</a:t>
            </a:r>
            <a:endParaRPr b="0" i="0" sz="900" u="none" cap="none" strike="noStrike">
              <a:solidFill>
                <a:schemeClr val="dk1"/>
              </a:solidFill>
              <a:latin typeface="Calibri"/>
              <a:ea typeface="Calibri"/>
              <a:cs typeface="Calibri"/>
              <a:sym typeface="Calibri"/>
            </a:endParaRPr>
          </a:p>
        </p:txBody>
      </p:sp>
      <p:sp>
        <p:nvSpPr>
          <p:cNvPr id="88" name="Google Shape;88;p5"/>
          <p:cNvSpPr/>
          <p:nvPr/>
        </p:nvSpPr>
        <p:spPr>
          <a:xfrm>
            <a:off x="10817352" y="6473952"/>
            <a:ext cx="914400" cy="27432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8B93A7"/>
              </a:buClr>
              <a:buSzPts val="1000"/>
              <a:buFont typeface="Calibri"/>
              <a:buNone/>
            </a:pPr>
            <a:r>
              <a:rPr b="0" i="0" lang="en-US" sz="1000" u="none" cap="none" strike="noStrike">
                <a:solidFill>
                  <a:srgbClr val="8B93A7"/>
                </a:solidFill>
                <a:latin typeface="Calibri"/>
                <a:ea typeface="Calibri"/>
                <a:cs typeface="Calibri"/>
                <a:sym typeface="Calibri"/>
              </a:rPr>
              <a:t>03 / 16</a:t>
            </a:r>
            <a:endParaRPr b="0" i="0" sz="1000" u="none" cap="none" strike="noStrike">
              <a:solidFill>
                <a:schemeClr val="dk1"/>
              </a:solidFill>
              <a:latin typeface="Calibri"/>
              <a:ea typeface="Calibri"/>
              <a:cs typeface="Calibri"/>
              <a:sym typeface="Calibri"/>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B0F1C"/>
        </a:solidFill>
      </p:bgPr>
    </p:bg>
    <p:spTree>
      <p:nvGrpSpPr>
        <p:cNvPr id="93" name="Shape 93"/>
        <p:cNvGrpSpPr/>
        <p:nvPr/>
      </p:nvGrpSpPr>
      <p:grpSpPr>
        <a:xfrm>
          <a:off x="0" y="0"/>
          <a:ext cx="0" cy="0"/>
          <a:chOff x="0" y="0"/>
          <a:chExt cx="0" cy="0"/>
        </a:xfrm>
      </p:grpSpPr>
      <p:sp>
        <p:nvSpPr>
          <p:cNvPr id="94" name="Google Shape;94;p6"/>
          <p:cNvSpPr/>
          <p:nvPr/>
        </p:nvSpPr>
        <p:spPr>
          <a:xfrm>
            <a:off x="640080" y="502920"/>
            <a:ext cx="7315200" cy="32004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2DD4BF"/>
              </a:buClr>
              <a:buSzPts val="1200"/>
              <a:buFont typeface="Calibri"/>
              <a:buNone/>
            </a:pPr>
            <a:r>
              <a:rPr b="1" i="0" lang="en-US" sz="1200" u="none" cap="none" strike="noStrike">
                <a:solidFill>
                  <a:srgbClr val="2DD4BF"/>
                </a:solidFill>
                <a:latin typeface="Calibri"/>
                <a:ea typeface="Calibri"/>
                <a:cs typeface="Calibri"/>
                <a:sym typeface="Calibri"/>
              </a:rPr>
              <a:t>MARKETPLACE ARCHITECTURE</a:t>
            </a:r>
            <a:endParaRPr b="0" i="0" sz="1200" u="none" cap="none" strike="noStrike">
              <a:solidFill>
                <a:schemeClr val="dk1"/>
              </a:solidFill>
              <a:latin typeface="Calibri"/>
              <a:ea typeface="Calibri"/>
              <a:cs typeface="Calibri"/>
              <a:sym typeface="Calibri"/>
            </a:endParaRPr>
          </a:p>
        </p:txBody>
      </p:sp>
      <p:sp>
        <p:nvSpPr>
          <p:cNvPr id="95" name="Google Shape;95;p6"/>
          <p:cNvSpPr/>
          <p:nvPr/>
        </p:nvSpPr>
        <p:spPr>
          <a:xfrm>
            <a:off x="640080" y="804672"/>
            <a:ext cx="10789920" cy="7315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3400"/>
              <a:buFont typeface="Calibri"/>
              <a:buNone/>
            </a:pPr>
            <a:r>
              <a:rPr b="1" i="0" lang="en-US" sz="3400" u="none" cap="none" strike="noStrike">
                <a:solidFill>
                  <a:srgbClr val="FFFFFF"/>
                </a:solidFill>
                <a:latin typeface="Calibri"/>
                <a:ea typeface="Calibri"/>
                <a:cs typeface="Calibri"/>
                <a:sym typeface="Calibri"/>
              </a:rPr>
              <a:t>How the Marketplace Works</a:t>
            </a:r>
            <a:endParaRPr b="0" i="0" sz="3400" u="none" cap="none" strike="noStrike">
              <a:solidFill>
                <a:schemeClr val="dk1"/>
              </a:solidFill>
              <a:latin typeface="Calibri"/>
              <a:ea typeface="Calibri"/>
              <a:cs typeface="Calibri"/>
              <a:sym typeface="Calibri"/>
            </a:endParaRPr>
          </a:p>
        </p:txBody>
      </p:sp>
      <p:sp>
        <p:nvSpPr>
          <p:cNvPr id="96" name="Google Shape;96;p6"/>
          <p:cNvSpPr/>
          <p:nvPr/>
        </p:nvSpPr>
        <p:spPr>
          <a:xfrm>
            <a:off x="640080" y="1417320"/>
            <a:ext cx="9875520" cy="457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C7CCDA"/>
              </a:buClr>
              <a:buSzPts val="1500"/>
              <a:buFont typeface="Calibri"/>
              <a:buNone/>
            </a:pPr>
            <a:r>
              <a:rPr b="0" i="1" lang="en-US" sz="1500" u="none" cap="none" strike="noStrike">
                <a:solidFill>
                  <a:srgbClr val="C7CCDA"/>
                </a:solidFill>
                <a:latin typeface="Calibri"/>
                <a:ea typeface="Calibri"/>
                <a:cs typeface="Calibri"/>
                <a:sym typeface="Calibri"/>
              </a:rPr>
              <a:t>One flow — creators to buyers. Settlement detail comes later.</a:t>
            </a:r>
            <a:endParaRPr b="0" i="0" sz="1500" u="none" cap="none" strike="noStrike">
              <a:solidFill>
                <a:schemeClr val="dk1"/>
              </a:solidFill>
              <a:latin typeface="Calibri"/>
              <a:ea typeface="Calibri"/>
              <a:cs typeface="Calibri"/>
              <a:sym typeface="Calibri"/>
            </a:endParaRPr>
          </a:p>
        </p:txBody>
      </p:sp>
      <p:sp>
        <p:nvSpPr>
          <p:cNvPr id="97" name="Google Shape;97;p6"/>
          <p:cNvSpPr/>
          <p:nvPr/>
        </p:nvSpPr>
        <p:spPr>
          <a:xfrm>
            <a:off x="928116" y="3017520"/>
            <a:ext cx="2834640" cy="1828800"/>
          </a:xfrm>
          <a:prstGeom prst="roundRect">
            <a:avLst>
              <a:gd fmla="val 4500" name="adj"/>
            </a:avLst>
          </a:prstGeom>
          <a:solidFill>
            <a:srgbClr val="141B2E"/>
          </a:solidFill>
          <a:ln cap="flat" cmpd="sng" w="12700">
            <a:solidFill>
              <a:srgbClr val="232C42"/>
            </a:solidFill>
            <a:prstDash val="solid"/>
            <a:round/>
            <a:headEnd len="sm" w="sm" type="none"/>
            <a:tailEnd len="sm" w="sm" type="none"/>
          </a:ln>
          <a:effectLst>
            <a:outerShdw blurRad="101600" rotWithShape="0" algn="bl" dir="5400000" dist="38100">
              <a:srgbClr val="000000">
                <a:alpha val="34902"/>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8" name="Google Shape;98;p6"/>
          <p:cNvSpPr/>
          <p:nvPr/>
        </p:nvSpPr>
        <p:spPr>
          <a:xfrm>
            <a:off x="2025396" y="3200400"/>
            <a:ext cx="640080" cy="640080"/>
          </a:xfrm>
          <a:prstGeom prst="ellipse">
            <a:avLst/>
          </a:prstGeom>
          <a:solidFill>
            <a:srgbClr val="0F1526"/>
          </a:solidFill>
          <a:ln cap="flat" cmpd="sng" w="22225">
            <a:solidFill>
              <a:srgbClr val="8B7CF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9" name="Google Shape;99;p6"/>
          <p:cNvSpPr/>
          <p:nvPr/>
        </p:nvSpPr>
        <p:spPr>
          <a:xfrm>
            <a:off x="2025396" y="3200400"/>
            <a:ext cx="640080" cy="64008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8B7CF6"/>
              </a:buClr>
              <a:buSzPts val="2380"/>
              <a:buFont typeface="Calibri"/>
              <a:buNone/>
            </a:pPr>
            <a:r>
              <a:rPr b="1" i="0" lang="en-US" sz="2380" u="none" cap="none" strike="noStrike">
                <a:solidFill>
                  <a:srgbClr val="8B7CF6"/>
                </a:solidFill>
                <a:latin typeface="Calibri"/>
                <a:ea typeface="Calibri"/>
                <a:cs typeface="Calibri"/>
                <a:sym typeface="Calibri"/>
              </a:rPr>
              <a:t>C</a:t>
            </a:r>
            <a:endParaRPr b="0" i="0" sz="2380" u="none" cap="none" strike="noStrike">
              <a:solidFill>
                <a:schemeClr val="dk1"/>
              </a:solidFill>
              <a:latin typeface="Calibri"/>
              <a:ea typeface="Calibri"/>
              <a:cs typeface="Calibri"/>
              <a:sym typeface="Calibri"/>
            </a:endParaRPr>
          </a:p>
        </p:txBody>
      </p:sp>
      <p:sp>
        <p:nvSpPr>
          <p:cNvPr id="100" name="Google Shape;100;p6"/>
          <p:cNvSpPr/>
          <p:nvPr/>
        </p:nvSpPr>
        <p:spPr>
          <a:xfrm>
            <a:off x="1110996" y="3931920"/>
            <a:ext cx="2468880" cy="32004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500"/>
              <a:buFont typeface="Calibri"/>
              <a:buNone/>
            </a:pPr>
            <a:r>
              <a:rPr b="1" i="0" lang="en-US" sz="1500" u="none" cap="none" strike="noStrike">
                <a:solidFill>
                  <a:srgbClr val="FFFFFF"/>
                </a:solidFill>
                <a:latin typeface="Calibri"/>
                <a:ea typeface="Calibri"/>
                <a:cs typeface="Calibri"/>
                <a:sym typeface="Calibri"/>
              </a:rPr>
              <a:t>Creators/Providers</a:t>
            </a:r>
            <a:endParaRPr b="0" i="0" sz="1500" u="none" cap="none" strike="noStrike">
              <a:solidFill>
                <a:schemeClr val="dk1"/>
              </a:solidFill>
              <a:latin typeface="Calibri"/>
              <a:ea typeface="Calibri"/>
              <a:cs typeface="Calibri"/>
              <a:sym typeface="Calibri"/>
            </a:endParaRPr>
          </a:p>
        </p:txBody>
      </p:sp>
      <p:sp>
        <p:nvSpPr>
          <p:cNvPr id="101" name="Google Shape;101;p6"/>
          <p:cNvSpPr/>
          <p:nvPr/>
        </p:nvSpPr>
        <p:spPr>
          <a:xfrm>
            <a:off x="1110996" y="4251960"/>
            <a:ext cx="2468880" cy="548640"/>
          </a:xfrm>
          <a:prstGeom prst="rect">
            <a:avLst/>
          </a:prstGeom>
          <a:noFill/>
          <a:ln>
            <a:noFill/>
          </a:ln>
        </p:spPr>
        <p:txBody>
          <a:bodyPr anchorCtr="0" anchor="ctr" bIns="45700" lIns="91425" spcFirstLastPara="1" rIns="91425" wrap="square" tIns="45700">
            <a:noAutofit/>
          </a:bodyPr>
          <a:lstStyle/>
          <a:p>
            <a:pPr indent="0" lvl="0" marL="0" marR="0" rtl="0" algn="ctr">
              <a:lnSpc>
                <a:spcPct val="123809"/>
              </a:lnSpc>
              <a:spcBef>
                <a:spcPts val="0"/>
              </a:spcBef>
              <a:spcAft>
                <a:spcPts val="0"/>
              </a:spcAft>
              <a:buClr>
                <a:srgbClr val="C7CCDA"/>
              </a:buClr>
              <a:buSzPts val="1050"/>
              <a:buFont typeface="Calibri"/>
              <a:buNone/>
            </a:pPr>
            <a:r>
              <a:rPr b="0" i="0" lang="en-US" sz="1050" u="none" cap="none" strike="noStrike">
                <a:solidFill>
                  <a:srgbClr val="C7CCDA"/>
                </a:solidFill>
                <a:latin typeface="Calibri"/>
                <a:ea typeface="Calibri"/>
                <a:cs typeface="Calibri"/>
                <a:sym typeface="Calibri"/>
              </a:rPr>
              <a:t>Analysts &amp; data providers publish priced reports to the marketplace.</a:t>
            </a:r>
            <a:endParaRPr b="0" i="0" sz="1050" u="none" cap="none" strike="noStrike">
              <a:solidFill>
                <a:schemeClr val="dk1"/>
              </a:solidFill>
              <a:latin typeface="Calibri"/>
              <a:ea typeface="Calibri"/>
              <a:cs typeface="Calibri"/>
              <a:sym typeface="Calibri"/>
            </a:endParaRPr>
          </a:p>
        </p:txBody>
      </p:sp>
      <p:sp>
        <p:nvSpPr>
          <p:cNvPr id="102" name="Google Shape;102;p6"/>
          <p:cNvSpPr/>
          <p:nvPr/>
        </p:nvSpPr>
        <p:spPr>
          <a:xfrm>
            <a:off x="3991356" y="3794760"/>
            <a:ext cx="457200" cy="274320"/>
          </a:xfrm>
          <a:prstGeom prst="chevron">
            <a:avLst>
              <a:gd fmla="val 50000" name="adj"/>
            </a:avLst>
          </a:prstGeom>
          <a:solidFill>
            <a:srgbClr val="8B93A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3" name="Google Shape;103;p6"/>
          <p:cNvSpPr/>
          <p:nvPr/>
        </p:nvSpPr>
        <p:spPr>
          <a:xfrm>
            <a:off x="4677156" y="3017520"/>
            <a:ext cx="2834640" cy="1828800"/>
          </a:xfrm>
          <a:prstGeom prst="roundRect">
            <a:avLst>
              <a:gd fmla="val 4500" name="adj"/>
            </a:avLst>
          </a:prstGeom>
          <a:solidFill>
            <a:srgbClr val="141B2E"/>
          </a:solidFill>
          <a:ln cap="flat" cmpd="sng" w="12700">
            <a:solidFill>
              <a:srgbClr val="232C42"/>
            </a:solidFill>
            <a:prstDash val="solid"/>
            <a:round/>
            <a:headEnd len="sm" w="sm" type="none"/>
            <a:tailEnd len="sm" w="sm" type="none"/>
          </a:ln>
          <a:effectLst>
            <a:outerShdw blurRad="101600" rotWithShape="0" algn="bl" dir="5400000" dist="38100">
              <a:srgbClr val="000000">
                <a:alpha val="34902"/>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4" name="Google Shape;104;p6"/>
          <p:cNvSpPr/>
          <p:nvPr/>
        </p:nvSpPr>
        <p:spPr>
          <a:xfrm>
            <a:off x="5774436" y="3200400"/>
            <a:ext cx="640080" cy="640080"/>
          </a:xfrm>
          <a:prstGeom prst="ellipse">
            <a:avLst/>
          </a:prstGeom>
          <a:solidFill>
            <a:srgbClr val="0F1526"/>
          </a:solidFill>
          <a:ln cap="flat" cmpd="sng" w="22225">
            <a:solidFill>
              <a:srgbClr val="2DD4B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5" name="Google Shape;105;p6"/>
          <p:cNvSpPr/>
          <p:nvPr/>
        </p:nvSpPr>
        <p:spPr>
          <a:xfrm>
            <a:off x="5774436" y="3200400"/>
            <a:ext cx="640080" cy="64008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2DD4BF"/>
              </a:buClr>
              <a:buSzPts val="2380"/>
              <a:buFont typeface="Calibri"/>
              <a:buNone/>
            </a:pPr>
            <a:r>
              <a:rPr b="1" i="0" lang="en-US" sz="2380" u="none" cap="none" strike="noStrike">
                <a:solidFill>
                  <a:srgbClr val="2DD4BF"/>
                </a:solidFill>
                <a:latin typeface="Calibri"/>
                <a:ea typeface="Calibri"/>
                <a:cs typeface="Calibri"/>
                <a:sym typeface="Calibri"/>
              </a:rPr>
              <a:t>M</a:t>
            </a:r>
            <a:endParaRPr b="0" i="0" sz="2380" u="none" cap="none" strike="noStrike">
              <a:solidFill>
                <a:schemeClr val="dk1"/>
              </a:solidFill>
              <a:latin typeface="Calibri"/>
              <a:ea typeface="Calibri"/>
              <a:cs typeface="Calibri"/>
              <a:sym typeface="Calibri"/>
            </a:endParaRPr>
          </a:p>
        </p:txBody>
      </p:sp>
      <p:sp>
        <p:nvSpPr>
          <p:cNvPr id="106" name="Google Shape;106;p6"/>
          <p:cNvSpPr/>
          <p:nvPr/>
        </p:nvSpPr>
        <p:spPr>
          <a:xfrm>
            <a:off x="4860036" y="3931920"/>
            <a:ext cx="2468880" cy="32004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500"/>
              <a:buFont typeface="Calibri"/>
              <a:buNone/>
            </a:pPr>
            <a:r>
              <a:rPr b="1" i="0" lang="en-US" sz="1500" u="none" cap="none" strike="noStrike">
                <a:solidFill>
                  <a:srgbClr val="FFFFFF"/>
                </a:solidFill>
                <a:latin typeface="Calibri"/>
                <a:ea typeface="Calibri"/>
                <a:cs typeface="Calibri"/>
                <a:sym typeface="Calibri"/>
              </a:rPr>
              <a:t>Marketplace</a:t>
            </a:r>
            <a:endParaRPr b="0" i="0" sz="1500" u="none" cap="none" strike="noStrike">
              <a:solidFill>
                <a:schemeClr val="dk1"/>
              </a:solidFill>
              <a:latin typeface="Calibri"/>
              <a:ea typeface="Calibri"/>
              <a:cs typeface="Calibri"/>
              <a:sym typeface="Calibri"/>
            </a:endParaRPr>
          </a:p>
        </p:txBody>
      </p:sp>
      <p:sp>
        <p:nvSpPr>
          <p:cNvPr id="107" name="Google Shape;107;p6"/>
          <p:cNvSpPr/>
          <p:nvPr/>
        </p:nvSpPr>
        <p:spPr>
          <a:xfrm>
            <a:off x="4860036" y="4251960"/>
            <a:ext cx="2468880" cy="548640"/>
          </a:xfrm>
          <a:prstGeom prst="rect">
            <a:avLst/>
          </a:prstGeom>
          <a:noFill/>
          <a:ln>
            <a:noFill/>
          </a:ln>
        </p:spPr>
        <p:txBody>
          <a:bodyPr anchorCtr="0" anchor="ctr" bIns="45700" lIns="91425" spcFirstLastPara="1" rIns="91425" wrap="square" tIns="45700">
            <a:noAutofit/>
          </a:bodyPr>
          <a:lstStyle/>
          <a:p>
            <a:pPr indent="0" lvl="0" marL="0" marR="0" rtl="0" algn="ctr">
              <a:lnSpc>
                <a:spcPct val="123809"/>
              </a:lnSpc>
              <a:spcBef>
                <a:spcPts val="0"/>
              </a:spcBef>
              <a:spcAft>
                <a:spcPts val="0"/>
              </a:spcAft>
              <a:buClr>
                <a:srgbClr val="C7CCDA"/>
              </a:buClr>
              <a:buSzPts val="1050"/>
              <a:buFont typeface="Calibri"/>
              <a:buNone/>
            </a:pPr>
            <a:r>
              <a:rPr b="0" i="0" lang="en-US" sz="1050" u="none" cap="none" strike="noStrike">
                <a:solidFill>
                  <a:srgbClr val="C7CCDA"/>
                </a:solidFill>
                <a:latin typeface="Calibri"/>
                <a:ea typeface="Calibri"/>
                <a:cs typeface="Calibri"/>
                <a:sym typeface="Calibri"/>
              </a:rPr>
              <a:t>Lists, prices, and clears every transaction — no manual invoicing.</a:t>
            </a:r>
            <a:endParaRPr b="0" i="0" sz="1050" u="none" cap="none" strike="noStrike">
              <a:solidFill>
                <a:schemeClr val="dk1"/>
              </a:solidFill>
              <a:latin typeface="Calibri"/>
              <a:ea typeface="Calibri"/>
              <a:cs typeface="Calibri"/>
              <a:sym typeface="Calibri"/>
            </a:endParaRPr>
          </a:p>
        </p:txBody>
      </p:sp>
      <p:sp>
        <p:nvSpPr>
          <p:cNvPr id="108" name="Google Shape;108;p6"/>
          <p:cNvSpPr/>
          <p:nvPr/>
        </p:nvSpPr>
        <p:spPr>
          <a:xfrm>
            <a:off x="7740396" y="3794760"/>
            <a:ext cx="457200" cy="274320"/>
          </a:xfrm>
          <a:prstGeom prst="chevron">
            <a:avLst>
              <a:gd fmla="val 50000" name="adj"/>
            </a:avLst>
          </a:prstGeom>
          <a:solidFill>
            <a:srgbClr val="8B93A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9" name="Google Shape;109;p6"/>
          <p:cNvSpPr/>
          <p:nvPr/>
        </p:nvSpPr>
        <p:spPr>
          <a:xfrm>
            <a:off x="8426196" y="3017520"/>
            <a:ext cx="2834640" cy="1828800"/>
          </a:xfrm>
          <a:prstGeom prst="roundRect">
            <a:avLst>
              <a:gd fmla="val 4500" name="adj"/>
            </a:avLst>
          </a:prstGeom>
          <a:solidFill>
            <a:srgbClr val="141B2E"/>
          </a:solidFill>
          <a:ln cap="flat" cmpd="sng" w="12700">
            <a:solidFill>
              <a:srgbClr val="232C42"/>
            </a:solidFill>
            <a:prstDash val="solid"/>
            <a:round/>
            <a:headEnd len="sm" w="sm" type="none"/>
            <a:tailEnd len="sm" w="sm" type="none"/>
          </a:ln>
          <a:effectLst>
            <a:outerShdw blurRad="101600" rotWithShape="0" algn="bl" dir="5400000" dist="38100">
              <a:srgbClr val="000000">
                <a:alpha val="34902"/>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0" name="Google Shape;110;p6"/>
          <p:cNvSpPr/>
          <p:nvPr/>
        </p:nvSpPr>
        <p:spPr>
          <a:xfrm>
            <a:off x="9523476" y="3200400"/>
            <a:ext cx="640080" cy="640080"/>
          </a:xfrm>
          <a:prstGeom prst="ellipse">
            <a:avLst/>
          </a:prstGeom>
          <a:solidFill>
            <a:srgbClr val="0F1526"/>
          </a:solidFill>
          <a:ln cap="flat" cmpd="sng" w="22225">
            <a:solidFill>
              <a:srgbClr val="34D39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1" name="Google Shape;111;p6"/>
          <p:cNvSpPr/>
          <p:nvPr/>
        </p:nvSpPr>
        <p:spPr>
          <a:xfrm>
            <a:off x="9523476" y="3200400"/>
            <a:ext cx="640080" cy="64008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34D399"/>
              </a:buClr>
              <a:buSzPts val="2380"/>
              <a:buFont typeface="Calibri"/>
              <a:buNone/>
            </a:pPr>
            <a:r>
              <a:rPr b="1" i="0" lang="en-US" sz="2380" u="none" cap="none" strike="noStrike">
                <a:solidFill>
                  <a:srgbClr val="34D399"/>
                </a:solidFill>
                <a:latin typeface="Calibri"/>
                <a:ea typeface="Calibri"/>
                <a:cs typeface="Calibri"/>
                <a:sym typeface="Calibri"/>
              </a:rPr>
              <a:t>B</a:t>
            </a:r>
            <a:endParaRPr b="0" i="0" sz="2380" u="none" cap="none" strike="noStrike">
              <a:solidFill>
                <a:schemeClr val="dk1"/>
              </a:solidFill>
              <a:latin typeface="Calibri"/>
              <a:ea typeface="Calibri"/>
              <a:cs typeface="Calibri"/>
              <a:sym typeface="Calibri"/>
            </a:endParaRPr>
          </a:p>
        </p:txBody>
      </p:sp>
      <p:sp>
        <p:nvSpPr>
          <p:cNvPr id="112" name="Google Shape;112;p6"/>
          <p:cNvSpPr/>
          <p:nvPr/>
        </p:nvSpPr>
        <p:spPr>
          <a:xfrm>
            <a:off x="8609076" y="3931920"/>
            <a:ext cx="2468880" cy="32004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500"/>
              <a:buFont typeface="Calibri"/>
              <a:buNone/>
            </a:pPr>
            <a:r>
              <a:rPr b="1" i="0" lang="en-US" sz="1500" u="none" cap="none" strike="noStrike">
                <a:solidFill>
                  <a:srgbClr val="FFFFFF"/>
                </a:solidFill>
                <a:latin typeface="Calibri"/>
                <a:ea typeface="Calibri"/>
                <a:cs typeface="Calibri"/>
                <a:sym typeface="Calibri"/>
              </a:rPr>
              <a:t>Humans &amp; Agents</a:t>
            </a:r>
            <a:endParaRPr b="0" i="0" sz="1500" u="none" cap="none" strike="noStrike">
              <a:solidFill>
                <a:schemeClr val="dk1"/>
              </a:solidFill>
              <a:latin typeface="Calibri"/>
              <a:ea typeface="Calibri"/>
              <a:cs typeface="Calibri"/>
              <a:sym typeface="Calibri"/>
            </a:endParaRPr>
          </a:p>
        </p:txBody>
      </p:sp>
      <p:sp>
        <p:nvSpPr>
          <p:cNvPr id="113" name="Google Shape;113;p6"/>
          <p:cNvSpPr/>
          <p:nvPr/>
        </p:nvSpPr>
        <p:spPr>
          <a:xfrm>
            <a:off x="8609076" y="4251960"/>
            <a:ext cx="2468880" cy="548640"/>
          </a:xfrm>
          <a:prstGeom prst="rect">
            <a:avLst/>
          </a:prstGeom>
          <a:noFill/>
          <a:ln>
            <a:noFill/>
          </a:ln>
        </p:spPr>
        <p:txBody>
          <a:bodyPr anchorCtr="0" anchor="ctr" bIns="45700" lIns="91425" spcFirstLastPara="1" rIns="91425" wrap="square" tIns="45700">
            <a:noAutofit/>
          </a:bodyPr>
          <a:lstStyle/>
          <a:p>
            <a:pPr indent="0" lvl="0" marL="0" marR="0" rtl="0" algn="ctr">
              <a:lnSpc>
                <a:spcPct val="123809"/>
              </a:lnSpc>
              <a:spcBef>
                <a:spcPts val="0"/>
              </a:spcBef>
              <a:spcAft>
                <a:spcPts val="0"/>
              </a:spcAft>
              <a:buClr>
                <a:srgbClr val="C7CCDA"/>
              </a:buClr>
              <a:buSzPts val="1050"/>
              <a:buFont typeface="Calibri"/>
              <a:buNone/>
            </a:pPr>
            <a:r>
              <a:rPr b="0" i="0" lang="en-US" sz="1050" u="none" cap="none" strike="noStrike">
                <a:solidFill>
                  <a:srgbClr val="C7CCDA"/>
                </a:solidFill>
                <a:latin typeface="Calibri"/>
                <a:ea typeface="Calibri"/>
                <a:cs typeface="Calibri"/>
                <a:sym typeface="Calibri"/>
              </a:rPr>
              <a:t>Browse or query programmatically. Buy exactly the report needed.</a:t>
            </a:r>
            <a:endParaRPr b="0" i="0" sz="1050" u="none" cap="none" strike="noStrike">
              <a:solidFill>
                <a:schemeClr val="dk1"/>
              </a:solidFill>
              <a:latin typeface="Calibri"/>
              <a:ea typeface="Calibri"/>
              <a:cs typeface="Calibri"/>
              <a:sym typeface="Calibri"/>
            </a:endParaRPr>
          </a:p>
        </p:txBody>
      </p:sp>
      <p:sp>
        <p:nvSpPr>
          <p:cNvPr id="114" name="Google Shape;114;p6"/>
          <p:cNvSpPr/>
          <p:nvPr/>
        </p:nvSpPr>
        <p:spPr>
          <a:xfrm>
            <a:off x="640080" y="5623560"/>
            <a:ext cx="10881360" cy="36576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8B93A7"/>
              </a:buClr>
              <a:buSzPts val="1100"/>
              <a:buFont typeface="Calibri"/>
              <a:buNone/>
            </a:pPr>
            <a:r>
              <a:rPr b="0" i="1" lang="en-US" sz="1100" u="none" cap="none" strike="noStrike">
                <a:solidFill>
                  <a:srgbClr val="8B93A7"/>
                </a:solidFill>
                <a:latin typeface="Calibri"/>
                <a:ea typeface="Calibri"/>
                <a:cs typeface="Calibri"/>
                <a:sym typeface="Calibri"/>
              </a:rPr>
              <a:t>Payment, settlement, and custody are handled underneath this flow — see Slide 8.</a:t>
            </a:r>
            <a:endParaRPr b="0" i="0" sz="1100" u="none" cap="none" strike="noStrike">
              <a:solidFill>
                <a:schemeClr val="dk1"/>
              </a:solidFill>
              <a:latin typeface="Calibri"/>
              <a:ea typeface="Calibri"/>
              <a:cs typeface="Calibri"/>
              <a:sym typeface="Calibri"/>
            </a:endParaRPr>
          </a:p>
        </p:txBody>
      </p:sp>
      <p:sp>
        <p:nvSpPr>
          <p:cNvPr id="115" name="Google Shape;115;p6"/>
          <p:cNvSpPr/>
          <p:nvPr/>
        </p:nvSpPr>
        <p:spPr>
          <a:xfrm>
            <a:off x="457200" y="6473952"/>
            <a:ext cx="18288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B93A7"/>
              </a:buClr>
              <a:buSzPts val="1000"/>
              <a:buFont typeface="Calibri"/>
              <a:buNone/>
            </a:pPr>
            <a:r>
              <a:rPr b="1" i="0" lang="en-US" sz="1000" u="none" cap="none" strike="noStrike">
                <a:solidFill>
                  <a:srgbClr val="8B93A7"/>
                </a:solidFill>
                <a:latin typeface="Calibri"/>
                <a:ea typeface="Calibri"/>
                <a:cs typeface="Calibri"/>
                <a:sym typeface="Calibri"/>
              </a:rPr>
              <a:t>QMA</a:t>
            </a:r>
            <a:endParaRPr b="0" i="0" sz="1000" u="none" cap="none" strike="noStrike">
              <a:solidFill>
                <a:schemeClr val="dk1"/>
              </a:solidFill>
              <a:latin typeface="Calibri"/>
              <a:ea typeface="Calibri"/>
              <a:cs typeface="Calibri"/>
              <a:sym typeface="Calibri"/>
            </a:endParaRPr>
          </a:p>
        </p:txBody>
      </p:sp>
      <p:sp>
        <p:nvSpPr>
          <p:cNvPr id="116" name="Google Shape;116;p6"/>
          <p:cNvSpPr/>
          <p:nvPr/>
        </p:nvSpPr>
        <p:spPr>
          <a:xfrm>
            <a:off x="1828800" y="6473952"/>
            <a:ext cx="45720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B93A7"/>
              </a:buClr>
              <a:buSzPts val="900"/>
              <a:buFont typeface="Calibri"/>
              <a:buNone/>
            </a:pPr>
            <a:r>
              <a:rPr b="0" i="0" lang="en-US" sz="900" u="none" cap="none" strike="noStrike">
                <a:solidFill>
                  <a:srgbClr val="8B93A7"/>
                </a:solidFill>
                <a:latin typeface="Calibri"/>
                <a:ea typeface="Calibri"/>
                <a:cs typeface="Calibri"/>
                <a:sym typeface="Calibri"/>
              </a:rPr>
              <a:t>Architecture</a:t>
            </a:r>
            <a:endParaRPr b="0" i="0" sz="900" u="none" cap="none" strike="noStrike">
              <a:solidFill>
                <a:schemeClr val="dk1"/>
              </a:solidFill>
              <a:latin typeface="Calibri"/>
              <a:ea typeface="Calibri"/>
              <a:cs typeface="Calibri"/>
              <a:sym typeface="Calibri"/>
            </a:endParaRPr>
          </a:p>
        </p:txBody>
      </p:sp>
      <p:sp>
        <p:nvSpPr>
          <p:cNvPr id="117" name="Google Shape;117;p6"/>
          <p:cNvSpPr/>
          <p:nvPr/>
        </p:nvSpPr>
        <p:spPr>
          <a:xfrm>
            <a:off x="10817352" y="6473952"/>
            <a:ext cx="914400" cy="27432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8B93A7"/>
              </a:buClr>
              <a:buSzPts val="1000"/>
              <a:buFont typeface="Calibri"/>
              <a:buNone/>
            </a:pPr>
            <a:r>
              <a:rPr b="0" i="0" lang="en-US" sz="1000" u="none" cap="none" strike="noStrike">
                <a:solidFill>
                  <a:srgbClr val="8B93A7"/>
                </a:solidFill>
                <a:latin typeface="Calibri"/>
                <a:ea typeface="Calibri"/>
                <a:cs typeface="Calibri"/>
                <a:sym typeface="Calibri"/>
              </a:rPr>
              <a:t>04 / 16</a:t>
            </a:r>
            <a:endParaRPr b="0" i="0" sz="1000" u="none" cap="none" strike="noStrike">
              <a:solidFill>
                <a:schemeClr val="dk1"/>
              </a:solidFill>
              <a:latin typeface="Calibri"/>
              <a:ea typeface="Calibri"/>
              <a:cs typeface="Calibri"/>
              <a:sym typeface="Calibri"/>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B0F1C"/>
        </a:solidFill>
      </p:bgPr>
    </p:bg>
    <p:spTree>
      <p:nvGrpSpPr>
        <p:cNvPr id="122" name="Shape 122"/>
        <p:cNvGrpSpPr/>
        <p:nvPr/>
      </p:nvGrpSpPr>
      <p:grpSpPr>
        <a:xfrm>
          <a:off x="0" y="0"/>
          <a:ext cx="0" cy="0"/>
          <a:chOff x="0" y="0"/>
          <a:chExt cx="0" cy="0"/>
        </a:xfrm>
      </p:grpSpPr>
      <p:sp>
        <p:nvSpPr>
          <p:cNvPr id="123" name="Google Shape;123;p7"/>
          <p:cNvSpPr/>
          <p:nvPr/>
        </p:nvSpPr>
        <p:spPr>
          <a:xfrm>
            <a:off x="640080" y="502920"/>
            <a:ext cx="7315200" cy="32004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34D399"/>
              </a:buClr>
              <a:buSzPts val="1200"/>
              <a:buFont typeface="Calibri"/>
              <a:buNone/>
            </a:pPr>
            <a:r>
              <a:rPr b="1" i="0" lang="en-US" sz="1200" u="none" cap="none" strike="noStrike">
                <a:solidFill>
                  <a:srgbClr val="34D399"/>
                </a:solidFill>
                <a:latin typeface="Calibri"/>
                <a:ea typeface="Calibri"/>
                <a:cs typeface="Calibri"/>
                <a:sym typeface="Calibri"/>
              </a:rPr>
              <a:t>CREATOR ECONOMY</a:t>
            </a:r>
            <a:endParaRPr b="0" i="0" sz="1200" u="none" cap="none" strike="noStrike">
              <a:solidFill>
                <a:schemeClr val="dk1"/>
              </a:solidFill>
              <a:latin typeface="Calibri"/>
              <a:ea typeface="Calibri"/>
              <a:cs typeface="Calibri"/>
              <a:sym typeface="Calibri"/>
            </a:endParaRPr>
          </a:p>
        </p:txBody>
      </p:sp>
      <p:sp>
        <p:nvSpPr>
          <p:cNvPr id="124" name="Google Shape;124;p7"/>
          <p:cNvSpPr/>
          <p:nvPr/>
        </p:nvSpPr>
        <p:spPr>
          <a:xfrm>
            <a:off x="640080" y="804672"/>
            <a:ext cx="10789920" cy="7315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3400"/>
              <a:buFont typeface="Calibri"/>
              <a:buNone/>
            </a:pPr>
            <a:r>
              <a:rPr b="1" i="0" lang="en-US" sz="3400" u="none" cap="none" strike="noStrike">
                <a:solidFill>
                  <a:srgbClr val="FFFFFF"/>
                </a:solidFill>
                <a:latin typeface="Calibri"/>
                <a:ea typeface="Calibri"/>
                <a:cs typeface="Calibri"/>
                <a:sym typeface="Calibri"/>
              </a:rPr>
              <a:t>From Insight to Income</a:t>
            </a:r>
            <a:endParaRPr b="0" i="0" sz="3400" u="none" cap="none" strike="noStrike">
              <a:solidFill>
                <a:schemeClr val="dk1"/>
              </a:solidFill>
              <a:latin typeface="Calibri"/>
              <a:ea typeface="Calibri"/>
              <a:cs typeface="Calibri"/>
              <a:sym typeface="Calibri"/>
            </a:endParaRPr>
          </a:p>
        </p:txBody>
      </p:sp>
      <p:sp>
        <p:nvSpPr>
          <p:cNvPr id="125" name="Google Shape;125;p7"/>
          <p:cNvSpPr/>
          <p:nvPr/>
        </p:nvSpPr>
        <p:spPr>
          <a:xfrm>
            <a:off x="640080" y="1417320"/>
            <a:ext cx="9875520" cy="457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C7CCDA"/>
              </a:buClr>
              <a:buSzPts val="1500"/>
              <a:buFont typeface="Calibri"/>
              <a:buNone/>
            </a:pPr>
            <a:r>
              <a:rPr b="0" i="1" lang="en-US" sz="1500" u="none" cap="none" strike="noStrike">
                <a:solidFill>
                  <a:srgbClr val="C7CCDA"/>
                </a:solidFill>
                <a:latin typeface="Calibri"/>
                <a:ea typeface="Calibri"/>
                <a:cs typeface="Calibri"/>
                <a:sym typeface="Calibri"/>
              </a:rPr>
              <a:t>Creators set their price per report and earn on every sale.</a:t>
            </a:r>
            <a:endParaRPr b="0" i="0" sz="1500" u="none" cap="none" strike="noStrike">
              <a:solidFill>
                <a:schemeClr val="dk1"/>
              </a:solidFill>
              <a:latin typeface="Calibri"/>
              <a:ea typeface="Calibri"/>
              <a:cs typeface="Calibri"/>
              <a:sym typeface="Calibri"/>
            </a:endParaRPr>
          </a:p>
        </p:txBody>
      </p:sp>
      <p:sp>
        <p:nvSpPr>
          <p:cNvPr id="126" name="Google Shape;126;p7"/>
          <p:cNvSpPr/>
          <p:nvPr/>
        </p:nvSpPr>
        <p:spPr>
          <a:xfrm>
            <a:off x="640080" y="2331720"/>
            <a:ext cx="1773936" cy="914400"/>
          </a:xfrm>
          <a:prstGeom prst="roundRect">
            <a:avLst>
              <a:gd fmla="val 9000" name="adj"/>
            </a:avLst>
          </a:prstGeom>
          <a:solidFill>
            <a:srgbClr val="141B2E"/>
          </a:solidFill>
          <a:ln cap="flat" cmpd="sng" w="12700">
            <a:solidFill>
              <a:srgbClr val="232C42"/>
            </a:solidFill>
            <a:prstDash val="solid"/>
            <a:round/>
            <a:headEnd len="sm" w="sm" type="none"/>
            <a:tailEnd len="sm" w="sm" type="none"/>
          </a:ln>
          <a:effectLst>
            <a:outerShdw blurRad="101600" rotWithShape="0" algn="bl" dir="5400000" dist="38100">
              <a:srgbClr val="000000">
                <a:alpha val="34902"/>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7" name="Google Shape;127;p7"/>
          <p:cNvSpPr/>
          <p:nvPr/>
        </p:nvSpPr>
        <p:spPr>
          <a:xfrm>
            <a:off x="777240" y="2404872"/>
            <a:ext cx="73152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B93A7"/>
              </a:buClr>
              <a:buSzPts val="1100"/>
              <a:buFont typeface="Calibri"/>
              <a:buNone/>
            </a:pPr>
            <a:r>
              <a:rPr b="1" i="0" lang="en-US" sz="1100" u="none" cap="none" strike="noStrike">
                <a:solidFill>
                  <a:srgbClr val="8B93A7"/>
                </a:solidFill>
                <a:latin typeface="Calibri"/>
                <a:ea typeface="Calibri"/>
                <a:cs typeface="Calibri"/>
                <a:sym typeface="Calibri"/>
              </a:rPr>
              <a:t>01</a:t>
            </a:r>
            <a:endParaRPr b="0" i="0" sz="1100" u="none" cap="none" strike="noStrike">
              <a:solidFill>
                <a:schemeClr val="dk1"/>
              </a:solidFill>
              <a:latin typeface="Calibri"/>
              <a:ea typeface="Calibri"/>
              <a:cs typeface="Calibri"/>
              <a:sym typeface="Calibri"/>
            </a:endParaRPr>
          </a:p>
        </p:txBody>
      </p:sp>
      <p:sp>
        <p:nvSpPr>
          <p:cNvPr id="128" name="Google Shape;128;p7"/>
          <p:cNvSpPr/>
          <p:nvPr/>
        </p:nvSpPr>
        <p:spPr>
          <a:xfrm>
            <a:off x="777240" y="2697480"/>
            <a:ext cx="1499616" cy="457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1400"/>
              <a:buFont typeface="Calibri"/>
              <a:buNone/>
            </a:pPr>
            <a:r>
              <a:rPr b="1" i="0" lang="en-US" sz="1400" u="none" cap="none" strike="noStrike">
                <a:solidFill>
                  <a:srgbClr val="FFFFFF"/>
                </a:solidFill>
                <a:latin typeface="Calibri"/>
                <a:ea typeface="Calibri"/>
                <a:cs typeface="Calibri"/>
                <a:sym typeface="Calibri"/>
              </a:rPr>
              <a:t>Application</a:t>
            </a:r>
            <a:endParaRPr b="0" i="0" sz="1400" u="none" cap="none" strike="noStrike">
              <a:solidFill>
                <a:schemeClr val="dk1"/>
              </a:solidFill>
              <a:latin typeface="Calibri"/>
              <a:ea typeface="Calibri"/>
              <a:cs typeface="Calibri"/>
              <a:sym typeface="Calibri"/>
            </a:endParaRPr>
          </a:p>
        </p:txBody>
      </p:sp>
      <p:sp>
        <p:nvSpPr>
          <p:cNvPr id="129" name="Google Shape;129;p7"/>
          <p:cNvSpPr/>
          <p:nvPr/>
        </p:nvSpPr>
        <p:spPr>
          <a:xfrm>
            <a:off x="2514600" y="2679192"/>
            <a:ext cx="301752" cy="219456"/>
          </a:xfrm>
          <a:prstGeom prst="chevron">
            <a:avLst>
              <a:gd fmla="val 50000" name="adj"/>
            </a:avLst>
          </a:prstGeom>
          <a:solidFill>
            <a:srgbClr val="8B93A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0" name="Google Shape;130;p7"/>
          <p:cNvSpPr/>
          <p:nvPr/>
        </p:nvSpPr>
        <p:spPr>
          <a:xfrm>
            <a:off x="2916936" y="2331720"/>
            <a:ext cx="1773936" cy="914400"/>
          </a:xfrm>
          <a:prstGeom prst="roundRect">
            <a:avLst>
              <a:gd fmla="val 9000" name="adj"/>
            </a:avLst>
          </a:prstGeom>
          <a:solidFill>
            <a:srgbClr val="141B2E"/>
          </a:solidFill>
          <a:ln cap="flat" cmpd="sng" w="12700">
            <a:solidFill>
              <a:srgbClr val="232C42"/>
            </a:solidFill>
            <a:prstDash val="solid"/>
            <a:round/>
            <a:headEnd len="sm" w="sm" type="none"/>
            <a:tailEnd len="sm" w="sm" type="none"/>
          </a:ln>
          <a:effectLst>
            <a:outerShdw blurRad="101600" rotWithShape="0" algn="bl" dir="5400000" dist="38100">
              <a:srgbClr val="000000">
                <a:alpha val="34902"/>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1" name="Google Shape;131;p7"/>
          <p:cNvSpPr/>
          <p:nvPr/>
        </p:nvSpPr>
        <p:spPr>
          <a:xfrm>
            <a:off x="3054096" y="2404872"/>
            <a:ext cx="73152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B93A7"/>
              </a:buClr>
              <a:buSzPts val="1100"/>
              <a:buFont typeface="Calibri"/>
              <a:buNone/>
            </a:pPr>
            <a:r>
              <a:rPr b="1" i="0" lang="en-US" sz="1100" u="none" cap="none" strike="noStrike">
                <a:solidFill>
                  <a:srgbClr val="8B93A7"/>
                </a:solidFill>
                <a:latin typeface="Calibri"/>
                <a:ea typeface="Calibri"/>
                <a:cs typeface="Calibri"/>
                <a:sym typeface="Calibri"/>
              </a:rPr>
              <a:t>02</a:t>
            </a:r>
            <a:endParaRPr b="0" i="0" sz="1100" u="none" cap="none" strike="noStrike">
              <a:solidFill>
                <a:schemeClr val="dk1"/>
              </a:solidFill>
              <a:latin typeface="Calibri"/>
              <a:ea typeface="Calibri"/>
              <a:cs typeface="Calibri"/>
              <a:sym typeface="Calibri"/>
            </a:endParaRPr>
          </a:p>
        </p:txBody>
      </p:sp>
      <p:sp>
        <p:nvSpPr>
          <p:cNvPr id="132" name="Google Shape;132;p7"/>
          <p:cNvSpPr/>
          <p:nvPr/>
        </p:nvSpPr>
        <p:spPr>
          <a:xfrm>
            <a:off x="3054096" y="2697480"/>
            <a:ext cx="1499616" cy="457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1400"/>
              <a:buFont typeface="Calibri"/>
              <a:buNone/>
            </a:pPr>
            <a:r>
              <a:rPr b="1" i="0" lang="en-US" sz="1400" u="none" cap="none" strike="noStrike">
                <a:solidFill>
                  <a:srgbClr val="FFFFFF"/>
                </a:solidFill>
                <a:latin typeface="Calibri"/>
                <a:ea typeface="Calibri"/>
                <a:cs typeface="Calibri"/>
                <a:sym typeface="Calibri"/>
              </a:rPr>
              <a:t>Review</a:t>
            </a:r>
            <a:endParaRPr b="0" i="0" sz="1400" u="none" cap="none" strike="noStrike">
              <a:solidFill>
                <a:schemeClr val="dk1"/>
              </a:solidFill>
              <a:latin typeface="Calibri"/>
              <a:ea typeface="Calibri"/>
              <a:cs typeface="Calibri"/>
              <a:sym typeface="Calibri"/>
            </a:endParaRPr>
          </a:p>
        </p:txBody>
      </p:sp>
      <p:sp>
        <p:nvSpPr>
          <p:cNvPr id="133" name="Google Shape;133;p7"/>
          <p:cNvSpPr/>
          <p:nvPr/>
        </p:nvSpPr>
        <p:spPr>
          <a:xfrm>
            <a:off x="4791456" y="2679192"/>
            <a:ext cx="301752" cy="219456"/>
          </a:xfrm>
          <a:prstGeom prst="chevron">
            <a:avLst>
              <a:gd fmla="val 50000" name="adj"/>
            </a:avLst>
          </a:prstGeom>
          <a:solidFill>
            <a:srgbClr val="8B93A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4" name="Google Shape;134;p7"/>
          <p:cNvSpPr/>
          <p:nvPr/>
        </p:nvSpPr>
        <p:spPr>
          <a:xfrm>
            <a:off x="5193792" y="2331720"/>
            <a:ext cx="1773936" cy="914400"/>
          </a:xfrm>
          <a:prstGeom prst="roundRect">
            <a:avLst>
              <a:gd fmla="val 9000" name="adj"/>
            </a:avLst>
          </a:prstGeom>
          <a:solidFill>
            <a:srgbClr val="141B2E"/>
          </a:solidFill>
          <a:ln cap="flat" cmpd="sng" w="12700">
            <a:solidFill>
              <a:srgbClr val="232C42"/>
            </a:solidFill>
            <a:prstDash val="solid"/>
            <a:round/>
            <a:headEnd len="sm" w="sm" type="none"/>
            <a:tailEnd len="sm" w="sm" type="none"/>
          </a:ln>
          <a:effectLst>
            <a:outerShdw blurRad="101600" rotWithShape="0" algn="bl" dir="5400000" dist="38100">
              <a:srgbClr val="000000">
                <a:alpha val="34902"/>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5" name="Google Shape;135;p7"/>
          <p:cNvSpPr/>
          <p:nvPr/>
        </p:nvSpPr>
        <p:spPr>
          <a:xfrm>
            <a:off x="5330952" y="2404872"/>
            <a:ext cx="73152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B93A7"/>
              </a:buClr>
              <a:buSzPts val="1100"/>
              <a:buFont typeface="Calibri"/>
              <a:buNone/>
            </a:pPr>
            <a:r>
              <a:rPr b="1" i="0" lang="en-US" sz="1100" u="none" cap="none" strike="noStrike">
                <a:solidFill>
                  <a:srgbClr val="8B93A7"/>
                </a:solidFill>
                <a:latin typeface="Calibri"/>
                <a:ea typeface="Calibri"/>
                <a:cs typeface="Calibri"/>
                <a:sym typeface="Calibri"/>
              </a:rPr>
              <a:t>03</a:t>
            </a:r>
            <a:endParaRPr b="0" i="0" sz="1100" u="none" cap="none" strike="noStrike">
              <a:solidFill>
                <a:schemeClr val="dk1"/>
              </a:solidFill>
              <a:latin typeface="Calibri"/>
              <a:ea typeface="Calibri"/>
              <a:cs typeface="Calibri"/>
              <a:sym typeface="Calibri"/>
            </a:endParaRPr>
          </a:p>
        </p:txBody>
      </p:sp>
      <p:sp>
        <p:nvSpPr>
          <p:cNvPr id="136" name="Google Shape;136;p7"/>
          <p:cNvSpPr/>
          <p:nvPr/>
        </p:nvSpPr>
        <p:spPr>
          <a:xfrm>
            <a:off x="5330952" y="2697480"/>
            <a:ext cx="1499616" cy="457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1400"/>
              <a:buFont typeface="Calibri"/>
              <a:buNone/>
            </a:pPr>
            <a:r>
              <a:rPr b="1" i="0" lang="en-US" sz="1400" u="none" cap="none" strike="noStrike">
                <a:solidFill>
                  <a:srgbClr val="FFFFFF"/>
                </a:solidFill>
                <a:latin typeface="Calibri"/>
                <a:ea typeface="Calibri"/>
                <a:cs typeface="Calibri"/>
                <a:sym typeface="Calibri"/>
              </a:rPr>
              <a:t>Approval</a:t>
            </a:r>
            <a:endParaRPr b="0" i="0" sz="1400" u="none" cap="none" strike="noStrike">
              <a:solidFill>
                <a:schemeClr val="dk1"/>
              </a:solidFill>
              <a:latin typeface="Calibri"/>
              <a:ea typeface="Calibri"/>
              <a:cs typeface="Calibri"/>
              <a:sym typeface="Calibri"/>
            </a:endParaRPr>
          </a:p>
        </p:txBody>
      </p:sp>
      <p:sp>
        <p:nvSpPr>
          <p:cNvPr id="137" name="Google Shape;137;p7"/>
          <p:cNvSpPr/>
          <p:nvPr/>
        </p:nvSpPr>
        <p:spPr>
          <a:xfrm>
            <a:off x="7068312" y="2679192"/>
            <a:ext cx="301752" cy="219456"/>
          </a:xfrm>
          <a:prstGeom prst="chevron">
            <a:avLst>
              <a:gd fmla="val 50000" name="adj"/>
            </a:avLst>
          </a:prstGeom>
          <a:solidFill>
            <a:srgbClr val="8B93A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8" name="Google Shape;138;p7"/>
          <p:cNvSpPr/>
          <p:nvPr/>
        </p:nvSpPr>
        <p:spPr>
          <a:xfrm>
            <a:off x="7470648" y="2331720"/>
            <a:ext cx="1773936" cy="914400"/>
          </a:xfrm>
          <a:prstGeom prst="roundRect">
            <a:avLst>
              <a:gd fmla="val 9000" name="adj"/>
            </a:avLst>
          </a:prstGeom>
          <a:solidFill>
            <a:srgbClr val="141B2E"/>
          </a:solidFill>
          <a:ln cap="flat" cmpd="sng" w="12700">
            <a:solidFill>
              <a:srgbClr val="232C42"/>
            </a:solidFill>
            <a:prstDash val="solid"/>
            <a:round/>
            <a:headEnd len="sm" w="sm" type="none"/>
            <a:tailEnd len="sm" w="sm" type="none"/>
          </a:ln>
          <a:effectLst>
            <a:outerShdw blurRad="101600" rotWithShape="0" algn="bl" dir="5400000" dist="38100">
              <a:srgbClr val="000000">
                <a:alpha val="34902"/>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9" name="Google Shape;139;p7"/>
          <p:cNvSpPr/>
          <p:nvPr/>
        </p:nvSpPr>
        <p:spPr>
          <a:xfrm>
            <a:off x="7607808" y="2404872"/>
            <a:ext cx="73152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B93A7"/>
              </a:buClr>
              <a:buSzPts val="1100"/>
              <a:buFont typeface="Calibri"/>
              <a:buNone/>
            </a:pPr>
            <a:r>
              <a:rPr b="1" i="0" lang="en-US" sz="1100" u="none" cap="none" strike="noStrike">
                <a:solidFill>
                  <a:srgbClr val="8B93A7"/>
                </a:solidFill>
                <a:latin typeface="Calibri"/>
                <a:ea typeface="Calibri"/>
                <a:cs typeface="Calibri"/>
                <a:sym typeface="Calibri"/>
              </a:rPr>
              <a:t>04</a:t>
            </a:r>
            <a:endParaRPr b="0" i="0" sz="1100" u="none" cap="none" strike="noStrike">
              <a:solidFill>
                <a:schemeClr val="dk1"/>
              </a:solidFill>
              <a:latin typeface="Calibri"/>
              <a:ea typeface="Calibri"/>
              <a:cs typeface="Calibri"/>
              <a:sym typeface="Calibri"/>
            </a:endParaRPr>
          </a:p>
        </p:txBody>
      </p:sp>
      <p:sp>
        <p:nvSpPr>
          <p:cNvPr id="140" name="Google Shape;140;p7"/>
          <p:cNvSpPr/>
          <p:nvPr/>
        </p:nvSpPr>
        <p:spPr>
          <a:xfrm>
            <a:off x="7607808" y="2697480"/>
            <a:ext cx="1499616" cy="457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1400"/>
              <a:buFont typeface="Calibri"/>
              <a:buNone/>
            </a:pPr>
            <a:r>
              <a:rPr b="1" i="0" lang="en-US" sz="1400" u="none" cap="none" strike="noStrike">
                <a:solidFill>
                  <a:srgbClr val="FFFFFF"/>
                </a:solidFill>
                <a:latin typeface="Calibri"/>
                <a:ea typeface="Calibri"/>
                <a:cs typeface="Calibri"/>
                <a:sym typeface="Calibri"/>
              </a:rPr>
              <a:t>Publishing</a:t>
            </a:r>
            <a:endParaRPr b="0" i="0" sz="1400" u="none" cap="none" strike="noStrike">
              <a:solidFill>
                <a:schemeClr val="dk1"/>
              </a:solidFill>
              <a:latin typeface="Calibri"/>
              <a:ea typeface="Calibri"/>
              <a:cs typeface="Calibri"/>
              <a:sym typeface="Calibri"/>
            </a:endParaRPr>
          </a:p>
        </p:txBody>
      </p:sp>
      <p:sp>
        <p:nvSpPr>
          <p:cNvPr id="141" name="Google Shape;141;p7"/>
          <p:cNvSpPr/>
          <p:nvPr/>
        </p:nvSpPr>
        <p:spPr>
          <a:xfrm>
            <a:off x="9345168" y="2679192"/>
            <a:ext cx="301752" cy="219456"/>
          </a:xfrm>
          <a:prstGeom prst="chevron">
            <a:avLst>
              <a:gd fmla="val 50000" name="adj"/>
            </a:avLst>
          </a:prstGeom>
          <a:solidFill>
            <a:srgbClr val="8B93A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2" name="Google Shape;142;p7"/>
          <p:cNvSpPr/>
          <p:nvPr/>
        </p:nvSpPr>
        <p:spPr>
          <a:xfrm>
            <a:off x="9747504" y="2331720"/>
            <a:ext cx="1773936" cy="914400"/>
          </a:xfrm>
          <a:prstGeom prst="roundRect">
            <a:avLst>
              <a:gd fmla="val 9000" name="adj"/>
            </a:avLst>
          </a:prstGeom>
          <a:solidFill>
            <a:srgbClr val="0F1526"/>
          </a:solidFill>
          <a:ln cap="flat" cmpd="sng" w="12700">
            <a:solidFill>
              <a:srgbClr val="34D399"/>
            </a:solidFill>
            <a:prstDash val="solid"/>
            <a:round/>
            <a:headEnd len="sm" w="sm" type="none"/>
            <a:tailEnd len="sm" w="sm" type="none"/>
          </a:ln>
          <a:effectLst>
            <a:outerShdw blurRad="101600" rotWithShape="0" algn="bl" dir="5400000" dist="38100">
              <a:srgbClr val="000000">
                <a:alpha val="34902"/>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3" name="Google Shape;143;p7"/>
          <p:cNvSpPr/>
          <p:nvPr/>
        </p:nvSpPr>
        <p:spPr>
          <a:xfrm>
            <a:off x="9884664" y="2404872"/>
            <a:ext cx="73152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34D399"/>
              </a:buClr>
              <a:buSzPts val="1100"/>
              <a:buFont typeface="Calibri"/>
              <a:buNone/>
            </a:pPr>
            <a:r>
              <a:rPr b="1" i="0" lang="en-US" sz="1100" u="none" cap="none" strike="noStrike">
                <a:solidFill>
                  <a:srgbClr val="34D399"/>
                </a:solidFill>
                <a:latin typeface="Calibri"/>
                <a:ea typeface="Calibri"/>
                <a:cs typeface="Calibri"/>
                <a:sym typeface="Calibri"/>
              </a:rPr>
              <a:t>05</a:t>
            </a:r>
            <a:endParaRPr b="0" i="0" sz="1100" u="none" cap="none" strike="noStrike">
              <a:solidFill>
                <a:schemeClr val="dk1"/>
              </a:solidFill>
              <a:latin typeface="Calibri"/>
              <a:ea typeface="Calibri"/>
              <a:cs typeface="Calibri"/>
              <a:sym typeface="Calibri"/>
            </a:endParaRPr>
          </a:p>
        </p:txBody>
      </p:sp>
      <p:sp>
        <p:nvSpPr>
          <p:cNvPr id="144" name="Google Shape;144;p7"/>
          <p:cNvSpPr/>
          <p:nvPr/>
        </p:nvSpPr>
        <p:spPr>
          <a:xfrm>
            <a:off x="9884664" y="2697480"/>
            <a:ext cx="1499616" cy="457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1400"/>
              <a:buFont typeface="Calibri"/>
              <a:buNone/>
            </a:pPr>
            <a:r>
              <a:rPr b="1" i="0" lang="en-US" sz="1400" u="none" cap="none" strike="noStrike">
                <a:solidFill>
                  <a:srgbClr val="FFFFFF"/>
                </a:solidFill>
                <a:latin typeface="Calibri"/>
                <a:ea typeface="Calibri"/>
                <a:cs typeface="Calibri"/>
                <a:sym typeface="Calibri"/>
              </a:rPr>
              <a:t>Revenue</a:t>
            </a:r>
            <a:endParaRPr b="0" i="0" sz="1400" u="none" cap="none" strike="noStrike">
              <a:solidFill>
                <a:schemeClr val="dk1"/>
              </a:solidFill>
              <a:latin typeface="Calibri"/>
              <a:ea typeface="Calibri"/>
              <a:cs typeface="Calibri"/>
              <a:sym typeface="Calibri"/>
            </a:endParaRPr>
          </a:p>
        </p:txBody>
      </p:sp>
      <p:sp>
        <p:nvSpPr>
          <p:cNvPr id="145" name="Google Shape;145;p7"/>
          <p:cNvSpPr/>
          <p:nvPr/>
        </p:nvSpPr>
        <p:spPr>
          <a:xfrm>
            <a:off x="640080" y="3611880"/>
            <a:ext cx="10881360" cy="1965960"/>
          </a:xfrm>
          <a:prstGeom prst="roundRect">
            <a:avLst>
              <a:gd fmla="val 4186" name="adj"/>
            </a:avLst>
          </a:prstGeom>
          <a:solidFill>
            <a:srgbClr val="141B2E"/>
          </a:solidFill>
          <a:ln cap="flat" cmpd="sng" w="12700">
            <a:solidFill>
              <a:srgbClr val="232C42"/>
            </a:solidFill>
            <a:prstDash val="solid"/>
            <a:round/>
            <a:headEnd len="sm" w="sm" type="none"/>
            <a:tailEnd len="sm" w="sm" type="none"/>
          </a:ln>
          <a:effectLst>
            <a:outerShdw blurRad="101600" rotWithShape="0" algn="bl" dir="5400000" dist="38100">
              <a:srgbClr val="000000">
                <a:alpha val="34902"/>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6" name="Google Shape;146;p7"/>
          <p:cNvSpPr/>
          <p:nvPr/>
        </p:nvSpPr>
        <p:spPr>
          <a:xfrm>
            <a:off x="914400" y="3867912"/>
            <a:ext cx="45720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B93A7"/>
              </a:buClr>
              <a:buSzPts val="1100"/>
              <a:buFont typeface="Calibri"/>
              <a:buNone/>
            </a:pPr>
            <a:r>
              <a:rPr b="1" i="0" lang="en-US" sz="1100" u="none" cap="none" strike="noStrike">
                <a:solidFill>
                  <a:srgbClr val="8B93A7"/>
                </a:solidFill>
                <a:latin typeface="Calibri"/>
                <a:ea typeface="Calibri"/>
                <a:cs typeface="Calibri"/>
                <a:sym typeface="Calibri"/>
              </a:rPr>
              <a:t>CREATOR DASHBOARD</a:t>
            </a:r>
            <a:endParaRPr b="0" i="0" sz="1100" u="none" cap="none" strike="noStrike">
              <a:solidFill>
                <a:schemeClr val="dk1"/>
              </a:solidFill>
              <a:latin typeface="Calibri"/>
              <a:ea typeface="Calibri"/>
              <a:cs typeface="Calibri"/>
              <a:sym typeface="Calibri"/>
            </a:endParaRPr>
          </a:p>
        </p:txBody>
      </p:sp>
      <p:sp>
        <p:nvSpPr>
          <p:cNvPr id="147" name="Google Shape;147;p7"/>
          <p:cNvSpPr/>
          <p:nvPr/>
        </p:nvSpPr>
        <p:spPr>
          <a:xfrm>
            <a:off x="914400" y="4178808"/>
            <a:ext cx="5029200" cy="36576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C7CCDA"/>
              </a:buClr>
              <a:buSzPts val="1250"/>
              <a:buFont typeface="Calibri"/>
              <a:buNone/>
            </a:pPr>
            <a:r>
              <a:rPr b="0" i="0" lang="en-US" sz="1250" u="none" cap="none" strike="noStrike">
                <a:solidFill>
                  <a:srgbClr val="C7CCDA"/>
                </a:solidFill>
                <a:latin typeface="Calibri"/>
                <a:ea typeface="Calibri"/>
                <a:cs typeface="Calibri"/>
                <a:sym typeface="Calibri"/>
              </a:rPr>
              <a:t>Automatic revenue splits, executed at settlement</a:t>
            </a:r>
            <a:endParaRPr b="0" i="0" sz="1250" u="none" cap="none" strike="noStrike">
              <a:solidFill>
                <a:schemeClr val="dk1"/>
              </a:solidFill>
              <a:latin typeface="Calibri"/>
              <a:ea typeface="Calibri"/>
              <a:cs typeface="Calibri"/>
              <a:sym typeface="Calibri"/>
            </a:endParaRPr>
          </a:p>
        </p:txBody>
      </p:sp>
      <p:sp>
        <p:nvSpPr>
          <p:cNvPr id="148" name="Google Shape;148;p7"/>
          <p:cNvSpPr/>
          <p:nvPr/>
        </p:nvSpPr>
        <p:spPr>
          <a:xfrm>
            <a:off x="914400" y="4663440"/>
            <a:ext cx="36576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B93A7"/>
              </a:buClr>
              <a:buSzPts val="950"/>
              <a:buFont typeface="Calibri"/>
              <a:buNone/>
            </a:pPr>
            <a:r>
              <a:rPr b="0" i="0" lang="en-US" sz="950" u="none" cap="none" strike="noStrike">
                <a:solidFill>
                  <a:srgbClr val="8B93A7"/>
                </a:solidFill>
                <a:latin typeface="Calibri"/>
                <a:ea typeface="Calibri"/>
                <a:cs typeface="Calibri"/>
                <a:sym typeface="Calibri"/>
              </a:rPr>
              <a:t>USDC ACCRUED THIS MONTH</a:t>
            </a:r>
            <a:endParaRPr b="0" i="0" sz="950" u="none" cap="none" strike="noStrike">
              <a:solidFill>
                <a:schemeClr val="dk1"/>
              </a:solidFill>
              <a:latin typeface="Calibri"/>
              <a:ea typeface="Calibri"/>
              <a:cs typeface="Calibri"/>
              <a:sym typeface="Calibri"/>
            </a:endParaRPr>
          </a:p>
        </p:txBody>
      </p:sp>
      <p:sp>
        <p:nvSpPr>
          <p:cNvPr id="149" name="Google Shape;149;p7"/>
          <p:cNvSpPr/>
          <p:nvPr/>
        </p:nvSpPr>
        <p:spPr>
          <a:xfrm>
            <a:off x="914400" y="4937750"/>
            <a:ext cx="5425200" cy="457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34D399"/>
              </a:buClr>
              <a:buSzPts val="2200"/>
              <a:buFont typeface="Calibri"/>
              <a:buNone/>
            </a:pPr>
            <a:r>
              <a:rPr b="1" i="0" lang="en-US" sz="2200" u="none" cap="none" strike="noStrike">
                <a:solidFill>
                  <a:srgbClr val="34D399"/>
                </a:solidFill>
                <a:latin typeface="Calibri"/>
                <a:ea typeface="Calibri"/>
                <a:cs typeface="Calibri"/>
                <a:sym typeface="Calibri"/>
              </a:rPr>
              <a:t>[ pending live figure — Screenshot Gallery ]</a:t>
            </a:r>
            <a:endParaRPr b="0" i="0" sz="2200" u="none" cap="none" strike="noStrike">
              <a:solidFill>
                <a:schemeClr val="dk1"/>
              </a:solidFill>
              <a:latin typeface="Calibri"/>
              <a:ea typeface="Calibri"/>
              <a:cs typeface="Calibri"/>
              <a:sym typeface="Calibri"/>
            </a:endParaRPr>
          </a:p>
        </p:txBody>
      </p:sp>
      <p:sp>
        <p:nvSpPr>
          <p:cNvPr id="150" name="Google Shape;150;p7"/>
          <p:cNvSpPr/>
          <p:nvPr/>
        </p:nvSpPr>
        <p:spPr>
          <a:xfrm>
            <a:off x="8778240" y="4846320"/>
            <a:ext cx="2011680" cy="457200"/>
          </a:xfrm>
          <a:prstGeom prst="roundRect">
            <a:avLst>
              <a:gd fmla="val 30000" name="adj"/>
            </a:avLst>
          </a:prstGeom>
          <a:solidFill>
            <a:srgbClr val="34D39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1" name="Google Shape;151;p7"/>
          <p:cNvSpPr/>
          <p:nvPr/>
        </p:nvSpPr>
        <p:spPr>
          <a:xfrm>
            <a:off x="8778240" y="4846320"/>
            <a:ext cx="2011680" cy="4572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0B0F1C"/>
              </a:buClr>
              <a:buSzPts val="1100"/>
              <a:buFont typeface="Calibri"/>
              <a:buNone/>
            </a:pPr>
            <a:r>
              <a:rPr b="1" i="0" lang="en-US" sz="1100" u="none" cap="none" strike="noStrike">
                <a:solidFill>
                  <a:srgbClr val="0B0F1C"/>
                </a:solidFill>
                <a:latin typeface="Calibri"/>
                <a:ea typeface="Calibri"/>
                <a:cs typeface="Calibri"/>
                <a:sym typeface="Calibri"/>
              </a:rPr>
              <a:t>Withdraw Earnings</a:t>
            </a:r>
            <a:endParaRPr b="0" i="0" sz="1100" u="none" cap="none" strike="noStrike">
              <a:solidFill>
                <a:schemeClr val="dk1"/>
              </a:solidFill>
              <a:latin typeface="Calibri"/>
              <a:ea typeface="Calibri"/>
              <a:cs typeface="Calibri"/>
              <a:sym typeface="Calibri"/>
            </a:endParaRPr>
          </a:p>
        </p:txBody>
      </p:sp>
      <p:sp>
        <p:nvSpPr>
          <p:cNvPr id="152" name="Google Shape;152;p7"/>
          <p:cNvSpPr/>
          <p:nvPr/>
        </p:nvSpPr>
        <p:spPr>
          <a:xfrm>
            <a:off x="457200" y="6473952"/>
            <a:ext cx="18288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B93A7"/>
              </a:buClr>
              <a:buSzPts val="1000"/>
              <a:buFont typeface="Calibri"/>
              <a:buNone/>
            </a:pPr>
            <a:r>
              <a:rPr b="1" i="0" lang="en-US" sz="1000" u="none" cap="none" strike="noStrike">
                <a:solidFill>
                  <a:srgbClr val="8B93A7"/>
                </a:solidFill>
                <a:latin typeface="Calibri"/>
                <a:ea typeface="Calibri"/>
                <a:cs typeface="Calibri"/>
                <a:sym typeface="Calibri"/>
              </a:rPr>
              <a:t>QMA</a:t>
            </a:r>
            <a:endParaRPr b="0" i="0" sz="1000" u="none" cap="none" strike="noStrike">
              <a:solidFill>
                <a:schemeClr val="dk1"/>
              </a:solidFill>
              <a:latin typeface="Calibri"/>
              <a:ea typeface="Calibri"/>
              <a:cs typeface="Calibri"/>
              <a:sym typeface="Calibri"/>
            </a:endParaRPr>
          </a:p>
        </p:txBody>
      </p:sp>
      <p:sp>
        <p:nvSpPr>
          <p:cNvPr id="153" name="Google Shape;153;p7"/>
          <p:cNvSpPr/>
          <p:nvPr/>
        </p:nvSpPr>
        <p:spPr>
          <a:xfrm>
            <a:off x="1828800" y="6473952"/>
            <a:ext cx="45720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B93A7"/>
              </a:buClr>
              <a:buSzPts val="900"/>
              <a:buFont typeface="Calibri"/>
              <a:buNone/>
            </a:pPr>
            <a:r>
              <a:rPr b="0" i="0" lang="en-US" sz="900" u="none" cap="none" strike="noStrike">
                <a:solidFill>
                  <a:srgbClr val="8B93A7"/>
                </a:solidFill>
                <a:latin typeface="Calibri"/>
                <a:ea typeface="Calibri"/>
                <a:cs typeface="Calibri"/>
                <a:sym typeface="Calibri"/>
              </a:rPr>
              <a:t>Creator Economy</a:t>
            </a:r>
            <a:endParaRPr b="0" i="0" sz="900" u="none" cap="none" strike="noStrike">
              <a:solidFill>
                <a:schemeClr val="dk1"/>
              </a:solidFill>
              <a:latin typeface="Calibri"/>
              <a:ea typeface="Calibri"/>
              <a:cs typeface="Calibri"/>
              <a:sym typeface="Calibri"/>
            </a:endParaRPr>
          </a:p>
        </p:txBody>
      </p:sp>
      <p:sp>
        <p:nvSpPr>
          <p:cNvPr id="154" name="Google Shape;154;p7"/>
          <p:cNvSpPr/>
          <p:nvPr/>
        </p:nvSpPr>
        <p:spPr>
          <a:xfrm>
            <a:off x="10817352" y="6473952"/>
            <a:ext cx="914400" cy="27432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8B93A7"/>
              </a:buClr>
              <a:buSzPts val="1000"/>
              <a:buFont typeface="Calibri"/>
              <a:buNone/>
            </a:pPr>
            <a:r>
              <a:rPr b="0" i="0" lang="en-US" sz="1000" u="none" cap="none" strike="noStrike">
                <a:solidFill>
                  <a:srgbClr val="8B93A7"/>
                </a:solidFill>
                <a:latin typeface="Calibri"/>
                <a:ea typeface="Calibri"/>
                <a:cs typeface="Calibri"/>
                <a:sym typeface="Calibri"/>
              </a:rPr>
              <a:t>05 / 16</a:t>
            </a:r>
            <a:endParaRPr b="0" i="0" sz="1000" u="none" cap="none" strike="noStrike">
              <a:solidFill>
                <a:schemeClr val="dk1"/>
              </a:solidFill>
              <a:latin typeface="Calibri"/>
              <a:ea typeface="Calibri"/>
              <a:cs typeface="Calibri"/>
              <a:sym typeface="Calibri"/>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B0F1C"/>
        </a:solidFill>
      </p:bgPr>
    </p:bg>
    <p:spTree>
      <p:nvGrpSpPr>
        <p:cNvPr id="159" name="Shape 159"/>
        <p:cNvGrpSpPr/>
        <p:nvPr/>
      </p:nvGrpSpPr>
      <p:grpSpPr>
        <a:xfrm>
          <a:off x="0" y="0"/>
          <a:ext cx="0" cy="0"/>
          <a:chOff x="0" y="0"/>
          <a:chExt cx="0" cy="0"/>
        </a:xfrm>
      </p:grpSpPr>
      <p:sp>
        <p:nvSpPr>
          <p:cNvPr id="160" name="Google Shape;160;p8"/>
          <p:cNvSpPr/>
          <p:nvPr/>
        </p:nvSpPr>
        <p:spPr>
          <a:xfrm>
            <a:off x="640080" y="502920"/>
            <a:ext cx="7315200" cy="32004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B7CF6"/>
              </a:buClr>
              <a:buSzPts val="1200"/>
              <a:buFont typeface="Calibri"/>
              <a:buNone/>
            </a:pPr>
            <a:r>
              <a:rPr b="1" i="0" lang="en-US" sz="1200" u="none" cap="none" strike="noStrike">
                <a:solidFill>
                  <a:srgbClr val="8B7CF6"/>
                </a:solidFill>
                <a:latin typeface="Calibri"/>
                <a:ea typeface="Calibri"/>
                <a:cs typeface="Calibri"/>
                <a:sym typeface="Calibri"/>
              </a:rPr>
              <a:t>AGENT INFRASTRUCTURE</a:t>
            </a:r>
            <a:endParaRPr b="0" i="0" sz="1200" u="none" cap="none" strike="noStrike">
              <a:solidFill>
                <a:schemeClr val="dk1"/>
              </a:solidFill>
              <a:latin typeface="Calibri"/>
              <a:ea typeface="Calibri"/>
              <a:cs typeface="Calibri"/>
              <a:sym typeface="Calibri"/>
            </a:endParaRPr>
          </a:p>
        </p:txBody>
      </p:sp>
      <p:sp>
        <p:nvSpPr>
          <p:cNvPr id="161" name="Google Shape;161;p8"/>
          <p:cNvSpPr/>
          <p:nvPr/>
        </p:nvSpPr>
        <p:spPr>
          <a:xfrm>
            <a:off x="640080" y="804672"/>
            <a:ext cx="10789920" cy="7315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3400"/>
              <a:buFont typeface="Calibri"/>
              <a:buNone/>
            </a:pPr>
            <a:r>
              <a:rPr b="1" i="0" lang="en-US" sz="3400" u="none" cap="none" strike="noStrike">
                <a:solidFill>
                  <a:srgbClr val="FFFFFF"/>
                </a:solidFill>
                <a:latin typeface="Calibri"/>
                <a:ea typeface="Calibri"/>
                <a:cs typeface="Calibri"/>
                <a:sym typeface="Calibri"/>
              </a:rPr>
              <a:t>Agents That Can't Overspend</a:t>
            </a:r>
            <a:endParaRPr b="0" i="0" sz="3400" u="none" cap="none" strike="noStrike">
              <a:solidFill>
                <a:schemeClr val="dk1"/>
              </a:solidFill>
              <a:latin typeface="Calibri"/>
              <a:ea typeface="Calibri"/>
              <a:cs typeface="Calibri"/>
              <a:sym typeface="Calibri"/>
            </a:endParaRPr>
          </a:p>
        </p:txBody>
      </p:sp>
      <p:sp>
        <p:nvSpPr>
          <p:cNvPr id="162" name="Google Shape;162;p8"/>
          <p:cNvSpPr/>
          <p:nvPr/>
        </p:nvSpPr>
        <p:spPr>
          <a:xfrm>
            <a:off x="640080" y="1417320"/>
            <a:ext cx="9875520" cy="457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C7CCDA"/>
              </a:buClr>
              <a:buSzPts val="1500"/>
              <a:buFont typeface="Calibri"/>
              <a:buNone/>
            </a:pPr>
            <a:r>
              <a:rPr b="0" i="1" lang="en-US" sz="1500" u="none" cap="none" strike="noStrike">
                <a:solidFill>
                  <a:srgbClr val="C7CCDA"/>
                </a:solidFill>
                <a:latin typeface="Calibri"/>
                <a:ea typeface="Calibri"/>
                <a:cs typeface="Calibri"/>
                <a:sym typeface="Calibri"/>
              </a:rPr>
              <a:t>Safety is enforced by policy, not trust — this is what makes autonomous purchasing possible.</a:t>
            </a:r>
            <a:endParaRPr b="0" i="0" sz="1500" u="none" cap="none" strike="noStrike">
              <a:solidFill>
                <a:schemeClr val="dk1"/>
              </a:solidFill>
              <a:latin typeface="Calibri"/>
              <a:ea typeface="Calibri"/>
              <a:cs typeface="Calibri"/>
              <a:sym typeface="Calibri"/>
            </a:endParaRPr>
          </a:p>
        </p:txBody>
      </p:sp>
      <p:sp>
        <p:nvSpPr>
          <p:cNvPr id="163" name="Google Shape;163;p8"/>
          <p:cNvSpPr/>
          <p:nvPr/>
        </p:nvSpPr>
        <p:spPr>
          <a:xfrm>
            <a:off x="640080" y="2331720"/>
            <a:ext cx="3444240" cy="1417320"/>
          </a:xfrm>
          <a:prstGeom prst="roundRect">
            <a:avLst>
              <a:gd fmla="val 5806" name="adj"/>
            </a:avLst>
          </a:prstGeom>
          <a:solidFill>
            <a:srgbClr val="141B2E"/>
          </a:solidFill>
          <a:ln cap="flat" cmpd="sng" w="12700">
            <a:solidFill>
              <a:srgbClr val="232C42"/>
            </a:solidFill>
            <a:prstDash val="solid"/>
            <a:round/>
            <a:headEnd len="sm" w="sm" type="none"/>
            <a:tailEnd len="sm" w="sm" type="none"/>
          </a:ln>
          <a:effectLst>
            <a:outerShdw blurRad="101600" rotWithShape="0" algn="bl" dir="5400000" dist="38100">
              <a:srgbClr val="000000">
                <a:alpha val="34902"/>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4" name="Google Shape;164;p8"/>
          <p:cNvSpPr/>
          <p:nvPr/>
        </p:nvSpPr>
        <p:spPr>
          <a:xfrm>
            <a:off x="891540" y="2788920"/>
            <a:ext cx="502920" cy="502920"/>
          </a:xfrm>
          <a:prstGeom prst="ellipse">
            <a:avLst/>
          </a:prstGeom>
          <a:solidFill>
            <a:srgbClr val="0F1526"/>
          </a:solidFill>
          <a:ln cap="flat" cmpd="sng" w="22225">
            <a:solidFill>
              <a:srgbClr val="8B7CF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5" name="Google Shape;165;p8"/>
          <p:cNvSpPr/>
          <p:nvPr/>
        </p:nvSpPr>
        <p:spPr>
          <a:xfrm>
            <a:off x="891540" y="2788920"/>
            <a:ext cx="502920" cy="50292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8B7CF6"/>
              </a:buClr>
              <a:buSzPts val="1870"/>
              <a:buFont typeface="Calibri"/>
              <a:buNone/>
            </a:pPr>
            <a:r>
              <a:rPr b="1" i="0" lang="en-US" sz="1870" u="none" cap="none" strike="noStrike">
                <a:solidFill>
                  <a:srgbClr val="8B7CF6"/>
                </a:solidFill>
                <a:latin typeface="Calibri"/>
                <a:ea typeface="Calibri"/>
                <a:cs typeface="Calibri"/>
                <a:sym typeface="Calibri"/>
              </a:rPr>
              <a:t>$</a:t>
            </a:r>
            <a:endParaRPr b="0" i="0" sz="1870" u="none" cap="none" strike="noStrike">
              <a:solidFill>
                <a:schemeClr val="dk1"/>
              </a:solidFill>
              <a:latin typeface="Calibri"/>
              <a:ea typeface="Calibri"/>
              <a:cs typeface="Calibri"/>
              <a:sym typeface="Calibri"/>
            </a:endParaRPr>
          </a:p>
        </p:txBody>
      </p:sp>
      <p:sp>
        <p:nvSpPr>
          <p:cNvPr id="166" name="Google Shape;166;p8"/>
          <p:cNvSpPr/>
          <p:nvPr/>
        </p:nvSpPr>
        <p:spPr>
          <a:xfrm>
            <a:off x="1554480" y="2514600"/>
            <a:ext cx="2346960" cy="32004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1300"/>
              <a:buFont typeface="Calibri"/>
              <a:buNone/>
            </a:pPr>
            <a:r>
              <a:rPr b="1" i="0" lang="en-US" sz="1300" u="none" cap="none" strike="noStrike">
                <a:solidFill>
                  <a:srgbClr val="FFFFFF"/>
                </a:solidFill>
                <a:latin typeface="Calibri"/>
                <a:ea typeface="Calibri"/>
                <a:cs typeface="Calibri"/>
                <a:sym typeface="Calibri"/>
              </a:rPr>
              <a:t>Session Budgets</a:t>
            </a:r>
            <a:endParaRPr b="0" i="0" sz="1300" u="none" cap="none" strike="noStrike">
              <a:solidFill>
                <a:schemeClr val="dk1"/>
              </a:solidFill>
              <a:latin typeface="Calibri"/>
              <a:ea typeface="Calibri"/>
              <a:cs typeface="Calibri"/>
              <a:sym typeface="Calibri"/>
            </a:endParaRPr>
          </a:p>
        </p:txBody>
      </p:sp>
      <p:sp>
        <p:nvSpPr>
          <p:cNvPr id="167" name="Google Shape;167;p8"/>
          <p:cNvSpPr/>
          <p:nvPr/>
        </p:nvSpPr>
        <p:spPr>
          <a:xfrm>
            <a:off x="1554480" y="2834640"/>
            <a:ext cx="2346960" cy="777240"/>
          </a:xfrm>
          <a:prstGeom prst="rect">
            <a:avLst/>
          </a:prstGeom>
          <a:noFill/>
          <a:ln>
            <a:noFill/>
          </a:ln>
        </p:spPr>
        <p:txBody>
          <a:bodyPr anchorCtr="0" anchor="ctr" bIns="45700" lIns="91425" spcFirstLastPara="1" rIns="91425" wrap="square" tIns="45700">
            <a:noAutofit/>
          </a:bodyPr>
          <a:lstStyle/>
          <a:p>
            <a:pPr indent="0" lvl="0" marL="0" marR="0" rtl="0" algn="l">
              <a:lnSpc>
                <a:spcPct val="123809"/>
              </a:lnSpc>
              <a:spcBef>
                <a:spcPts val="0"/>
              </a:spcBef>
              <a:spcAft>
                <a:spcPts val="0"/>
              </a:spcAft>
              <a:buClr>
                <a:srgbClr val="C7CCDA"/>
              </a:buClr>
              <a:buSzPts val="1050"/>
              <a:buFont typeface="Calibri"/>
              <a:buNone/>
            </a:pPr>
            <a:r>
              <a:rPr b="0" i="0" lang="en-US" sz="1050" u="none" cap="none" strike="noStrike">
                <a:solidFill>
                  <a:srgbClr val="C7CCDA"/>
                </a:solidFill>
                <a:latin typeface="Calibri"/>
                <a:ea typeface="Calibri"/>
                <a:cs typeface="Calibri"/>
                <a:sym typeface="Calibri"/>
              </a:rPr>
              <a:t>An agent can only spend what it's been allocated for that session.</a:t>
            </a:r>
            <a:endParaRPr b="0" i="0" sz="1050" u="none" cap="none" strike="noStrike">
              <a:solidFill>
                <a:schemeClr val="dk1"/>
              </a:solidFill>
              <a:latin typeface="Calibri"/>
              <a:ea typeface="Calibri"/>
              <a:cs typeface="Calibri"/>
              <a:sym typeface="Calibri"/>
            </a:endParaRPr>
          </a:p>
        </p:txBody>
      </p:sp>
      <p:sp>
        <p:nvSpPr>
          <p:cNvPr id="168" name="Google Shape;168;p8"/>
          <p:cNvSpPr/>
          <p:nvPr/>
        </p:nvSpPr>
        <p:spPr>
          <a:xfrm>
            <a:off x="4358640" y="2331720"/>
            <a:ext cx="3444240" cy="1417320"/>
          </a:xfrm>
          <a:prstGeom prst="roundRect">
            <a:avLst>
              <a:gd fmla="val 5806" name="adj"/>
            </a:avLst>
          </a:prstGeom>
          <a:solidFill>
            <a:srgbClr val="141B2E"/>
          </a:solidFill>
          <a:ln cap="flat" cmpd="sng" w="12700">
            <a:solidFill>
              <a:srgbClr val="232C42"/>
            </a:solidFill>
            <a:prstDash val="solid"/>
            <a:round/>
            <a:headEnd len="sm" w="sm" type="none"/>
            <a:tailEnd len="sm" w="sm" type="none"/>
          </a:ln>
          <a:effectLst>
            <a:outerShdw blurRad="101600" rotWithShape="0" algn="bl" dir="5400000" dist="38100">
              <a:srgbClr val="000000">
                <a:alpha val="34902"/>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9" name="Google Shape;169;p8"/>
          <p:cNvSpPr/>
          <p:nvPr/>
        </p:nvSpPr>
        <p:spPr>
          <a:xfrm>
            <a:off x="4610100" y="2788920"/>
            <a:ext cx="502920" cy="502920"/>
          </a:xfrm>
          <a:prstGeom prst="ellipse">
            <a:avLst/>
          </a:prstGeom>
          <a:solidFill>
            <a:srgbClr val="0F1526"/>
          </a:solidFill>
          <a:ln cap="flat" cmpd="sng" w="22225">
            <a:solidFill>
              <a:srgbClr val="8B7CF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0" name="Google Shape;170;p8"/>
          <p:cNvSpPr/>
          <p:nvPr/>
        </p:nvSpPr>
        <p:spPr>
          <a:xfrm>
            <a:off x="4610100" y="2788920"/>
            <a:ext cx="502920" cy="50292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8B7CF6"/>
              </a:buClr>
              <a:buSzPts val="1870"/>
              <a:buFont typeface="Calibri"/>
              <a:buNone/>
            </a:pPr>
            <a:r>
              <a:rPr b="1" i="0" lang="en-US" sz="1870" u="none" cap="none" strike="noStrike">
                <a:solidFill>
                  <a:srgbClr val="8B7CF6"/>
                </a:solidFill>
                <a:latin typeface="Calibri"/>
                <a:ea typeface="Calibri"/>
                <a:cs typeface="Calibri"/>
                <a:sym typeface="Calibri"/>
              </a:rPr>
              <a:t>!</a:t>
            </a:r>
            <a:endParaRPr b="0" i="0" sz="1870" u="none" cap="none" strike="noStrike">
              <a:solidFill>
                <a:schemeClr val="dk1"/>
              </a:solidFill>
              <a:latin typeface="Calibri"/>
              <a:ea typeface="Calibri"/>
              <a:cs typeface="Calibri"/>
              <a:sym typeface="Calibri"/>
            </a:endParaRPr>
          </a:p>
        </p:txBody>
      </p:sp>
      <p:sp>
        <p:nvSpPr>
          <p:cNvPr id="171" name="Google Shape;171;p8"/>
          <p:cNvSpPr/>
          <p:nvPr/>
        </p:nvSpPr>
        <p:spPr>
          <a:xfrm>
            <a:off x="5273040" y="2514600"/>
            <a:ext cx="2346960" cy="32004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1300"/>
              <a:buFont typeface="Calibri"/>
              <a:buNone/>
            </a:pPr>
            <a:r>
              <a:rPr b="1" i="0" lang="en-US" sz="1300" u="none" cap="none" strike="noStrike">
                <a:solidFill>
                  <a:srgbClr val="FFFFFF"/>
                </a:solidFill>
                <a:latin typeface="Calibri"/>
                <a:ea typeface="Calibri"/>
                <a:cs typeface="Calibri"/>
                <a:sym typeface="Calibri"/>
              </a:rPr>
              <a:t>Max Report Price</a:t>
            </a:r>
            <a:endParaRPr b="0" i="0" sz="1300" u="none" cap="none" strike="noStrike">
              <a:solidFill>
                <a:schemeClr val="dk1"/>
              </a:solidFill>
              <a:latin typeface="Calibri"/>
              <a:ea typeface="Calibri"/>
              <a:cs typeface="Calibri"/>
              <a:sym typeface="Calibri"/>
            </a:endParaRPr>
          </a:p>
        </p:txBody>
      </p:sp>
      <p:sp>
        <p:nvSpPr>
          <p:cNvPr id="172" name="Google Shape;172;p8"/>
          <p:cNvSpPr/>
          <p:nvPr/>
        </p:nvSpPr>
        <p:spPr>
          <a:xfrm>
            <a:off x="5273040" y="2834640"/>
            <a:ext cx="2346960" cy="777240"/>
          </a:xfrm>
          <a:prstGeom prst="rect">
            <a:avLst/>
          </a:prstGeom>
          <a:noFill/>
          <a:ln>
            <a:noFill/>
          </a:ln>
        </p:spPr>
        <p:txBody>
          <a:bodyPr anchorCtr="0" anchor="ctr" bIns="45700" lIns="91425" spcFirstLastPara="1" rIns="91425" wrap="square" tIns="45700">
            <a:noAutofit/>
          </a:bodyPr>
          <a:lstStyle/>
          <a:p>
            <a:pPr indent="0" lvl="0" marL="0" marR="0" rtl="0" algn="l">
              <a:lnSpc>
                <a:spcPct val="123809"/>
              </a:lnSpc>
              <a:spcBef>
                <a:spcPts val="0"/>
              </a:spcBef>
              <a:spcAft>
                <a:spcPts val="0"/>
              </a:spcAft>
              <a:buClr>
                <a:srgbClr val="C7CCDA"/>
              </a:buClr>
              <a:buSzPts val="1050"/>
              <a:buFont typeface="Calibri"/>
              <a:buNone/>
            </a:pPr>
            <a:r>
              <a:rPr b="0" i="0" lang="en-US" sz="1050" u="none" cap="none" strike="noStrike">
                <a:solidFill>
                  <a:srgbClr val="C7CCDA"/>
                </a:solidFill>
                <a:latin typeface="Calibri"/>
                <a:ea typeface="Calibri"/>
                <a:cs typeface="Calibri"/>
                <a:sym typeface="Calibri"/>
              </a:rPr>
              <a:t>A hard ceiling on the price of any single purchase.</a:t>
            </a:r>
            <a:endParaRPr b="0" i="0" sz="1050" u="none" cap="none" strike="noStrike">
              <a:solidFill>
                <a:schemeClr val="dk1"/>
              </a:solidFill>
              <a:latin typeface="Calibri"/>
              <a:ea typeface="Calibri"/>
              <a:cs typeface="Calibri"/>
              <a:sym typeface="Calibri"/>
            </a:endParaRPr>
          </a:p>
        </p:txBody>
      </p:sp>
      <p:sp>
        <p:nvSpPr>
          <p:cNvPr id="173" name="Google Shape;173;p8"/>
          <p:cNvSpPr/>
          <p:nvPr/>
        </p:nvSpPr>
        <p:spPr>
          <a:xfrm>
            <a:off x="8077200" y="2331720"/>
            <a:ext cx="3444240" cy="1417320"/>
          </a:xfrm>
          <a:prstGeom prst="roundRect">
            <a:avLst>
              <a:gd fmla="val 5806" name="adj"/>
            </a:avLst>
          </a:prstGeom>
          <a:solidFill>
            <a:srgbClr val="141B2E"/>
          </a:solidFill>
          <a:ln cap="flat" cmpd="sng" w="12700">
            <a:solidFill>
              <a:srgbClr val="232C42"/>
            </a:solidFill>
            <a:prstDash val="solid"/>
            <a:round/>
            <a:headEnd len="sm" w="sm" type="none"/>
            <a:tailEnd len="sm" w="sm" type="none"/>
          </a:ln>
          <a:effectLst>
            <a:outerShdw blurRad="101600" rotWithShape="0" algn="bl" dir="5400000" dist="38100">
              <a:srgbClr val="000000">
                <a:alpha val="34902"/>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4" name="Google Shape;174;p8"/>
          <p:cNvSpPr/>
          <p:nvPr/>
        </p:nvSpPr>
        <p:spPr>
          <a:xfrm>
            <a:off x="8328660" y="2788920"/>
            <a:ext cx="502920" cy="502920"/>
          </a:xfrm>
          <a:prstGeom prst="ellipse">
            <a:avLst/>
          </a:prstGeom>
          <a:solidFill>
            <a:srgbClr val="0F1526"/>
          </a:solidFill>
          <a:ln cap="flat" cmpd="sng" w="22225">
            <a:solidFill>
              <a:srgbClr val="8B7CF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5" name="Google Shape;175;p8"/>
          <p:cNvSpPr/>
          <p:nvPr/>
        </p:nvSpPr>
        <p:spPr>
          <a:xfrm>
            <a:off x="8328660" y="2788920"/>
            <a:ext cx="502920" cy="50292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8B7CF6"/>
              </a:buClr>
              <a:buSzPts val="1870"/>
              <a:buFont typeface="Calibri"/>
              <a:buNone/>
            </a:pPr>
            <a:r>
              <a:rPr b="1" i="0" lang="en-US" sz="1870" u="none" cap="none" strike="noStrike">
                <a:solidFill>
                  <a:srgbClr val="8B7CF6"/>
                </a:solidFill>
                <a:latin typeface="Calibri"/>
                <a:ea typeface="Calibri"/>
                <a:cs typeface="Calibri"/>
                <a:sym typeface="Calibri"/>
              </a:rPr>
              <a:t>L</a:t>
            </a:r>
            <a:endParaRPr b="0" i="0" sz="1870" u="none" cap="none" strike="noStrike">
              <a:solidFill>
                <a:schemeClr val="dk1"/>
              </a:solidFill>
              <a:latin typeface="Calibri"/>
              <a:ea typeface="Calibri"/>
              <a:cs typeface="Calibri"/>
              <a:sym typeface="Calibri"/>
            </a:endParaRPr>
          </a:p>
        </p:txBody>
      </p:sp>
      <p:sp>
        <p:nvSpPr>
          <p:cNvPr id="176" name="Google Shape;176;p8"/>
          <p:cNvSpPr/>
          <p:nvPr/>
        </p:nvSpPr>
        <p:spPr>
          <a:xfrm>
            <a:off x="8991600" y="2514600"/>
            <a:ext cx="2346960" cy="32004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1300"/>
              <a:buFont typeface="Calibri"/>
              <a:buNone/>
            </a:pPr>
            <a:r>
              <a:rPr b="1" i="0" lang="en-US" sz="1300" u="none" cap="none" strike="noStrike">
                <a:solidFill>
                  <a:srgbClr val="FFFFFF"/>
                </a:solidFill>
                <a:latin typeface="Calibri"/>
                <a:ea typeface="Calibri"/>
                <a:cs typeface="Calibri"/>
                <a:sym typeface="Calibri"/>
              </a:rPr>
              <a:t>Provider Allowlists</a:t>
            </a:r>
            <a:endParaRPr b="0" i="0" sz="1300" u="none" cap="none" strike="noStrike">
              <a:solidFill>
                <a:schemeClr val="dk1"/>
              </a:solidFill>
              <a:latin typeface="Calibri"/>
              <a:ea typeface="Calibri"/>
              <a:cs typeface="Calibri"/>
              <a:sym typeface="Calibri"/>
            </a:endParaRPr>
          </a:p>
        </p:txBody>
      </p:sp>
      <p:sp>
        <p:nvSpPr>
          <p:cNvPr id="177" name="Google Shape;177;p8"/>
          <p:cNvSpPr/>
          <p:nvPr/>
        </p:nvSpPr>
        <p:spPr>
          <a:xfrm>
            <a:off x="8991600" y="2834640"/>
            <a:ext cx="2346960" cy="777240"/>
          </a:xfrm>
          <a:prstGeom prst="rect">
            <a:avLst/>
          </a:prstGeom>
          <a:noFill/>
          <a:ln>
            <a:noFill/>
          </a:ln>
        </p:spPr>
        <p:txBody>
          <a:bodyPr anchorCtr="0" anchor="ctr" bIns="45700" lIns="91425" spcFirstLastPara="1" rIns="91425" wrap="square" tIns="45700">
            <a:noAutofit/>
          </a:bodyPr>
          <a:lstStyle/>
          <a:p>
            <a:pPr indent="0" lvl="0" marL="0" marR="0" rtl="0" algn="l">
              <a:lnSpc>
                <a:spcPct val="123809"/>
              </a:lnSpc>
              <a:spcBef>
                <a:spcPts val="0"/>
              </a:spcBef>
              <a:spcAft>
                <a:spcPts val="0"/>
              </a:spcAft>
              <a:buClr>
                <a:srgbClr val="C7CCDA"/>
              </a:buClr>
              <a:buSzPts val="1050"/>
              <a:buFont typeface="Calibri"/>
              <a:buNone/>
            </a:pPr>
            <a:r>
              <a:rPr b="0" i="0" lang="en-US" sz="1050" u="none" cap="none" strike="noStrike">
                <a:solidFill>
                  <a:srgbClr val="C7CCDA"/>
                </a:solidFill>
                <a:latin typeface="Calibri"/>
                <a:ea typeface="Calibri"/>
                <a:cs typeface="Calibri"/>
                <a:sym typeface="Calibri"/>
              </a:rPr>
              <a:t>Agents only buy from vetted, approved creators.</a:t>
            </a:r>
            <a:endParaRPr b="0" i="0" sz="1050" u="none" cap="none" strike="noStrike">
              <a:solidFill>
                <a:schemeClr val="dk1"/>
              </a:solidFill>
              <a:latin typeface="Calibri"/>
              <a:ea typeface="Calibri"/>
              <a:cs typeface="Calibri"/>
              <a:sym typeface="Calibri"/>
            </a:endParaRPr>
          </a:p>
        </p:txBody>
      </p:sp>
      <p:sp>
        <p:nvSpPr>
          <p:cNvPr id="178" name="Google Shape;178;p8"/>
          <p:cNvSpPr/>
          <p:nvPr/>
        </p:nvSpPr>
        <p:spPr>
          <a:xfrm>
            <a:off x="640080" y="4023360"/>
            <a:ext cx="3444240" cy="1417320"/>
          </a:xfrm>
          <a:prstGeom prst="roundRect">
            <a:avLst>
              <a:gd fmla="val 5806" name="adj"/>
            </a:avLst>
          </a:prstGeom>
          <a:solidFill>
            <a:srgbClr val="141B2E"/>
          </a:solidFill>
          <a:ln cap="flat" cmpd="sng" w="12700">
            <a:solidFill>
              <a:srgbClr val="232C42"/>
            </a:solidFill>
            <a:prstDash val="solid"/>
            <a:round/>
            <a:headEnd len="sm" w="sm" type="none"/>
            <a:tailEnd len="sm" w="sm" type="none"/>
          </a:ln>
          <a:effectLst>
            <a:outerShdw blurRad="101600" rotWithShape="0" algn="bl" dir="5400000" dist="38100">
              <a:srgbClr val="000000">
                <a:alpha val="34902"/>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9" name="Google Shape;179;p8"/>
          <p:cNvSpPr/>
          <p:nvPr/>
        </p:nvSpPr>
        <p:spPr>
          <a:xfrm>
            <a:off x="891540" y="4480560"/>
            <a:ext cx="502920" cy="502920"/>
          </a:xfrm>
          <a:prstGeom prst="ellipse">
            <a:avLst/>
          </a:prstGeom>
          <a:solidFill>
            <a:srgbClr val="0F1526"/>
          </a:solidFill>
          <a:ln cap="flat" cmpd="sng" w="22225">
            <a:solidFill>
              <a:srgbClr val="8B7CF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0" name="Google Shape;180;p8"/>
          <p:cNvSpPr/>
          <p:nvPr/>
        </p:nvSpPr>
        <p:spPr>
          <a:xfrm>
            <a:off x="891540" y="4480560"/>
            <a:ext cx="502920" cy="50292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8B7CF6"/>
              </a:buClr>
              <a:buSzPts val="1870"/>
              <a:buFont typeface="Calibri"/>
              <a:buNone/>
            </a:pPr>
            <a:r>
              <a:rPr b="1" i="0" lang="en-US" sz="1870" u="none" cap="none" strike="noStrike">
                <a:solidFill>
                  <a:srgbClr val="8B7CF6"/>
                </a:solidFill>
                <a:latin typeface="Calibri"/>
                <a:ea typeface="Calibri"/>
                <a:cs typeface="Calibri"/>
                <a:sym typeface="Calibri"/>
              </a:rPr>
              <a:t>x2</a:t>
            </a:r>
            <a:endParaRPr b="0" i="0" sz="1870" u="none" cap="none" strike="noStrike">
              <a:solidFill>
                <a:schemeClr val="dk1"/>
              </a:solidFill>
              <a:latin typeface="Calibri"/>
              <a:ea typeface="Calibri"/>
              <a:cs typeface="Calibri"/>
              <a:sym typeface="Calibri"/>
            </a:endParaRPr>
          </a:p>
        </p:txBody>
      </p:sp>
      <p:sp>
        <p:nvSpPr>
          <p:cNvPr id="181" name="Google Shape;181;p8"/>
          <p:cNvSpPr/>
          <p:nvPr/>
        </p:nvSpPr>
        <p:spPr>
          <a:xfrm>
            <a:off x="1554480" y="4206240"/>
            <a:ext cx="2346960" cy="32004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1300"/>
              <a:buFont typeface="Calibri"/>
              <a:buNone/>
            </a:pPr>
            <a:r>
              <a:rPr b="1" i="0" lang="en-US" sz="1300" u="none" cap="none" strike="noStrike">
                <a:solidFill>
                  <a:srgbClr val="FFFFFF"/>
                </a:solidFill>
                <a:latin typeface="Calibri"/>
                <a:ea typeface="Calibri"/>
                <a:cs typeface="Calibri"/>
                <a:sym typeface="Calibri"/>
              </a:rPr>
              <a:t>Duplicate Prevention</a:t>
            </a:r>
            <a:endParaRPr b="0" i="0" sz="1300" u="none" cap="none" strike="noStrike">
              <a:solidFill>
                <a:schemeClr val="dk1"/>
              </a:solidFill>
              <a:latin typeface="Calibri"/>
              <a:ea typeface="Calibri"/>
              <a:cs typeface="Calibri"/>
              <a:sym typeface="Calibri"/>
            </a:endParaRPr>
          </a:p>
        </p:txBody>
      </p:sp>
      <p:sp>
        <p:nvSpPr>
          <p:cNvPr id="182" name="Google Shape;182;p8"/>
          <p:cNvSpPr/>
          <p:nvPr/>
        </p:nvSpPr>
        <p:spPr>
          <a:xfrm>
            <a:off x="1554480" y="4526280"/>
            <a:ext cx="2346960" cy="777240"/>
          </a:xfrm>
          <a:prstGeom prst="rect">
            <a:avLst/>
          </a:prstGeom>
          <a:noFill/>
          <a:ln>
            <a:noFill/>
          </a:ln>
        </p:spPr>
        <p:txBody>
          <a:bodyPr anchorCtr="0" anchor="ctr" bIns="45700" lIns="91425" spcFirstLastPara="1" rIns="91425" wrap="square" tIns="45700">
            <a:noAutofit/>
          </a:bodyPr>
          <a:lstStyle/>
          <a:p>
            <a:pPr indent="0" lvl="0" marL="0" marR="0" rtl="0" algn="l">
              <a:lnSpc>
                <a:spcPct val="123809"/>
              </a:lnSpc>
              <a:spcBef>
                <a:spcPts val="0"/>
              </a:spcBef>
              <a:spcAft>
                <a:spcPts val="0"/>
              </a:spcAft>
              <a:buClr>
                <a:srgbClr val="C7CCDA"/>
              </a:buClr>
              <a:buSzPts val="1050"/>
              <a:buFont typeface="Calibri"/>
              <a:buNone/>
            </a:pPr>
            <a:r>
              <a:rPr b="0" i="0" lang="en-US" sz="1050" u="none" cap="none" strike="noStrike">
                <a:solidFill>
                  <a:srgbClr val="C7CCDA"/>
                </a:solidFill>
                <a:latin typeface="Calibri"/>
                <a:ea typeface="Calibri"/>
                <a:cs typeface="Calibri"/>
                <a:sym typeface="Calibri"/>
              </a:rPr>
              <a:t>An agent can't be charged twice for the same report.</a:t>
            </a:r>
            <a:endParaRPr b="0" i="0" sz="1050" u="none" cap="none" strike="noStrike">
              <a:solidFill>
                <a:schemeClr val="dk1"/>
              </a:solidFill>
              <a:latin typeface="Calibri"/>
              <a:ea typeface="Calibri"/>
              <a:cs typeface="Calibri"/>
              <a:sym typeface="Calibri"/>
            </a:endParaRPr>
          </a:p>
        </p:txBody>
      </p:sp>
      <p:sp>
        <p:nvSpPr>
          <p:cNvPr id="183" name="Google Shape;183;p8"/>
          <p:cNvSpPr/>
          <p:nvPr/>
        </p:nvSpPr>
        <p:spPr>
          <a:xfrm>
            <a:off x="4358640" y="4023360"/>
            <a:ext cx="3444240" cy="1417320"/>
          </a:xfrm>
          <a:prstGeom prst="roundRect">
            <a:avLst>
              <a:gd fmla="val 5806" name="adj"/>
            </a:avLst>
          </a:prstGeom>
          <a:solidFill>
            <a:srgbClr val="141B2E"/>
          </a:solidFill>
          <a:ln cap="flat" cmpd="sng" w="12700">
            <a:solidFill>
              <a:srgbClr val="232C42"/>
            </a:solidFill>
            <a:prstDash val="solid"/>
            <a:round/>
            <a:headEnd len="sm" w="sm" type="none"/>
            <a:tailEnd len="sm" w="sm" type="none"/>
          </a:ln>
          <a:effectLst>
            <a:outerShdw blurRad="101600" rotWithShape="0" algn="bl" dir="5400000" dist="38100">
              <a:srgbClr val="000000">
                <a:alpha val="34902"/>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4" name="Google Shape;184;p8"/>
          <p:cNvSpPr/>
          <p:nvPr/>
        </p:nvSpPr>
        <p:spPr>
          <a:xfrm>
            <a:off x="4610100" y="4480560"/>
            <a:ext cx="502920" cy="502920"/>
          </a:xfrm>
          <a:prstGeom prst="ellipse">
            <a:avLst/>
          </a:prstGeom>
          <a:solidFill>
            <a:srgbClr val="0F1526"/>
          </a:solidFill>
          <a:ln cap="flat" cmpd="sng" w="22225">
            <a:solidFill>
              <a:srgbClr val="8B7CF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5" name="Google Shape;185;p8"/>
          <p:cNvSpPr/>
          <p:nvPr/>
        </p:nvSpPr>
        <p:spPr>
          <a:xfrm>
            <a:off x="4610100" y="4480560"/>
            <a:ext cx="502920" cy="50292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8B7CF6"/>
              </a:buClr>
              <a:buSzPts val="1870"/>
              <a:buFont typeface="Calibri"/>
              <a:buNone/>
            </a:pPr>
            <a:r>
              <a:rPr b="1" i="0" lang="en-US" sz="1870" u="none" cap="none" strike="noStrike">
                <a:solidFill>
                  <a:srgbClr val="8B7CF6"/>
                </a:solidFill>
                <a:latin typeface="Calibri"/>
                <a:ea typeface="Calibri"/>
                <a:cs typeface="Calibri"/>
                <a:sym typeface="Calibri"/>
              </a:rPr>
              <a:t>C</a:t>
            </a:r>
            <a:endParaRPr b="0" i="0" sz="1870" u="none" cap="none" strike="noStrike">
              <a:solidFill>
                <a:schemeClr val="dk1"/>
              </a:solidFill>
              <a:latin typeface="Calibri"/>
              <a:ea typeface="Calibri"/>
              <a:cs typeface="Calibri"/>
              <a:sym typeface="Calibri"/>
            </a:endParaRPr>
          </a:p>
        </p:txBody>
      </p:sp>
      <p:sp>
        <p:nvSpPr>
          <p:cNvPr id="186" name="Google Shape;186;p8"/>
          <p:cNvSpPr/>
          <p:nvPr/>
        </p:nvSpPr>
        <p:spPr>
          <a:xfrm>
            <a:off x="5273040" y="4206240"/>
            <a:ext cx="2346960" cy="32004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1300"/>
              <a:buFont typeface="Calibri"/>
              <a:buNone/>
            </a:pPr>
            <a:r>
              <a:rPr b="1" i="0" lang="en-US" sz="1300" u="none" cap="none" strike="noStrike">
                <a:solidFill>
                  <a:srgbClr val="FFFFFF"/>
                </a:solidFill>
                <a:latin typeface="Calibri"/>
                <a:ea typeface="Calibri"/>
                <a:cs typeface="Calibri"/>
                <a:sym typeface="Calibri"/>
              </a:rPr>
              <a:t>Cooldowns</a:t>
            </a:r>
            <a:endParaRPr b="0" i="0" sz="1300" u="none" cap="none" strike="noStrike">
              <a:solidFill>
                <a:schemeClr val="dk1"/>
              </a:solidFill>
              <a:latin typeface="Calibri"/>
              <a:ea typeface="Calibri"/>
              <a:cs typeface="Calibri"/>
              <a:sym typeface="Calibri"/>
            </a:endParaRPr>
          </a:p>
        </p:txBody>
      </p:sp>
      <p:sp>
        <p:nvSpPr>
          <p:cNvPr id="187" name="Google Shape;187;p8"/>
          <p:cNvSpPr/>
          <p:nvPr/>
        </p:nvSpPr>
        <p:spPr>
          <a:xfrm>
            <a:off x="5273040" y="4526280"/>
            <a:ext cx="2346960" cy="777240"/>
          </a:xfrm>
          <a:prstGeom prst="rect">
            <a:avLst/>
          </a:prstGeom>
          <a:noFill/>
          <a:ln>
            <a:noFill/>
          </a:ln>
        </p:spPr>
        <p:txBody>
          <a:bodyPr anchorCtr="0" anchor="ctr" bIns="45700" lIns="91425" spcFirstLastPara="1" rIns="91425" wrap="square" tIns="45700">
            <a:noAutofit/>
          </a:bodyPr>
          <a:lstStyle/>
          <a:p>
            <a:pPr indent="0" lvl="0" marL="0" marR="0" rtl="0" algn="l">
              <a:lnSpc>
                <a:spcPct val="123809"/>
              </a:lnSpc>
              <a:spcBef>
                <a:spcPts val="0"/>
              </a:spcBef>
              <a:spcAft>
                <a:spcPts val="0"/>
              </a:spcAft>
              <a:buClr>
                <a:srgbClr val="C7CCDA"/>
              </a:buClr>
              <a:buSzPts val="1050"/>
              <a:buFont typeface="Calibri"/>
              <a:buNone/>
            </a:pPr>
            <a:r>
              <a:rPr b="0" i="0" lang="en-US" sz="1050" u="none" cap="none" strike="noStrike">
                <a:solidFill>
                  <a:srgbClr val="C7CCDA"/>
                </a:solidFill>
                <a:latin typeface="Calibri"/>
                <a:ea typeface="Calibri"/>
                <a:cs typeface="Calibri"/>
                <a:sym typeface="Calibri"/>
              </a:rPr>
              <a:t>Rate limits enforced between purchases.</a:t>
            </a:r>
            <a:endParaRPr b="0" i="0" sz="1050" u="none" cap="none" strike="noStrike">
              <a:solidFill>
                <a:schemeClr val="dk1"/>
              </a:solidFill>
              <a:latin typeface="Calibri"/>
              <a:ea typeface="Calibri"/>
              <a:cs typeface="Calibri"/>
              <a:sym typeface="Calibri"/>
            </a:endParaRPr>
          </a:p>
        </p:txBody>
      </p:sp>
      <p:sp>
        <p:nvSpPr>
          <p:cNvPr id="188" name="Google Shape;188;p8"/>
          <p:cNvSpPr/>
          <p:nvPr/>
        </p:nvSpPr>
        <p:spPr>
          <a:xfrm>
            <a:off x="457200" y="6473952"/>
            <a:ext cx="18288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B93A7"/>
              </a:buClr>
              <a:buSzPts val="1000"/>
              <a:buFont typeface="Calibri"/>
              <a:buNone/>
            </a:pPr>
            <a:r>
              <a:rPr b="1" i="0" lang="en-US" sz="1000" u="none" cap="none" strike="noStrike">
                <a:solidFill>
                  <a:srgbClr val="8B93A7"/>
                </a:solidFill>
                <a:latin typeface="Calibri"/>
                <a:ea typeface="Calibri"/>
                <a:cs typeface="Calibri"/>
                <a:sym typeface="Calibri"/>
              </a:rPr>
              <a:t>QMA</a:t>
            </a:r>
            <a:endParaRPr b="0" i="0" sz="1000" u="none" cap="none" strike="noStrike">
              <a:solidFill>
                <a:schemeClr val="dk1"/>
              </a:solidFill>
              <a:latin typeface="Calibri"/>
              <a:ea typeface="Calibri"/>
              <a:cs typeface="Calibri"/>
              <a:sym typeface="Calibri"/>
            </a:endParaRPr>
          </a:p>
        </p:txBody>
      </p:sp>
      <p:sp>
        <p:nvSpPr>
          <p:cNvPr id="189" name="Google Shape;189;p8"/>
          <p:cNvSpPr/>
          <p:nvPr/>
        </p:nvSpPr>
        <p:spPr>
          <a:xfrm>
            <a:off x="1828800" y="6473952"/>
            <a:ext cx="45720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B93A7"/>
              </a:buClr>
              <a:buSzPts val="900"/>
              <a:buFont typeface="Calibri"/>
              <a:buNone/>
            </a:pPr>
            <a:r>
              <a:rPr b="0" i="0" lang="en-US" sz="900" u="none" cap="none" strike="noStrike">
                <a:solidFill>
                  <a:srgbClr val="8B93A7"/>
                </a:solidFill>
                <a:latin typeface="Calibri"/>
                <a:ea typeface="Calibri"/>
                <a:cs typeface="Calibri"/>
                <a:sym typeface="Calibri"/>
              </a:rPr>
              <a:t>Bounded Agents</a:t>
            </a:r>
            <a:endParaRPr b="0" i="0" sz="900" u="none" cap="none" strike="noStrike">
              <a:solidFill>
                <a:schemeClr val="dk1"/>
              </a:solidFill>
              <a:latin typeface="Calibri"/>
              <a:ea typeface="Calibri"/>
              <a:cs typeface="Calibri"/>
              <a:sym typeface="Calibri"/>
            </a:endParaRPr>
          </a:p>
        </p:txBody>
      </p:sp>
      <p:sp>
        <p:nvSpPr>
          <p:cNvPr id="190" name="Google Shape;190;p8"/>
          <p:cNvSpPr/>
          <p:nvPr/>
        </p:nvSpPr>
        <p:spPr>
          <a:xfrm>
            <a:off x="10817352" y="6473952"/>
            <a:ext cx="914400" cy="27432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8B93A7"/>
              </a:buClr>
              <a:buSzPts val="1000"/>
              <a:buFont typeface="Calibri"/>
              <a:buNone/>
            </a:pPr>
            <a:r>
              <a:rPr b="0" i="0" lang="en-US" sz="1000" u="none" cap="none" strike="noStrike">
                <a:solidFill>
                  <a:srgbClr val="8B93A7"/>
                </a:solidFill>
                <a:latin typeface="Calibri"/>
                <a:ea typeface="Calibri"/>
                <a:cs typeface="Calibri"/>
                <a:sym typeface="Calibri"/>
              </a:rPr>
              <a:t>06 / 16</a:t>
            </a:r>
            <a:endParaRPr b="0" i="0" sz="1000" u="none" cap="none" strike="noStrike">
              <a:solidFill>
                <a:schemeClr val="dk1"/>
              </a:solidFill>
              <a:latin typeface="Calibri"/>
              <a:ea typeface="Calibri"/>
              <a:cs typeface="Calibri"/>
              <a:sym typeface="Calibri"/>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B0F1C"/>
        </a:solidFill>
      </p:bgPr>
    </p:bg>
    <p:spTree>
      <p:nvGrpSpPr>
        <p:cNvPr id="195" name="Shape 195"/>
        <p:cNvGrpSpPr/>
        <p:nvPr/>
      </p:nvGrpSpPr>
      <p:grpSpPr>
        <a:xfrm>
          <a:off x="0" y="0"/>
          <a:ext cx="0" cy="0"/>
          <a:chOff x="0" y="0"/>
          <a:chExt cx="0" cy="0"/>
        </a:xfrm>
      </p:grpSpPr>
      <p:sp>
        <p:nvSpPr>
          <p:cNvPr id="196" name="Google Shape;196;p9"/>
          <p:cNvSpPr/>
          <p:nvPr/>
        </p:nvSpPr>
        <p:spPr>
          <a:xfrm>
            <a:off x="640080" y="502920"/>
            <a:ext cx="7315200" cy="32004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B7CF6"/>
              </a:buClr>
              <a:buSzPts val="1200"/>
              <a:buFont typeface="Calibri"/>
              <a:buNone/>
            </a:pPr>
            <a:r>
              <a:rPr b="1" i="0" lang="en-US" sz="1200" u="none" cap="none" strike="noStrike">
                <a:solidFill>
                  <a:srgbClr val="8B7CF6"/>
                </a:solidFill>
                <a:latin typeface="Calibri"/>
                <a:ea typeface="Calibri"/>
                <a:cs typeface="Calibri"/>
                <a:sym typeface="Calibri"/>
              </a:rPr>
              <a:t>AGENT INFRASTRUCTURE</a:t>
            </a:r>
            <a:endParaRPr b="0" i="0" sz="1200" u="none" cap="none" strike="noStrike">
              <a:solidFill>
                <a:schemeClr val="dk1"/>
              </a:solidFill>
              <a:latin typeface="Calibri"/>
              <a:ea typeface="Calibri"/>
              <a:cs typeface="Calibri"/>
              <a:sym typeface="Calibri"/>
            </a:endParaRPr>
          </a:p>
        </p:txBody>
      </p:sp>
      <p:sp>
        <p:nvSpPr>
          <p:cNvPr id="197" name="Google Shape;197;p9"/>
          <p:cNvSpPr/>
          <p:nvPr/>
        </p:nvSpPr>
        <p:spPr>
          <a:xfrm>
            <a:off x="640080" y="804672"/>
            <a:ext cx="10789920" cy="7315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3400"/>
              <a:buFont typeface="Calibri"/>
              <a:buNone/>
            </a:pPr>
            <a:r>
              <a:rPr b="1" i="0" lang="en-US" sz="3400" u="none" cap="none" strike="noStrike">
                <a:solidFill>
                  <a:srgbClr val="FFFFFF"/>
                </a:solidFill>
                <a:latin typeface="Calibri"/>
                <a:ea typeface="Calibri"/>
                <a:cs typeface="Calibri"/>
                <a:sym typeface="Calibri"/>
              </a:rPr>
              <a:t>How an Agent Buys a Report?</a:t>
            </a:r>
            <a:endParaRPr b="0" i="0" sz="3400" u="none" cap="none" strike="noStrike">
              <a:solidFill>
                <a:schemeClr val="dk1"/>
              </a:solidFill>
              <a:latin typeface="Calibri"/>
              <a:ea typeface="Calibri"/>
              <a:cs typeface="Calibri"/>
              <a:sym typeface="Calibri"/>
            </a:endParaRPr>
          </a:p>
        </p:txBody>
      </p:sp>
      <p:sp>
        <p:nvSpPr>
          <p:cNvPr id="198" name="Google Shape;198;p9"/>
          <p:cNvSpPr/>
          <p:nvPr/>
        </p:nvSpPr>
        <p:spPr>
          <a:xfrm>
            <a:off x="640080" y="1417320"/>
            <a:ext cx="9875520" cy="457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C7CCDA"/>
              </a:buClr>
              <a:buSzPts val="1500"/>
              <a:buFont typeface="Calibri"/>
              <a:buNone/>
            </a:pPr>
            <a:r>
              <a:rPr b="0" i="1" lang="en-US" sz="1500" u="none" cap="none" strike="noStrike">
                <a:solidFill>
                  <a:srgbClr val="C7CCDA"/>
                </a:solidFill>
                <a:latin typeface="Calibri"/>
                <a:ea typeface="Calibri"/>
                <a:cs typeface="Calibri"/>
                <a:sym typeface="Calibri"/>
              </a:rPr>
              <a:t>The full autonomous purchase pipeline, end to end.</a:t>
            </a:r>
            <a:endParaRPr b="0" i="0" sz="1500" u="none" cap="none" strike="noStrike">
              <a:solidFill>
                <a:schemeClr val="dk1"/>
              </a:solidFill>
              <a:latin typeface="Calibri"/>
              <a:ea typeface="Calibri"/>
              <a:cs typeface="Calibri"/>
              <a:sym typeface="Calibri"/>
            </a:endParaRPr>
          </a:p>
        </p:txBody>
      </p:sp>
      <p:sp>
        <p:nvSpPr>
          <p:cNvPr id="199" name="Google Shape;199;p9"/>
          <p:cNvSpPr/>
          <p:nvPr/>
        </p:nvSpPr>
        <p:spPr>
          <a:xfrm>
            <a:off x="640080" y="2331720"/>
            <a:ext cx="2528316" cy="1234440"/>
          </a:xfrm>
          <a:prstGeom prst="roundRect">
            <a:avLst>
              <a:gd fmla="val 6667" name="adj"/>
            </a:avLst>
          </a:prstGeom>
          <a:solidFill>
            <a:srgbClr val="141B2E"/>
          </a:solidFill>
          <a:ln cap="flat" cmpd="sng" w="12700">
            <a:solidFill>
              <a:srgbClr val="232C42"/>
            </a:solidFill>
            <a:prstDash val="solid"/>
            <a:round/>
            <a:headEnd len="sm" w="sm" type="none"/>
            <a:tailEnd len="sm" w="sm" type="none"/>
          </a:ln>
          <a:effectLst>
            <a:outerShdw blurRad="101600" rotWithShape="0" algn="bl" dir="5400000" dist="38100">
              <a:srgbClr val="000000">
                <a:alpha val="34902"/>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0" name="Google Shape;200;p9"/>
          <p:cNvSpPr/>
          <p:nvPr/>
        </p:nvSpPr>
        <p:spPr>
          <a:xfrm>
            <a:off x="804672" y="2468880"/>
            <a:ext cx="457200" cy="36576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2DD4BF"/>
              </a:buClr>
              <a:buSzPts val="1500"/>
              <a:buFont typeface="Calibri"/>
              <a:buNone/>
            </a:pPr>
            <a:r>
              <a:rPr b="1" i="0" lang="en-US" sz="1500" u="none" cap="none" strike="noStrike">
                <a:solidFill>
                  <a:srgbClr val="2DD4BF"/>
                </a:solidFill>
                <a:latin typeface="Calibri"/>
                <a:ea typeface="Calibri"/>
                <a:cs typeface="Calibri"/>
                <a:sym typeface="Calibri"/>
              </a:rPr>
              <a:t>1</a:t>
            </a:r>
            <a:endParaRPr b="0" i="0" sz="1500" u="none" cap="none" strike="noStrike">
              <a:solidFill>
                <a:schemeClr val="dk1"/>
              </a:solidFill>
              <a:latin typeface="Calibri"/>
              <a:ea typeface="Calibri"/>
              <a:cs typeface="Calibri"/>
              <a:sym typeface="Calibri"/>
            </a:endParaRPr>
          </a:p>
        </p:txBody>
      </p:sp>
      <p:sp>
        <p:nvSpPr>
          <p:cNvPr id="201" name="Google Shape;201;p9"/>
          <p:cNvSpPr/>
          <p:nvPr/>
        </p:nvSpPr>
        <p:spPr>
          <a:xfrm>
            <a:off x="804672" y="2834640"/>
            <a:ext cx="2199132" cy="64008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FFFFFF"/>
              </a:buClr>
              <a:buSzPts val="1250"/>
              <a:buFont typeface="Calibri"/>
              <a:buNone/>
            </a:pPr>
            <a:r>
              <a:rPr b="1" i="0" lang="en-US" sz="1250" u="none" cap="none" strike="noStrike">
                <a:solidFill>
                  <a:srgbClr val="FFFFFF"/>
                </a:solidFill>
                <a:latin typeface="Calibri"/>
                <a:ea typeface="Calibri"/>
                <a:cs typeface="Calibri"/>
                <a:sym typeface="Calibri"/>
              </a:rPr>
              <a:t>Create Session</a:t>
            </a:r>
            <a:endParaRPr b="0" i="0" sz="1250" u="none" cap="none" strike="noStrike">
              <a:solidFill>
                <a:schemeClr val="dk1"/>
              </a:solidFill>
              <a:latin typeface="Calibri"/>
              <a:ea typeface="Calibri"/>
              <a:cs typeface="Calibri"/>
              <a:sym typeface="Calibri"/>
            </a:endParaRPr>
          </a:p>
        </p:txBody>
      </p:sp>
      <p:sp>
        <p:nvSpPr>
          <p:cNvPr id="202" name="Google Shape;202;p9"/>
          <p:cNvSpPr/>
          <p:nvPr/>
        </p:nvSpPr>
        <p:spPr>
          <a:xfrm>
            <a:off x="3206801" y="2857500"/>
            <a:ext cx="179222" cy="182880"/>
          </a:xfrm>
          <a:prstGeom prst="chevron">
            <a:avLst>
              <a:gd fmla="val 50000" name="adj"/>
            </a:avLst>
          </a:prstGeom>
          <a:solidFill>
            <a:srgbClr val="8B93A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3" name="Google Shape;203;p9"/>
          <p:cNvSpPr/>
          <p:nvPr/>
        </p:nvSpPr>
        <p:spPr>
          <a:xfrm>
            <a:off x="3424428" y="2331720"/>
            <a:ext cx="2528316" cy="1234440"/>
          </a:xfrm>
          <a:prstGeom prst="roundRect">
            <a:avLst>
              <a:gd fmla="val 6667" name="adj"/>
            </a:avLst>
          </a:prstGeom>
          <a:solidFill>
            <a:srgbClr val="141B2E"/>
          </a:solidFill>
          <a:ln cap="flat" cmpd="sng" w="12700">
            <a:solidFill>
              <a:srgbClr val="232C42"/>
            </a:solidFill>
            <a:prstDash val="solid"/>
            <a:round/>
            <a:headEnd len="sm" w="sm" type="none"/>
            <a:tailEnd len="sm" w="sm" type="none"/>
          </a:ln>
          <a:effectLst>
            <a:outerShdw blurRad="101600" rotWithShape="0" algn="bl" dir="5400000" dist="38100">
              <a:srgbClr val="000000">
                <a:alpha val="34902"/>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4" name="Google Shape;204;p9"/>
          <p:cNvSpPr/>
          <p:nvPr/>
        </p:nvSpPr>
        <p:spPr>
          <a:xfrm>
            <a:off x="3589020" y="2468880"/>
            <a:ext cx="457200" cy="36576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2DD4BF"/>
              </a:buClr>
              <a:buSzPts val="1500"/>
              <a:buFont typeface="Calibri"/>
              <a:buNone/>
            </a:pPr>
            <a:r>
              <a:rPr b="1" i="0" lang="en-US" sz="1500" u="none" cap="none" strike="noStrike">
                <a:solidFill>
                  <a:srgbClr val="2DD4BF"/>
                </a:solidFill>
                <a:latin typeface="Calibri"/>
                <a:ea typeface="Calibri"/>
                <a:cs typeface="Calibri"/>
                <a:sym typeface="Calibri"/>
              </a:rPr>
              <a:t>2</a:t>
            </a:r>
            <a:endParaRPr b="0" i="0" sz="1500" u="none" cap="none" strike="noStrike">
              <a:solidFill>
                <a:schemeClr val="dk1"/>
              </a:solidFill>
              <a:latin typeface="Calibri"/>
              <a:ea typeface="Calibri"/>
              <a:cs typeface="Calibri"/>
              <a:sym typeface="Calibri"/>
            </a:endParaRPr>
          </a:p>
        </p:txBody>
      </p:sp>
      <p:sp>
        <p:nvSpPr>
          <p:cNvPr id="205" name="Google Shape;205;p9"/>
          <p:cNvSpPr/>
          <p:nvPr/>
        </p:nvSpPr>
        <p:spPr>
          <a:xfrm>
            <a:off x="3589020" y="2834640"/>
            <a:ext cx="2199132" cy="64008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FFFFFF"/>
              </a:buClr>
              <a:buSzPts val="1250"/>
              <a:buFont typeface="Calibri"/>
              <a:buNone/>
            </a:pPr>
            <a:r>
              <a:rPr b="1" i="0" lang="en-US" sz="1250" u="none" cap="none" strike="noStrike">
                <a:solidFill>
                  <a:srgbClr val="FFFFFF"/>
                </a:solidFill>
                <a:latin typeface="Calibri"/>
                <a:ea typeface="Calibri"/>
                <a:cs typeface="Calibri"/>
                <a:sym typeface="Calibri"/>
              </a:rPr>
              <a:t>Check Balance</a:t>
            </a:r>
            <a:endParaRPr b="0" i="0" sz="1250" u="none" cap="none" strike="noStrike">
              <a:solidFill>
                <a:schemeClr val="dk1"/>
              </a:solidFill>
              <a:latin typeface="Calibri"/>
              <a:ea typeface="Calibri"/>
              <a:cs typeface="Calibri"/>
              <a:sym typeface="Calibri"/>
            </a:endParaRPr>
          </a:p>
        </p:txBody>
      </p:sp>
      <p:sp>
        <p:nvSpPr>
          <p:cNvPr id="206" name="Google Shape;206;p9"/>
          <p:cNvSpPr/>
          <p:nvPr/>
        </p:nvSpPr>
        <p:spPr>
          <a:xfrm>
            <a:off x="5991149" y="2857500"/>
            <a:ext cx="179222" cy="182880"/>
          </a:xfrm>
          <a:prstGeom prst="chevron">
            <a:avLst>
              <a:gd fmla="val 50000" name="adj"/>
            </a:avLst>
          </a:prstGeom>
          <a:solidFill>
            <a:srgbClr val="8B93A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7" name="Google Shape;207;p9"/>
          <p:cNvSpPr/>
          <p:nvPr/>
        </p:nvSpPr>
        <p:spPr>
          <a:xfrm>
            <a:off x="6208776" y="2331720"/>
            <a:ext cx="2528316" cy="1234440"/>
          </a:xfrm>
          <a:prstGeom prst="roundRect">
            <a:avLst>
              <a:gd fmla="val 6667" name="adj"/>
            </a:avLst>
          </a:prstGeom>
          <a:solidFill>
            <a:srgbClr val="141B2E"/>
          </a:solidFill>
          <a:ln cap="flat" cmpd="sng" w="12700">
            <a:solidFill>
              <a:srgbClr val="232C42"/>
            </a:solidFill>
            <a:prstDash val="solid"/>
            <a:round/>
            <a:headEnd len="sm" w="sm" type="none"/>
            <a:tailEnd len="sm" w="sm" type="none"/>
          </a:ln>
          <a:effectLst>
            <a:outerShdw blurRad="101600" rotWithShape="0" algn="bl" dir="5400000" dist="38100">
              <a:srgbClr val="000000">
                <a:alpha val="34902"/>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8" name="Google Shape;208;p9"/>
          <p:cNvSpPr/>
          <p:nvPr/>
        </p:nvSpPr>
        <p:spPr>
          <a:xfrm>
            <a:off x="6373368" y="2468880"/>
            <a:ext cx="457200" cy="36576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2DD4BF"/>
              </a:buClr>
              <a:buSzPts val="1500"/>
              <a:buFont typeface="Calibri"/>
              <a:buNone/>
            </a:pPr>
            <a:r>
              <a:rPr b="1" i="0" lang="en-US" sz="1500" u="none" cap="none" strike="noStrike">
                <a:solidFill>
                  <a:srgbClr val="2DD4BF"/>
                </a:solidFill>
                <a:latin typeface="Calibri"/>
                <a:ea typeface="Calibri"/>
                <a:cs typeface="Calibri"/>
                <a:sym typeface="Calibri"/>
              </a:rPr>
              <a:t>3</a:t>
            </a:r>
            <a:endParaRPr b="0" i="0" sz="1500" u="none" cap="none" strike="noStrike">
              <a:solidFill>
                <a:schemeClr val="dk1"/>
              </a:solidFill>
              <a:latin typeface="Calibri"/>
              <a:ea typeface="Calibri"/>
              <a:cs typeface="Calibri"/>
              <a:sym typeface="Calibri"/>
            </a:endParaRPr>
          </a:p>
        </p:txBody>
      </p:sp>
      <p:sp>
        <p:nvSpPr>
          <p:cNvPr id="209" name="Google Shape;209;p9"/>
          <p:cNvSpPr/>
          <p:nvPr/>
        </p:nvSpPr>
        <p:spPr>
          <a:xfrm>
            <a:off x="6373368" y="2834640"/>
            <a:ext cx="2199132" cy="64008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FFFFFF"/>
              </a:buClr>
              <a:buSzPts val="1250"/>
              <a:buFont typeface="Calibri"/>
              <a:buNone/>
            </a:pPr>
            <a:r>
              <a:rPr b="1" i="0" lang="en-US" sz="1250" u="none" cap="none" strike="noStrike">
                <a:solidFill>
                  <a:srgbClr val="FFFFFF"/>
                </a:solidFill>
                <a:latin typeface="Calibri"/>
                <a:ea typeface="Calibri"/>
                <a:cs typeface="Calibri"/>
                <a:sym typeface="Calibri"/>
              </a:rPr>
              <a:t>Observe Signals</a:t>
            </a:r>
            <a:endParaRPr b="0" i="0" sz="1250" u="none" cap="none" strike="noStrike">
              <a:solidFill>
                <a:schemeClr val="dk1"/>
              </a:solidFill>
              <a:latin typeface="Calibri"/>
              <a:ea typeface="Calibri"/>
              <a:cs typeface="Calibri"/>
              <a:sym typeface="Calibri"/>
            </a:endParaRPr>
          </a:p>
        </p:txBody>
      </p:sp>
      <p:sp>
        <p:nvSpPr>
          <p:cNvPr id="210" name="Google Shape;210;p9"/>
          <p:cNvSpPr/>
          <p:nvPr/>
        </p:nvSpPr>
        <p:spPr>
          <a:xfrm>
            <a:off x="8775497" y="2857500"/>
            <a:ext cx="179222" cy="182880"/>
          </a:xfrm>
          <a:prstGeom prst="chevron">
            <a:avLst>
              <a:gd fmla="val 50000" name="adj"/>
            </a:avLst>
          </a:prstGeom>
          <a:solidFill>
            <a:srgbClr val="8B93A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1" name="Google Shape;211;p9"/>
          <p:cNvSpPr/>
          <p:nvPr/>
        </p:nvSpPr>
        <p:spPr>
          <a:xfrm>
            <a:off x="8993124" y="2331720"/>
            <a:ext cx="2528316" cy="1234440"/>
          </a:xfrm>
          <a:prstGeom prst="roundRect">
            <a:avLst>
              <a:gd fmla="val 6667" name="adj"/>
            </a:avLst>
          </a:prstGeom>
          <a:solidFill>
            <a:srgbClr val="141B2E"/>
          </a:solidFill>
          <a:ln cap="flat" cmpd="sng" w="12700">
            <a:solidFill>
              <a:srgbClr val="232C42"/>
            </a:solidFill>
            <a:prstDash val="solid"/>
            <a:round/>
            <a:headEnd len="sm" w="sm" type="none"/>
            <a:tailEnd len="sm" w="sm" type="none"/>
          </a:ln>
          <a:effectLst>
            <a:outerShdw blurRad="101600" rotWithShape="0" algn="bl" dir="5400000" dist="38100">
              <a:srgbClr val="000000">
                <a:alpha val="34902"/>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2" name="Google Shape;212;p9"/>
          <p:cNvSpPr/>
          <p:nvPr/>
        </p:nvSpPr>
        <p:spPr>
          <a:xfrm>
            <a:off x="9157716" y="2468880"/>
            <a:ext cx="457200" cy="36576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2DD4BF"/>
              </a:buClr>
              <a:buSzPts val="1500"/>
              <a:buFont typeface="Calibri"/>
              <a:buNone/>
            </a:pPr>
            <a:r>
              <a:rPr b="1" i="0" lang="en-US" sz="1500" u="none" cap="none" strike="noStrike">
                <a:solidFill>
                  <a:srgbClr val="2DD4BF"/>
                </a:solidFill>
                <a:latin typeface="Calibri"/>
                <a:ea typeface="Calibri"/>
                <a:cs typeface="Calibri"/>
                <a:sym typeface="Calibri"/>
              </a:rPr>
              <a:t>4</a:t>
            </a:r>
            <a:endParaRPr b="0" i="0" sz="1500" u="none" cap="none" strike="noStrike">
              <a:solidFill>
                <a:schemeClr val="dk1"/>
              </a:solidFill>
              <a:latin typeface="Calibri"/>
              <a:ea typeface="Calibri"/>
              <a:cs typeface="Calibri"/>
              <a:sym typeface="Calibri"/>
            </a:endParaRPr>
          </a:p>
        </p:txBody>
      </p:sp>
      <p:sp>
        <p:nvSpPr>
          <p:cNvPr id="213" name="Google Shape;213;p9"/>
          <p:cNvSpPr/>
          <p:nvPr/>
        </p:nvSpPr>
        <p:spPr>
          <a:xfrm>
            <a:off x="9157716" y="2834640"/>
            <a:ext cx="2199132" cy="64008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FFFFFF"/>
              </a:buClr>
              <a:buSzPts val="1250"/>
              <a:buFont typeface="Calibri"/>
              <a:buNone/>
            </a:pPr>
            <a:r>
              <a:rPr b="1" i="0" lang="en-US" sz="1250" u="none" cap="none" strike="noStrike">
                <a:solidFill>
                  <a:srgbClr val="FFFFFF"/>
                </a:solidFill>
                <a:latin typeface="Calibri"/>
                <a:ea typeface="Calibri"/>
                <a:cs typeface="Calibri"/>
                <a:sym typeface="Calibri"/>
              </a:rPr>
              <a:t>Select Candidate</a:t>
            </a:r>
            <a:endParaRPr b="0" i="0" sz="1250" u="none" cap="none" strike="noStrike">
              <a:solidFill>
                <a:schemeClr val="dk1"/>
              </a:solidFill>
              <a:latin typeface="Calibri"/>
              <a:ea typeface="Calibri"/>
              <a:cs typeface="Calibri"/>
              <a:sym typeface="Calibri"/>
            </a:endParaRPr>
          </a:p>
        </p:txBody>
      </p:sp>
      <p:sp>
        <p:nvSpPr>
          <p:cNvPr id="214" name="Google Shape;214;p9"/>
          <p:cNvSpPr/>
          <p:nvPr/>
        </p:nvSpPr>
        <p:spPr>
          <a:xfrm>
            <a:off x="640080" y="3977640"/>
            <a:ext cx="2528316" cy="1234440"/>
          </a:xfrm>
          <a:prstGeom prst="roundRect">
            <a:avLst>
              <a:gd fmla="val 6667" name="adj"/>
            </a:avLst>
          </a:prstGeom>
          <a:solidFill>
            <a:srgbClr val="0F1526"/>
          </a:solidFill>
          <a:ln cap="flat" cmpd="sng" w="12700">
            <a:solidFill>
              <a:srgbClr val="232C42"/>
            </a:solidFill>
            <a:prstDash val="solid"/>
            <a:round/>
            <a:headEnd len="sm" w="sm" type="none"/>
            <a:tailEnd len="sm" w="sm" type="none"/>
          </a:ln>
          <a:effectLst>
            <a:outerShdw blurRad="101600" rotWithShape="0" algn="bl" dir="5400000" dist="38100">
              <a:srgbClr val="000000">
                <a:alpha val="34902"/>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5" name="Google Shape;215;p9"/>
          <p:cNvSpPr/>
          <p:nvPr/>
        </p:nvSpPr>
        <p:spPr>
          <a:xfrm>
            <a:off x="804672" y="4114800"/>
            <a:ext cx="457200" cy="36576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2DD4BF"/>
              </a:buClr>
              <a:buSzPts val="1500"/>
              <a:buFont typeface="Calibri"/>
              <a:buNone/>
            </a:pPr>
            <a:r>
              <a:rPr b="1" lang="en-US" sz="1500">
                <a:solidFill>
                  <a:srgbClr val="2DD4BF"/>
                </a:solidFill>
                <a:latin typeface="Calibri"/>
                <a:ea typeface="Calibri"/>
                <a:cs typeface="Calibri"/>
                <a:sym typeface="Calibri"/>
              </a:rPr>
              <a:t>8</a:t>
            </a:r>
            <a:endParaRPr b="0" i="0" sz="1500" u="none" cap="none" strike="noStrike">
              <a:solidFill>
                <a:schemeClr val="dk1"/>
              </a:solidFill>
              <a:latin typeface="Calibri"/>
              <a:ea typeface="Calibri"/>
              <a:cs typeface="Calibri"/>
              <a:sym typeface="Calibri"/>
            </a:endParaRPr>
          </a:p>
        </p:txBody>
      </p:sp>
      <p:sp>
        <p:nvSpPr>
          <p:cNvPr id="216" name="Google Shape;216;p9"/>
          <p:cNvSpPr/>
          <p:nvPr/>
        </p:nvSpPr>
        <p:spPr>
          <a:xfrm>
            <a:off x="804672" y="4480560"/>
            <a:ext cx="2199132" cy="64008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FFFFFF"/>
              </a:buClr>
              <a:buSzPts val="1250"/>
              <a:buFont typeface="Calibri"/>
              <a:buNone/>
            </a:pPr>
            <a:r>
              <a:rPr b="1" lang="en-US" sz="1250">
                <a:solidFill>
                  <a:srgbClr val="FFFFFF"/>
                </a:solidFill>
                <a:latin typeface="Calibri"/>
                <a:ea typeface="Calibri"/>
                <a:cs typeface="Calibri"/>
                <a:sym typeface="Calibri"/>
              </a:rPr>
              <a:t>Update state</a:t>
            </a:r>
            <a:endParaRPr b="0" i="0" sz="1250" u="none" cap="none" strike="noStrike">
              <a:solidFill>
                <a:schemeClr val="dk1"/>
              </a:solidFill>
              <a:latin typeface="Calibri"/>
              <a:ea typeface="Calibri"/>
              <a:cs typeface="Calibri"/>
              <a:sym typeface="Calibri"/>
            </a:endParaRPr>
          </a:p>
        </p:txBody>
      </p:sp>
      <p:sp>
        <p:nvSpPr>
          <p:cNvPr id="217" name="Google Shape;217;p9"/>
          <p:cNvSpPr/>
          <p:nvPr/>
        </p:nvSpPr>
        <p:spPr>
          <a:xfrm rot="10800000">
            <a:off x="3206923" y="4503300"/>
            <a:ext cx="179100" cy="183000"/>
          </a:xfrm>
          <a:prstGeom prst="chevron">
            <a:avLst>
              <a:gd fmla="val 50000" name="adj"/>
            </a:avLst>
          </a:prstGeom>
          <a:solidFill>
            <a:srgbClr val="8B93A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8" name="Google Shape;218;p9"/>
          <p:cNvSpPr/>
          <p:nvPr/>
        </p:nvSpPr>
        <p:spPr>
          <a:xfrm>
            <a:off x="3424428" y="3977640"/>
            <a:ext cx="2528316" cy="1234440"/>
          </a:xfrm>
          <a:prstGeom prst="roundRect">
            <a:avLst>
              <a:gd fmla="val 6667" name="adj"/>
            </a:avLst>
          </a:prstGeom>
          <a:solidFill>
            <a:srgbClr val="0F1526"/>
          </a:solidFill>
          <a:ln cap="flat" cmpd="sng" w="12700">
            <a:solidFill>
              <a:srgbClr val="232C42"/>
            </a:solidFill>
            <a:prstDash val="solid"/>
            <a:round/>
            <a:headEnd len="sm" w="sm" type="none"/>
            <a:tailEnd len="sm" w="sm" type="none"/>
          </a:ln>
          <a:effectLst>
            <a:outerShdw blurRad="101600" rotWithShape="0" algn="bl" dir="5400000" dist="38100">
              <a:srgbClr val="000000">
                <a:alpha val="34902"/>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9" name="Google Shape;219;p9"/>
          <p:cNvSpPr/>
          <p:nvPr/>
        </p:nvSpPr>
        <p:spPr>
          <a:xfrm>
            <a:off x="3589020" y="4114800"/>
            <a:ext cx="457200" cy="36576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2DD4BF"/>
              </a:buClr>
              <a:buSzPts val="1500"/>
              <a:buFont typeface="Calibri"/>
              <a:buNone/>
            </a:pPr>
            <a:r>
              <a:rPr b="1" lang="en-US" sz="1500">
                <a:solidFill>
                  <a:srgbClr val="2DD4BF"/>
                </a:solidFill>
                <a:latin typeface="Calibri"/>
                <a:ea typeface="Calibri"/>
                <a:cs typeface="Calibri"/>
                <a:sym typeface="Calibri"/>
              </a:rPr>
              <a:t>7</a:t>
            </a:r>
            <a:endParaRPr b="0" i="0" sz="1500" u="none" cap="none" strike="noStrike">
              <a:solidFill>
                <a:schemeClr val="dk1"/>
              </a:solidFill>
              <a:latin typeface="Calibri"/>
              <a:ea typeface="Calibri"/>
              <a:cs typeface="Calibri"/>
              <a:sym typeface="Calibri"/>
            </a:endParaRPr>
          </a:p>
        </p:txBody>
      </p:sp>
      <p:sp>
        <p:nvSpPr>
          <p:cNvPr id="220" name="Google Shape;220;p9"/>
          <p:cNvSpPr/>
          <p:nvPr/>
        </p:nvSpPr>
        <p:spPr>
          <a:xfrm>
            <a:off x="3589020" y="4480560"/>
            <a:ext cx="2199132" cy="64008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FFFFFF"/>
              </a:buClr>
              <a:buSzPts val="1250"/>
              <a:buFont typeface="Calibri"/>
              <a:buNone/>
            </a:pPr>
            <a:r>
              <a:rPr b="1" lang="en-US" sz="1250">
                <a:solidFill>
                  <a:srgbClr val="FFFFFF"/>
                </a:solidFill>
                <a:latin typeface="Calibri"/>
                <a:ea typeface="Calibri"/>
                <a:cs typeface="Calibri"/>
                <a:sym typeface="Calibri"/>
              </a:rPr>
              <a:t>Fetch report</a:t>
            </a:r>
            <a:endParaRPr b="0" i="0" sz="1250" u="none" cap="none" strike="noStrike">
              <a:solidFill>
                <a:schemeClr val="dk1"/>
              </a:solidFill>
              <a:latin typeface="Calibri"/>
              <a:ea typeface="Calibri"/>
              <a:cs typeface="Calibri"/>
              <a:sym typeface="Calibri"/>
            </a:endParaRPr>
          </a:p>
        </p:txBody>
      </p:sp>
      <p:sp>
        <p:nvSpPr>
          <p:cNvPr id="221" name="Google Shape;221;p9"/>
          <p:cNvSpPr/>
          <p:nvPr/>
        </p:nvSpPr>
        <p:spPr>
          <a:xfrm rot="10800000">
            <a:off x="5991271" y="4503300"/>
            <a:ext cx="179100" cy="183000"/>
          </a:xfrm>
          <a:prstGeom prst="chevron">
            <a:avLst>
              <a:gd fmla="val 50000" name="adj"/>
            </a:avLst>
          </a:prstGeom>
          <a:solidFill>
            <a:srgbClr val="8B93A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2" name="Google Shape;222;p9"/>
          <p:cNvSpPr/>
          <p:nvPr/>
        </p:nvSpPr>
        <p:spPr>
          <a:xfrm>
            <a:off x="6208776" y="3977640"/>
            <a:ext cx="2528316" cy="1234440"/>
          </a:xfrm>
          <a:prstGeom prst="roundRect">
            <a:avLst>
              <a:gd fmla="val 6667" name="adj"/>
            </a:avLst>
          </a:prstGeom>
          <a:solidFill>
            <a:srgbClr val="0F1526"/>
          </a:solidFill>
          <a:ln cap="flat" cmpd="sng" w="12700">
            <a:solidFill>
              <a:srgbClr val="232C42"/>
            </a:solidFill>
            <a:prstDash val="solid"/>
            <a:round/>
            <a:headEnd len="sm" w="sm" type="none"/>
            <a:tailEnd len="sm" w="sm" type="none"/>
          </a:ln>
          <a:effectLst>
            <a:outerShdw blurRad="101600" rotWithShape="0" algn="bl" dir="5400000" dist="38100">
              <a:srgbClr val="000000">
                <a:alpha val="34902"/>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3" name="Google Shape;223;p9"/>
          <p:cNvSpPr/>
          <p:nvPr/>
        </p:nvSpPr>
        <p:spPr>
          <a:xfrm>
            <a:off x="6373368" y="4114800"/>
            <a:ext cx="457200" cy="36576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2DD4BF"/>
              </a:buClr>
              <a:buSzPts val="1500"/>
              <a:buFont typeface="Calibri"/>
              <a:buNone/>
            </a:pPr>
            <a:r>
              <a:rPr b="1" lang="en-US" sz="1500">
                <a:solidFill>
                  <a:srgbClr val="2DD4BF"/>
                </a:solidFill>
                <a:latin typeface="Calibri"/>
                <a:ea typeface="Calibri"/>
                <a:cs typeface="Calibri"/>
                <a:sym typeface="Calibri"/>
              </a:rPr>
              <a:t>6</a:t>
            </a:r>
            <a:endParaRPr b="0" i="0" sz="1500" u="none" cap="none" strike="noStrike">
              <a:solidFill>
                <a:schemeClr val="dk1"/>
              </a:solidFill>
              <a:latin typeface="Calibri"/>
              <a:ea typeface="Calibri"/>
              <a:cs typeface="Calibri"/>
              <a:sym typeface="Calibri"/>
            </a:endParaRPr>
          </a:p>
        </p:txBody>
      </p:sp>
      <p:sp>
        <p:nvSpPr>
          <p:cNvPr id="224" name="Google Shape;224;p9"/>
          <p:cNvSpPr/>
          <p:nvPr/>
        </p:nvSpPr>
        <p:spPr>
          <a:xfrm>
            <a:off x="6373368" y="4480560"/>
            <a:ext cx="2199132" cy="64008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FFFFFF"/>
              </a:buClr>
              <a:buSzPts val="1250"/>
              <a:buFont typeface="Calibri"/>
              <a:buNone/>
            </a:pPr>
            <a:r>
              <a:rPr b="1" lang="en-US" sz="1250">
                <a:solidFill>
                  <a:srgbClr val="FFFFFF"/>
                </a:solidFill>
                <a:latin typeface="Calibri"/>
                <a:ea typeface="Calibri"/>
                <a:cs typeface="Calibri"/>
                <a:sym typeface="Calibri"/>
              </a:rPr>
              <a:t>Pay</a:t>
            </a:r>
            <a:endParaRPr b="0" i="0" sz="1250" u="none" cap="none" strike="noStrike">
              <a:solidFill>
                <a:schemeClr val="dk1"/>
              </a:solidFill>
              <a:latin typeface="Calibri"/>
              <a:ea typeface="Calibri"/>
              <a:cs typeface="Calibri"/>
              <a:sym typeface="Calibri"/>
            </a:endParaRPr>
          </a:p>
        </p:txBody>
      </p:sp>
      <p:sp>
        <p:nvSpPr>
          <p:cNvPr id="225" name="Google Shape;225;p9"/>
          <p:cNvSpPr/>
          <p:nvPr/>
        </p:nvSpPr>
        <p:spPr>
          <a:xfrm rot="10800000">
            <a:off x="8775619" y="4503300"/>
            <a:ext cx="179100" cy="183000"/>
          </a:xfrm>
          <a:prstGeom prst="chevron">
            <a:avLst>
              <a:gd fmla="val 50000" name="adj"/>
            </a:avLst>
          </a:prstGeom>
          <a:solidFill>
            <a:srgbClr val="8B93A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6" name="Google Shape;226;p9"/>
          <p:cNvSpPr/>
          <p:nvPr/>
        </p:nvSpPr>
        <p:spPr>
          <a:xfrm>
            <a:off x="8993124" y="3977640"/>
            <a:ext cx="2528316" cy="1234440"/>
          </a:xfrm>
          <a:prstGeom prst="roundRect">
            <a:avLst>
              <a:gd fmla="val 6667" name="adj"/>
            </a:avLst>
          </a:prstGeom>
          <a:solidFill>
            <a:srgbClr val="0F1526"/>
          </a:solidFill>
          <a:ln cap="flat" cmpd="sng" w="12700">
            <a:solidFill>
              <a:srgbClr val="232C42"/>
            </a:solidFill>
            <a:prstDash val="solid"/>
            <a:round/>
            <a:headEnd len="sm" w="sm" type="none"/>
            <a:tailEnd len="sm" w="sm" type="none"/>
          </a:ln>
          <a:effectLst>
            <a:outerShdw blurRad="101600" rotWithShape="0" algn="bl" dir="5400000" dist="38100">
              <a:srgbClr val="000000">
                <a:alpha val="34902"/>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7" name="Google Shape;227;p9"/>
          <p:cNvSpPr/>
          <p:nvPr/>
        </p:nvSpPr>
        <p:spPr>
          <a:xfrm>
            <a:off x="9157716" y="4114800"/>
            <a:ext cx="457200" cy="36576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2DD4BF"/>
              </a:buClr>
              <a:buSzPts val="1500"/>
              <a:buFont typeface="Calibri"/>
              <a:buNone/>
            </a:pPr>
            <a:r>
              <a:rPr b="1" lang="en-US" sz="1500">
                <a:solidFill>
                  <a:srgbClr val="2DD4BF"/>
                </a:solidFill>
                <a:latin typeface="Calibri"/>
                <a:ea typeface="Calibri"/>
                <a:cs typeface="Calibri"/>
                <a:sym typeface="Calibri"/>
              </a:rPr>
              <a:t>5</a:t>
            </a:r>
            <a:endParaRPr b="0" i="0" sz="1500" u="none" cap="none" strike="noStrike">
              <a:solidFill>
                <a:schemeClr val="dk1"/>
              </a:solidFill>
              <a:latin typeface="Calibri"/>
              <a:ea typeface="Calibri"/>
              <a:cs typeface="Calibri"/>
              <a:sym typeface="Calibri"/>
            </a:endParaRPr>
          </a:p>
        </p:txBody>
      </p:sp>
      <p:sp>
        <p:nvSpPr>
          <p:cNvPr id="228" name="Google Shape;228;p9"/>
          <p:cNvSpPr/>
          <p:nvPr/>
        </p:nvSpPr>
        <p:spPr>
          <a:xfrm>
            <a:off x="9157716" y="4480560"/>
            <a:ext cx="2199132" cy="64008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chemeClr val="lt1"/>
              </a:buClr>
              <a:buSzPts val="1250"/>
              <a:buFont typeface="Calibri"/>
              <a:buNone/>
            </a:pPr>
            <a:r>
              <a:rPr b="1" lang="en-US" sz="1250">
                <a:solidFill>
                  <a:schemeClr val="lt1"/>
                </a:solidFill>
                <a:latin typeface="Calibri"/>
                <a:ea typeface="Calibri"/>
                <a:cs typeface="Calibri"/>
                <a:sym typeface="Calibri"/>
              </a:rPr>
              <a:t>Create Invoice</a:t>
            </a:r>
            <a:endParaRPr b="1" sz="1250">
              <a:solidFill>
                <a:srgbClr val="FFFFFF"/>
              </a:solidFill>
              <a:latin typeface="Calibri"/>
              <a:ea typeface="Calibri"/>
              <a:cs typeface="Calibri"/>
              <a:sym typeface="Calibri"/>
            </a:endParaRPr>
          </a:p>
        </p:txBody>
      </p:sp>
      <p:sp>
        <p:nvSpPr>
          <p:cNvPr id="229" name="Google Shape;229;p9"/>
          <p:cNvSpPr/>
          <p:nvPr/>
        </p:nvSpPr>
        <p:spPr>
          <a:xfrm rot="5400000">
            <a:off x="10165794" y="3627910"/>
            <a:ext cx="183000" cy="288000"/>
          </a:xfrm>
          <a:prstGeom prst="chevron">
            <a:avLst>
              <a:gd fmla="val 50000" name="adj"/>
            </a:avLst>
          </a:prstGeom>
          <a:solidFill>
            <a:srgbClr val="8B93A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0" name="Google Shape;230;p9"/>
          <p:cNvSpPr/>
          <p:nvPr/>
        </p:nvSpPr>
        <p:spPr>
          <a:xfrm>
            <a:off x="457200" y="6473952"/>
            <a:ext cx="18288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B93A7"/>
              </a:buClr>
              <a:buSzPts val="1000"/>
              <a:buFont typeface="Calibri"/>
              <a:buNone/>
            </a:pPr>
            <a:r>
              <a:rPr b="1" i="0" lang="en-US" sz="1000" u="none" cap="none" strike="noStrike">
                <a:solidFill>
                  <a:srgbClr val="8B93A7"/>
                </a:solidFill>
                <a:latin typeface="Calibri"/>
                <a:ea typeface="Calibri"/>
                <a:cs typeface="Calibri"/>
                <a:sym typeface="Calibri"/>
              </a:rPr>
              <a:t>QMA</a:t>
            </a:r>
            <a:endParaRPr b="0" i="0" sz="1000" u="none" cap="none" strike="noStrike">
              <a:solidFill>
                <a:schemeClr val="dk1"/>
              </a:solidFill>
              <a:latin typeface="Calibri"/>
              <a:ea typeface="Calibri"/>
              <a:cs typeface="Calibri"/>
              <a:sym typeface="Calibri"/>
            </a:endParaRPr>
          </a:p>
        </p:txBody>
      </p:sp>
      <p:sp>
        <p:nvSpPr>
          <p:cNvPr id="231" name="Google Shape;231;p9"/>
          <p:cNvSpPr/>
          <p:nvPr/>
        </p:nvSpPr>
        <p:spPr>
          <a:xfrm>
            <a:off x="1828800" y="6473952"/>
            <a:ext cx="45720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B93A7"/>
              </a:buClr>
              <a:buSzPts val="900"/>
              <a:buFont typeface="Calibri"/>
              <a:buNone/>
            </a:pPr>
            <a:r>
              <a:rPr b="0" i="0" lang="en-US" sz="900" u="none" cap="none" strike="noStrike">
                <a:solidFill>
                  <a:srgbClr val="8B93A7"/>
                </a:solidFill>
                <a:latin typeface="Calibri"/>
                <a:ea typeface="Calibri"/>
                <a:cs typeface="Calibri"/>
                <a:sym typeface="Calibri"/>
              </a:rPr>
              <a:t>Agent Execution</a:t>
            </a:r>
            <a:endParaRPr b="0" i="0" sz="900" u="none" cap="none" strike="noStrike">
              <a:solidFill>
                <a:schemeClr val="dk1"/>
              </a:solidFill>
              <a:latin typeface="Calibri"/>
              <a:ea typeface="Calibri"/>
              <a:cs typeface="Calibri"/>
              <a:sym typeface="Calibri"/>
            </a:endParaRPr>
          </a:p>
        </p:txBody>
      </p:sp>
      <p:sp>
        <p:nvSpPr>
          <p:cNvPr id="232" name="Google Shape;232;p9"/>
          <p:cNvSpPr/>
          <p:nvPr/>
        </p:nvSpPr>
        <p:spPr>
          <a:xfrm>
            <a:off x="10817352" y="6473952"/>
            <a:ext cx="914400" cy="27432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8B93A7"/>
              </a:buClr>
              <a:buSzPts val="1000"/>
              <a:buFont typeface="Calibri"/>
              <a:buNone/>
            </a:pPr>
            <a:r>
              <a:rPr b="0" i="0" lang="en-US" sz="1000" u="none" cap="none" strike="noStrike">
                <a:solidFill>
                  <a:srgbClr val="8B93A7"/>
                </a:solidFill>
                <a:latin typeface="Calibri"/>
                <a:ea typeface="Calibri"/>
                <a:cs typeface="Calibri"/>
                <a:sym typeface="Calibri"/>
              </a:rPr>
              <a:t>07 / 16</a:t>
            </a:r>
            <a:endParaRPr b="0" i="0" sz="1000" u="none" cap="none" strike="noStrike">
              <a:solidFill>
                <a:schemeClr val="dk1"/>
              </a:solidFill>
              <a:latin typeface="Calibri"/>
              <a:ea typeface="Calibri"/>
              <a:cs typeface="Calibri"/>
              <a:sym typeface="Calibri"/>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B0F1C"/>
        </a:solidFill>
      </p:bgPr>
    </p:bg>
    <p:spTree>
      <p:nvGrpSpPr>
        <p:cNvPr id="237" name="Shape 237"/>
        <p:cNvGrpSpPr/>
        <p:nvPr/>
      </p:nvGrpSpPr>
      <p:grpSpPr>
        <a:xfrm>
          <a:off x="0" y="0"/>
          <a:ext cx="0" cy="0"/>
          <a:chOff x="0" y="0"/>
          <a:chExt cx="0" cy="0"/>
        </a:xfrm>
      </p:grpSpPr>
      <p:sp>
        <p:nvSpPr>
          <p:cNvPr id="238" name="Google Shape;238;p10"/>
          <p:cNvSpPr/>
          <p:nvPr/>
        </p:nvSpPr>
        <p:spPr>
          <a:xfrm>
            <a:off x="640080" y="502920"/>
            <a:ext cx="7315200" cy="32004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2DD4BF"/>
              </a:buClr>
              <a:buSzPts val="1200"/>
              <a:buFont typeface="Calibri"/>
              <a:buNone/>
            </a:pPr>
            <a:r>
              <a:rPr b="1" i="0" lang="en-US" sz="1200" u="none" cap="none" strike="noStrike">
                <a:solidFill>
                  <a:srgbClr val="2DD4BF"/>
                </a:solidFill>
                <a:latin typeface="Calibri"/>
                <a:ea typeface="Calibri"/>
                <a:cs typeface="Calibri"/>
                <a:sym typeface="Calibri"/>
              </a:rPr>
              <a:t>INFRASTRUCTURE LAYER</a:t>
            </a:r>
            <a:endParaRPr b="0" i="0" sz="1200" u="none" cap="none" strike="noStrike">
              <a:solidFill>
                <a:schemeClr val="dk1"/>
              </a:solidFill>
              <a:latin typeface="Calibri"/>
              <a:ea typeface="Calibri"/>
              <a:cs typeface="Calibri"/>
              <a:sym typeface="Calibri"/>
            </a:endParaRPr>
          </a:p>
        </p:txBody>
      </p:sp>
      <p:sp>
        <p:nvSpPr>
          <p:cNvPr id="239" name="Google Shape;239;p10"/>
          <p:cNvSpPr/>
          <p:nvPr/>
        </p:nvSpPr>
        <p:spPr>
          <a:xfrm>
            <a:off x="640080" y="804672"/>
            <a:ext cx="10789920" cy="7315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3400"/>
              <a:buFont typeface="Calibri"/>
              <a:buNone/>
            </a:pPr>
            <a:r>
              <a:rPr b="1" i="0" lang="en-US" sz="3400" u="none" cap="none" strike="noStrike">
                <a:solidFill>
                  <a:srgbClr val="FFFFFF"/>
                </a:solidFill>
                <a:latin typeface="Calibri"/>
                <a:ea typeface="Calibri"/>
                <a:cs typeface="Calibri"/>
                <a:sym typeface="Calibri"/>
              </a:rPr>
              <a:t>The Rail Underneath the Marketplace</a:t>
            </a:r>
            <a:endParaRPr b="0" i="0" sz="3400" u="none" cap="none" strike="noStrike">
              <a:solidFill>
                <a:schemeClr val="dk1"/>
              </a:solidFill>
              <a:latin typeface="Calibri"/>
              <a:ea typeface="Calibri"/>
              <a:cs typeface="Calibri"/>
              <a:sym typeface="Calibri"/>
            </a:endParaRPr>
          </a:p>
        </p:txBody>
      </p:sp>
      <p:sp>
        <p:nvSpPr>
          <p:cNvPr id="240" name="Google Shape;240;p10"/>
          <p:cNvSpPr/>
          <p:nvPr/>
        </p:nvSpPr>
        <p:spPr>
          <a:xfrm>
            <a:off x="640080" y="1417320"/>
            <a:ext cx="9875520" cy="457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C7CCDA"/>
              </a:buClr>
              <a:buSzPts val="1500"/>
              <a:buFont typeface="Calibri"/>
              <a:buNone/>
            </a:pPr>
            <a:r>
              <a:rPr b="0" i="1" lang="en-US" sz="1500" u="none" cap="none" strike="noStrike">
                <a:solidFill>
                  <a:srgbClr val="C7CCDA"/>
                </a:solidFill>
                <a:latin typeface="Calibri"/>
                <a:ea typeface="Calibri"/>
                <a:cs typeface="Calibri"/>
                <a:sym typeface="Calibri"/>
              </a:rPr>
              <a:t>Circle, Arc, and x402 make the marketplace instant and agent-safe — they are not the product.</a:t>
            </a:r>
            <a:endParaRPr b="0" i="0" sz="1500" u="none" cap="none" strike="noStrike">
              <a:solidFill>
                <a:schemeClr val="dk1"/>
              </a:solidFill>
              <a:latin typeface="Calibri"/>
              <a:ea typeface="Calibri"/>
              <a:cs typeface="Calibri"/>
              <a:sym typeface="Calibri"/>
            </a:endParaRPr>
          </a:p>
        </p:txBody>
      </p:sp>
      <p:sp>
        <p:nvSpPr>
          <p:cNvPr id="241" name="Google Shape;241;p10"/>
          <p:cNvSpPr/>
          <p:nvPr/>
        </p:nvSpPr>
        <p:spPr>
          <a:xfrm>
            <a:off x="640080" y="2286000"/>
            <a:ext cx="5280660" cy="1508760"/>
          </a:xfrm>
          <a:prstGeom prst="roundRect">
            <a:avLst>
              <a:gd fmla="val 5455" name="adj"/>
            </a:avLst>
          </a:prstGeom>
          <a:solidFill>
            <a:srgbClr val="141B2E"/>
          </a:solidFill>
          <a:ln cap="flat" cmpd="sng" w="12700">
            <a:solidFill>
              <a:srgbClr val="232C42"/>
            </a:solidFill>
            <a:prstDash val="solid"/>
            <a:round/>
            <a:headEnd len="sm" w="sm" type="none"/>
            <a:tailEnd len="sm" w="sm" type="none"/>
          </a:ln>
          <a:effectLst>
            <a:outerShdw blurRad="101600" rotWithShape="0" algn="bl" dir="5400000" dist="38100">
              <a:srgbClr val="000000">
                <a:alpha val="34902"/>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2" name="Google Shape;242;p10"/>
          <p:cNvSpPr/>
          <p:nvPr/>
        </p:nvSpPr>
        <p:spPr>
          <a:xfrm>
            <a:off x="960120" y="2766060"/>
            <a:ext cx="548640" cy="548640"/>
          </a:xfrm>
          <a:prstGeom prst="ellipse">
            <a:avLst/>
          </a:prstGeom>
          <a:solidFill>
            <a:srgbClr val="0F1526"/>
          </a:solidFill>
          <a:ln cap="flat" cmpd="sng" w="22225">
            <a:solidFill>
              <a:srgbClr val="2DD4B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3" name="Google Shape;243;p10"/>
          <p:cNvSpPr/>
          <p:nvPr/>
        </p:nvSpPr>
        <p:spPr>
          <a:xfrm>
            <a:off x="960120" y="2766060"/>
            <a:ext cx="548640" cy="54864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2DD4BF"/>
              </a:buClr>
              <a:buSzPts val="2040"/>
              <a:buFont typeface="Calibri"/>
              <a:buNone/>
            </a:pPr>
            <a:r>
              <a:rPr b="1" i="0" lang="en-US" sz="2040" u="none" cap="none" strike="noStrike">
                <a:solidFill>
                  <a:srgbClr val="2DD4BF"/>
                </a:solidFill>
                <a:latin typeface="Calibri"/>
                <a:ea typeface="Calibri"/>
                <a:cs typeface="Calibri"/>
                <a:sym typeface="Calibri"/>
              </a:rPr>
              <a:t>W</a:t>
            </a:r>
            <a:endParaRPr b="0" i="0" sz="2040" u="none" cap="none" strike="noStrike">
              <a:solidFill>
                <a:schemeClr val="dk1"/>
              </a:solidFill>
              <a:latin typeface="Calibri"/>
              <a:ea typeface="Calibri"/>
              <a:cs typeface="Calibri"/>
              <a:sym typeface="Calibri"/>
            </a:endParaRPr>
          </a:p>
        </p:txBody>
      </p:sp>
      <p:sp>
        <p:nvSpPr>
          <p:cNvPr id="244" name="Google Shape;244;p10"/>
          <p:cNvSpPr/>
          <p:nvPr/>
        </p:nvSpPr>
        <p:spPr>
          <a:xfrm>
            <a:off x="1691640" y="2514600"/>
            <a:ext cx="4046220" cy="5029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1350"/>
              <a:buFont typeface="Calibri"/>
              <a:buNone/>
            </a:pPr>
            <a:r>
              <a:rPr b="1" i="0" lang="en-US" sz="1350" u="none" cap="none" strike="noStrike">
                <a:solidFill>
                  <a:srgbClr val="FFFFFF"/>
                </a:solidFill>
                <a:latin typeface="Calibri"/>
                <a:ea typeface="Calibri"/>
                <a:cs typeface="Calibri"/>
                <a:sym typeface="Calibri"/>
              </a:rPr>
              <a:t>Circle Developer-Controlled Wallets</a:t>
            </a:r>
            <a:endParaRPr b="0" i="0" sz="1350" u="none" cap="none" strike="noStrike">
              <a:solidFill>
                <a:schemeClr val="dk1"/>
              </a:solidFill>
              <a:latin typeface="Calibri"/>
              <a:ea typeface="Calibri"/>
              <a:cs typeface="Calibri"/>
              <a:sym typeface="Calibri"/>
            </a:endParaRPr>
          </a:p>
        </p:txBody>
      </p:sp>
      <p:sp>
        <p:nvSpPr>
          <p:cNvPr id="245" name="Google Shape;245;p10"/>
          <p:cNvSpPr/>
          <p:nvPr/>
        </p:nvSpPr>
        <p:spPr>
          <a:xfrm>
            <a:off x="1691640" y="2999232"/>
            <a:ext cx="4046220" cy="731520"/>
          </a:xfrm>
          <a:prstGeom prst="rect">
            <a:avLst/>
          </a:prstGeom>
          <a:noFill/>
          <a:ln>
            <a:noFill/>
          </a:ln>
        </p:spPr>
        <p:txBody>
          <a:bodyPr anchorCtr="0" anchor="t" bIns="45700" lIns="91425" spcFirstLastPara="1" rIns="91425" wrap="square" tIns="45700">
            <a:noAutofit/>
          </a:bodyPr>
          <a:lstStyle/>
          <a:p>
            <a:pPr indent="0" lvl="0" marL="0" marR="0" rtl="0" algn="l">
              <a:lnSpc>
                <a:spcPct val="123809"/>
              </a:lnSpc>
              <a:spcBef>
                <a:spcPts val="0"/>
              </a:spcBef>
              <a:spcAft>
                <a:spcPts val="0"/>
              </a:spcAft>
              <a:buClr>
                <a:srgbClr val="C7CCDA"/>
              </a:buClr>
              <a:buSzPts val="1050"/>
              <a:buFont typeface="Calibri"/>
              <a:buNone/>
            </a:pPr>
            <a:r>
              <a:rPr b="0" i="0" lang="en-US" sz="1050" u="none" cap="none" strike="noStrike">
                <a:solidFill>
                  <a:srgbClr val="C7CCDA"/>
                </a:solidFill>
                <a:latin typeface="Calibri"/>
                <a:ea typeface="Calibri"/>
                <a:cs typeface="Calibri"/>
                <a:sym typeface="Calibri"/>
              </a:rPr>
              <a:t>Manage custody for agent and creator wallets under enterprise-grade KMS.</a:t>
            </a:r>
            <a:endParaRPr b="0" i="0" sz="1050" u="none" cap="none" strike="noStrike">
              <a:solidFill>
                <a:schemeClr val="dk1"/>
              </a:solidFill>
              <a:latin typeface="Calibri"/>
              <a:ea typeface="Calibri"/>
              <a:cs typeface="Calibri"/>
              <a:sym typeface="Calibri"/>
            </a:endParaRPr>
          </a:p>
        </p:txBody>
      </p:sp>
      <p:sp>
        <p:nvSpPr>
          <p:cNvPr id="246" name="Google Shape;246;p10"/>
          <p:cNvSpPr/>
          <p:nvPr/>
        </p:nvSpPr>
        <p:spPr>
          <a:xfrm>
            <a:off x="6240780" y="2286000"/>
            <a:ext cx="5280660" cy="1508760"/>
          </a:xfrm>
          <a:prstGeom prst="roundRect">
            <a:avLst>
              <a:gd fmla="val 5455" name="adj"/>
            </a:avLst>
          </a:prstGeom>
          <a:solidFill>
            <a:srgbClr val="141B2E"/>
          </a:solidFill>
          <a:ln cap="flat" cmpd="sng" w="12700">
            <a:solidFill>
              <a:srgbClr val="232C42"/>
            </a:solidFill>
            <a:prstDash val="solid"/>
            <a:round/>
            <a:headEnd len="sm" w="sm" type="none"/>
            <a:tailEnd len="sm" w="sm" type="none"/>
          </a:ln>
          <a:effectLst>
            <a:outerShdw blurRad="101600" rotWithShape="0" algn="bl" dir="5400000" dist="38100">
              <a:srgbClr val="000000">
                <a:alpha val="34902"/>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7" name="Google Shape;247;p10"/>
          <p:cNvSpPr/>
          <p:nvPr/>
        </p:nvSpPr>
        <p:spPr>
          <a:xfrm>
            <a:off x="6560820" y="2766060"/>
            <a:ext cx="548640" cy="548640"/>
          </a:xfrm>
          <a:prstGeom prst="ellipse">
            <a:avLst/>
          </a:prstGeom>
          <a:solidFill>
            <a:srgbClr val="0F1526"/>
          </a:solidFill>
          <a:ln cap="flat" cmpd="sng" w="22225">
            <a:solidFill>
              <a:srgbClr val="8B7CF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8" name="Google Shape;248;p10"/>
          <p:cNvSpPr/>
          <p:nvPr/>
        </p:nvSpPr>
        <p:spPr>
          <a:xfrm>
            <a:off x="6560820" y="2766060"/>
            <a:ext cx="548640" cy="54864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8B7CF6"/>
              </a:buClr>
              <a:buSzPts val="2040"/>
              <a:buFont typeface="Calibri"/>
              <a:buNone/>
            </a:pPr>
            <a:r>
              <a:rPr b="1" i="0" lang="en-US" sz="2040" u="none" cap="none" strike="noStrike">
                <a:solidFill>
                  <a:srgbClr val="8B7CF6"/>
                </a:solidFill>
                <a:latin typeface="Calibri"/>
                <a:ea typeface="Calibri"/>
                <a:cs typeface="Calibri"/>
                <a:sym typeface="Calibri"/>
              </a:rPr>
              <a:t>A</a:t>
            </a:r>
            <a:endParaRPr b="0" i="0" sz="2040" u="none" cap="none" strike="noStrike">
              <a:solidFill>
                <a:schemeClr val="dk1"/>
              </a:solidFill>
              <a:latin typeface="Calibri"/>
              <a:ea typeface="Calibri"/>
              <a:cs typeface="Calibri"/>
              <a:sym typeface="Calibri"/>
            </a:endParaRPr>
          </a:p>
        </p:txBody>
      </p:sp>
      <p:sp>
        <p:nvSpPr>
          <p:cNvPr id="249" name="Google Shape;249;p10"/>
          <p:cNvSpPr/>
          <p:nvPr/>
        </p:nvSpPr>
        <p:spPr>
          <a:xfrm>
            <a:off x="7292340" y="2514600"/>
            <a:ext cx="4046220" cy="5029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1350"/>
              <a:buFont typeface="Calibri"/>
              <a:buNone/>
            </a:pPr>
            <a:r>
              <a:rPr b="1" i="0" lang="en-US" sz="1350" u="none" cap="none" strike="noStrike">
                <a:solidFill>
                  <a:srgbClr val="FFFFFF"/>
                </a:solidFill>
                <a:latin typeface="Calibri"/>
                <a:ea typeface="Calibri"/>
                <a:cs typeface="Calibri"/>
                <a:sym typeface="Calibri"/>
              </a:rPr>
              <a:t>Arc Settlement</a:t>
            </a:r>
            <a:endParaRPr b="0" i="0" sz="1350" u="none" cap="none" strike="noStrike">
              <a:solidFill>
                <a:schemeClr val="dk1"/>
              </a:solidFill>
              <a:latin typeface="Calibri"/>
              <a:ea typeface="Calibri"/>
              <a:cs typeface="Calibri"/>
              <a:sym typeface="Calibri"/>
            </a:endParaRPr>
          </a:p>
        </p:txBody>
      </p:sp>
      <p:sp>
        <p:nvSpPr>
          <p:cNvPr id="250" name="Google Shape;250;p10"/>
          <p:cNvSpPr/>
          <p:nvPr/>
        </p:nvSpPr>
        <p:spPr>
          <a:xfrm>
            <a:off x="7292340" y="2999232"/>
            <a:ext cx="4046220" cy="731520"/>
          </a:xfrm>
          <a:prstGeom prst="rect">
            <a:avLst/>
          </a:prstGeom>
          <a:noFill/>
          <a:ln>
            <a:noFill/>
          </a:ln>
        </p:spPr>
        <p:txBody>
          <a:bodyPr anchorCtr="0" anchor="t" bIns="45700" lIns="91425" spcFirstLastPara="1" rIns="91425" wrap="square" tIns="45700">
            <a:noAutofit/>
          </a:bodyPr>
          <a:lstStyle/>
          <a:p>
            <a:pPr indent="0" lvl="0" marL="0" marR="0" rtl="0" algn="l">
              <a:lnSpc>
                <a:spcPct val="123809"/>
              </a:lnSpc>
              <a:spcBef>
                <a:spcPts val="0"/>
              </a:spcBef>
              <a:spcAft>
                <a:spcPts val="0"/>
              </a:spcAft>
              <a:buClr>
                <a:srgbClr val="C7CCDA"/>
              </a:buClr>
              <a:buSzPts val="1050"/>
              <a:buFont typeface="Calibri"/>
              <a:buNone/>
            </a:pPr>
            <a:r>
              <a:rPr b="0" i="0" lang="en-US" sz="1050" u="none" cap="none" strike="noStrike">
                <a:solidFill>
                  <a:srgbClr val="C7CCDA"/>
                </a:solidFill>
                <a:latin typeface="Calibri"/>
                <a:ea typeface="Calibri"/>
                <a:cs typeface="Calibri"/>
                <a:sym typeface="Calibri"/>
              </a:rPr>
              <a:t>Every transaction settles in USDC in well under a second.</a:t>
            </a:r>
            <a:endParaRPr b="0" i="0" sz="1050" u="none" cap="none" strike="noStrike">
              <a:solidFill>
                <a:schemeClr val="dk1"/>
              </a:solidFill>
              <a:latin typeface="Calibri"/>
              <a:ea typeface="Calibri"/>
              <a:cs typeface="Calibri"/>
              <a:sym typeface="Calibri"/>
            </a:endParaRPr>
          </a:p>
        </p:txBody>
      </p:sp>
      <p:sp>
        <p:nvSpPr>
          <p:cNvPr id="251" name="Google Shape;251;p10"/>
          <p:cNvSpPr/>
          <p:nvPr/>
        </p:nvSpPr>
        <p:spPr>
          <a:xfrm>
            <a:off x="640080" y="4114800"/>
            <a:ext cx="5280660" cy="1508760"/>
          </a:xfrm>
          <a:prstGeom prst="roundRect">
            <a:avLst>
              <a:gd fmla="val 5455" name="adj"/>
            </a:avLst>
          </a:prstGeom>
          <a:solidFill>
            <a:srgbClr val="141B2E"/>
          </a:solidFill>
          <a:ln cap="flat" cmpd="sng" w="12700">
            <a:solidFill>
              <a:srgbClr val="232C42"/>
            </a:solidFill>
            <a:prstDash val="solid"/>
            <a:round/>
            <a:headEnd len="sm" w="sm" type="none"/>
            <a:tailEnd len="sm" w="sm" type="none"/>
          </a:ln>
          <a:effectLst>
            <a:outerShdw blurRad="101600" rotWithShape="0" algn="bl" dir="5400000" dist="38100">
              <a:srgbClr val="000000">
                <a:alpha val="34902"/>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2" name="Google Shape;252;p10"/>
          <p:cNvSpPr/>
          <p:nvPr/>
        </p:nvSpPr>
        <p:spPr>
          <a:xfrm>
            <a:off x="960120" y="4594860"/>
            <a:ext cx="548640" cy="548640"/>
          </a:xfrm>
          <a:prstGeom prst="ellipse">
            <a:avLst/>
          </a:prstGeom>
          <a:solidFill>
            <a:srgbClr val="0F1526"/>
          </a:solidFill>
          <a:ln cap="flat" cmpd="sng" w="22225">
            <a:solidFill>
              <a:srgbClr val="34D39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3" name="Google Shape;253;p10"/>
          <p:cNvSpPr/>
          <p:nvPr/>
        </p:nvSpPr>
        <p:spPr>
          <a:xfrm>
            <a:off x="960120" y="4594860"/>
            <a:ext cx="548640" cy="54864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34D399"/>
              </a:buClr>
              <a:buSzPts val="2040"/>
              <a:buFont typeface="Calibri"/>
              <a:buNone/>
            </a:pPr>
            <a:r>
              <a:rPr b="1" i="0" lang="en-US" sz="2040" u="none" cap="none" strike="noStrike">
                <a:solidFill>
                  <a:srgbClr val="34D399"/>
                </a:solidFill>
                <a:latin typeface="Calibri"/>
                <a:ea typeface="Calibri"/>
                <a:cs typeface="Calibri"/>
                <a:sym typeface="Calibri"/>
              </a:rPr>
              <a:t>x4</a:t>
            </a:r>
            <a:endParaRPr b="0" i="0" sz="2040" u="none" cap="none" strike="noStrike">
              <a:solidFill>
                <a:schemeClr val="dk1"/>
              </a:solidFill>
              <a:latin typeface="Calibri"/>
              <a:ea typeface="Calibri"/>
              <a:cs typeface="Calibri"/>
              <a:sym typeface="Calibri"/>
            </a:endParaRPr>
          </a:p>
        </p:txBody>
      </p:sp>
      <p:sp>
        <p:nvSpPr>
          <p:cNvPr id="254" name="Google Shape;254;p10"/>
          <p:cNvSpPr/>
          <p:nvPr/>
        </p:nvSpPr>
        <p:spPr>
          <a:xfrm>
            <a:off x="1691640" y="4343400"/>
            <a:ext cx="4046220" cy="5029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1350"/>
              <a:buFont typeface="Calibri"/>
              <a:buNone/>
            </a:pPr>
            <a:r>
              <a:rPr b="1" i="0" lang="en-US" sz="1350" u="none" cap="none" strike="noStrike">
                <a:solidFill>
                  <a:srgbClr val="FFFFFF"/>
                </a:solidFill>
                <a:latin typeface="Calibri"/>
                <a:ea typeface="Calibri"/>
                <a:cs typeface="Calibri"/>
                <a:sym typeface="Calibri"/>
              </a:rPr>
              <a:t>x402 Auto-Invoicing</a:t>
            </a:r>
            <a:endParaRPr b="0" i="0" sz="1350" u="none" cap="none" strike="noStrike">
              <a:solidFill>
                <a:schemeClr val="dk1"/>
              </a:solidFill>
              <a:latin typeface="Calibri"/>
              <a:ea typeface="Calibri"/>
              <a:cs typeface="Calibri"/>
              <a:sym typeface="Calibri"/>
            </a:endParaRPr>
          </a:p>
        </p:txBody>
      </p:sp>
      <p:sp>
        <p:nvSpPr>
          <p:cNvPr id="255" name="Google Shape;255;p10"/>
          <p:cNvSpPr/>
          <p:nvPr/>
        </p:nvSpPr>
        <p:spPr>
          <a:xfrm>
            <a:off x="1691640" y="4828032"/>
            <a:ext cx="4046100" cy="731400"/>
          </a:xfrm>
          <a:prstGeom prst="rect">
            <a:avLst/>
          </a:prstGeom>
          <a:noFill/>
          <a:ln>
            <a:noFill/>
          </a:ln>
        </p:spPr>
        <p:txBody>
          <a:bodyPr anchorCtr="0" anchor="t" bIns="45700" lIns="91425" spcFirstLastPara="1" rIns="91425" wrap="square" tIns="45700">
            <a:noAutofit/>
          </a:bodyPr>
          <a:lstStyle/>
          <a:p>
            <a:pPr indent="0" lvl="0" marL="0" marR="0" rtl="0" algn="l">
              <a:lnSpc>
                <a:spcPct val="123809"/>
              </a:lnSpc>
              <a:spcBef>
                <a:spcPts val="0"/>
              </a:spcBef>
              <a:spcAft>
                <a:spcPts val="0"/>
              </a:spcAft>
              <a:buClr>
                <a:srgbClr val="C7CCDA"/>
              </a:buClr>
              <a:buSzPts val="1050"/>
              <a:buFont typeface="Calibri"/>
              <a:buNone/>
            </a:pPr>
            <a:r>
              <a:rPr b="0" i="0" lang="en-US" sz="1050" u="none" cap="none" strike="noStrike">
                <a:solidFill>
                  <a:srgbClr val="C7CCDA"/>
                </a:solidFill>
                <a:latin typeface="Calibri"/>
                <a:ea typeface="Calibri"/>
                <a:cs typeface="Calibri"/>
                <a:sym typeface="Calibri"/>
              </a:rPr>
              <a:t>Payment triggers automatically when a report is requested — no manual invoicing.</a:t>
            </a:r>
            <a:endParaRPr b="0" i="0" sz="1050" u="none" cap="none" strike="noStrike">
              <a:solidFill>
                <a:schemeClr val="dk1"/>
              </a:solidFill>
              <a:latin typeface="Calibri"/>
              <a:ea typeface="Calibri"/>
              <a:cs typeface="Calibri"/>
              <a:sym typeface="Calibri"/>
            </a:endParaRPr>
          </a:p>
        </p:txBody>
      </p:sp>
      <p:sp>
        <p:nvSpPr>
          <p:cNvPr id="256" name="Google Shape;256;p10"/>
          <p:cNvSpPr/>
          <p:nvPr/>
        </p:nvSpPr>
        <p:spPr>
          <a:xfrm>
            <a:off x="6240780" y="4114800"/>
            <a:ext cx="5280660" cy="1508760"/>
          </a:xfrm>
          <a:prstGeom prst="roundRect">
            <a:avLst>
              <a:gd fmla="val 5455" name="adj"/>
            </a:avLst>
          </a:prstGeom>
          <a:solidFill>
            <a:srgbClr val="141B2E"/>
          </a:solidFill>
          <a:ln cap="flat" cmpd="sng" w="12700">
            <a:solidFill>
              <a:srgbClr val="232C42"/>
            </a:solidFill>
            <a:prstDash val="solid"/>
            <a:round/>
            <a:headEnd len="sm" w="sm" type="none"/>
            <a:tailEnd len="sm" w="sm" type="none"/>
          </a:ln>
          <a:effectLst>
            <a:outerShdw blurRad="101600" rotWithShape="0" algn="bl" dir="5400000" dist="38100">
              <a:srgbClr val="000000">
                <a:alpha val="34902"/>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7" name="Google Shape;257;p10"/>
          <p:cNvSpPr/>
          <p:nvPr/>
        </p:nvSpPr>
        <p:spPr>
          <a:xfrm>
            <a:off x="6560820" y="4594860"/>
            <a:ext cx="548640" cy="548640"/>
          </a:xfrm>
          <a:prstGeom prst="ellipse">
            <a:avLst/>
          </a:prstGeom>
          <a:solidFill>
            <a:srgbClr val="0F1526"/>
          </a:solidFill>
          <a:ln cap="flat" cmpd="sng" w="22225">
            <a:solidFill>
              <a:srgbClr val="8B93A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8" name="Google Shape;258;p10"/>
          <p:cNvSpPr/>
          <p:nvPr/>
        </p:nvSpPr>
        <p:spPr>
          <a:xfrm>
            <a:off x="6560820" y="4594860"/>
            <a:ext cx="548640" cy="54864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8B93A7"/>
              </a:buClr>
              <a:buSzPts val="2040"/>
              <a:buFont typeface="Calibri"/>
              <a:buNone/>
            </a:pPr>
            <a:r>
              <a:rPr b="1" i="0" lang="en-US" sz="2040" u="none" cap="none" strike="noStrike">
                <a:solidFill>
                  <a:srgbClr val="8B93A7"/>
                </a:solidFill>
                <a:latin typeface="Calibri"/>
                <a:ea typeface="Calibri"/>
                <a:cs typeface="Calibri"/>
                <a:sym typeface="Calibri"/>
              </a:rPr>
              <a:t>%</a:t>
            </a:r>
            <a:endParaRPr b="0" i="0" sz="2040" u="none" cap="none" strike="noStrike">
              <a:solidFill>
                <a:schemeClr val="dk1"/>
              </a:solidFill>
              <a:latin typeface="Calibri"/>
              <a:ea typeface="Calibri"/>
              <a:cs typeface="Calibri"/>
              <a:sym typeface="Calibri"/>
            </a:endParaRPr>
          </a:p>
        </p:txBody>
      </p:sp>
      <p:sp>
        <p:nvSpPr>
          <p:cNvPr id="259" name="Google Shape;259;p10"/>
          <p:cNvSpPr/>
          <p:nvPr/>
        </p:nvSpPr>
        <p:spPr>
          <a:xfrm>
            <a:off x="7292340" y="4343400"/>
            <a:ext cx="4046220" cy="5029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1350"/>
              <a:buFont typeface="Calibri"/>
              <a:buNone/>
            </a:pPr>
            <a:r>
              <a:rPr b="1" i="0" lang="en-US" sz="1350" u="none" cap="none" strike="noStrike">
                <a:solidFill>
                  <a:srgbClr val="FFFFFF"/>
                </a:solidFill>
                <a:latin typeface="Calibri"/>
                <a:ea typeface="Calibri"/>
                <a:cs typeface="Calibri"/>
                <a:sym typeface="Calibri"/>
              </a:rPr>
              <a:t>Split Settlement</a:t>
            </a:r>
            <a:endParaRPr b="0" i="0" sz="1350" u="none" cap="none" strike="noStrike">
              <a:solidFill>
                <a:schemeClr val="dk1"/>
              </a:solidFill>
              <a:latin typeface="Calibri"/>
              <a:ea typeface="Calibri"/>
              <a:cs typeface="Calibri"/>
              <a:sym typeface="Calibri"/>
            </a:endParaRPr>
          </a:p>
        </p:txBody>
      </p:sp>
      <p:sp>
        <p:nvSpPr>
          <p:cNvPr id="260" name="Google Shape;260;p10"/>
          <p:cNvSpPr/>
          <p:nvPr/>
        </p:nvSpPr>
        <p:spPr>
          <a:xfrm>
            <a:off x="7292340" y="4828032"/>
            <a:ext cx="4046220" cy="731520"/>
          </a:xfrm>
          <a:prstGeom prst="rect">
            <a:avLst/>
          </a:prstGeom>
          <a:noFill/>
          <a:ln>
            <a:noFill/>
          </a:ln>
        </p:spPr>
        <p:txBody>
          <a:bodyPr anchorCtr="0" anchor="t" bIns="45700" lIns="91425" spcFirstLastPara="1" rIns="91425" wrap="square" tIns="45700">
            <a:noAutofit/>
          </a:bodyPr>
          <a:lstStyle/>
          <a:p>
            <a:pPr indent="0" lvl="0" marL="0" marR="0" rtl="0" algn="l">
              <a:lnSpc>
                <a:spcPct val="123809"/>
              </a:lnSpc>
              <a:spcBef>
                <a:spcPts val="0"/>
              </a:spcBef>
              <a:spcAft>
                <a:spcPts val="0"/>
              </a:spcAft>
              <a:buClr>
                <a:srgbClr val="C7CCDA"/>
              </a:buClr>
              <a:buSzPts val="1050"/>
              <a:buFont typeface="Calibri"/>
              <a:buNone/>
            </a:pPr>
            <a:r>
              <a:rPr b="0" i="0" lang="en-US" sz="1050" u="none" cap="none" strike="noStrike">
                <a:solidFill>
                  <a:srgbClr val="C7CCDA"/>
                </a:solidFill>
                <a:latin typeface="Calibri"/>
                <a:ea typeface="Calibri"/>
                <a:cs typeface="Calibri"/>
                <a:sym typeface="Calibri"/>
              </a:rPr>
              <a:t>Creator and platform revenue splits execute automatically at settlement.</a:t>
            </a:r>
            <a:endParaRPr b="0" i="0" sz="1050" u="none" cap="none" strike="noStrike">
              <a:solidFill>
                <a:schemeClr val="dk1"/>
              </a:solidFill>
              <a:latin typeface="Calibri"/>
              <a:ea typeface="Calibri"/>
              <a:cs typeface="Calibri"/>
              <a:sym typeface="Calibri"/>
            </a:endParaRPr>
          </a:p>
        </p:txBody>
      </p:sp>
      <p:sp>
        <p:nvSpPr>
          <p:cNvPr id="261" name="Google Shape;261;p10"/>
          <p:cNvSpPr/>
          <p:nvPr/>
        </p:nvSpPr>
        <p:spPr>
          <a:xfrm>
            <a:off x="640080" y="5623560"/>
            <a:ext cx="10881360" cy="36576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8B93A7"/>
              </a:buClr>
              <a:buSzPts val="1100"/>
              <a:buFont typeface="Calibri"/>
              <a:buNone/>
            </a:pPr>
            <a:r>
              <a:rPr b="0" i="1" lang="en-US" sz="1100" u="none" cap="none" strike="noStrike">
                <a:solidFill>
                  <a:srgbClr val="8B93A7"/>
                </a:solidFill>
                <a:latin typeface="Calibri"/>
                <a:ea typeface="Calibri"/>
                <a:cs typeface="Calibri"/>
                <a:sym typeface="Calibri"/>
              </a:rPr>
              <a:t>This is what makes the marketplace instant and agent-safe — not the product itself.</a:t>
            </a:r>
            <a:endParaRPr b="0" i="0" sz="1100" u="none" cap="none" strike="noStrike">
              <a:solidFill>
                <a:schemeClr val="dk1"/>
              </a:solidFill>
              <a:latin typeface="Calibri"/>
              <a:ea typeface="Calibri"/>
              <a:cs typeface="Calibri"/>
              <a:sym typeface="Calibri"/>
            </a:endParaRPr>
          </a:p>
        </p:txBody>
      </p:sp>
      <p:sp>
        <p:nvSpPr>
          <p:cNvPr id="262" name="Google Shape;262;p10"/>
          <p:cNvSpPr/>
          <p:nvPr/>
        </p:nvSpPr>
        <p:spPr>
          <a:xfrm>
            <a:off x="457200" y="6473952"/>
            <a:ext cx="18288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B93A7"/>
              </a:buClr>
              <a:buSzPts val="1000"/>
              <a:buFont typeface="Calibri"/>
              <a:buNone/>
            </a:pPr>
            <a:r>
              <a:rPr b="1" i="0" lang="en-US" sz="1000" u="none" cap="none" strike="noStrike">
                <a:solidFill>
                  <a:srgbClr val="8B93A7"/>
                </a:solidFill>
                <a:latin typeface="Calibri"/>
                <a:ea typeface="Calibri"/>
                <a:cs typeface="Calibri"/>
                <a:sym typeface="Calibri"/>
              </a:rPr>
              <a:t>QMA</a:t>
            </a:r>
            <a:endParaRPr b="0" i="0" sz="1000" u="none" cap="none" strike="noStrike">
              <a:solidFill>
                <a:schemeClr val="dk1"/>
              </a:solidFill>
              <a:latin typeface="Calibri"/>
              <a:ea typeface="Calibri"/>
              <a:cs typeface="Calibri"/>
              <a:sym typeface="Calibri"/>
            </a:endParaRPr>
          </a:p>
        </p:txBody>
      </p:sp>
      <p:sp>
        <p:nvSpPr>
          <p:cNvPr id="263" name="Google Shape;263;p10"/>
          <p:cNvSpPr/>
          <p:nvPr/>
        </p:nvSpPr>
        <p:spPr>
          <a:xfrm>
            <a:off x="1828800" y="6473952"/>
            <a:ext cx="45720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B93A7"/>
              </a:buClr>
              <a:buSzPts val="900"/>
              <a:buFont typeface="Calibri"/>
              <a:buNone/>
            </a:pPr>
            <a:r>
              <a:rPr b="0" i="0" lang="en-US" sz="900" u="none" cap="none" strike="noStrike">
                <a:solidFill>
                  <a:srgbClr val="8B93A7"/>
                </a:solidFill>
                <a:latin typeface="Calibri"/>
                <a:ea typeface="Calibri"/>
                <a:cs typeface="Calibri"/>
                <a:sym typeface="Calibri"/>
              </a:rPr>
              <a:t>USDC Commerce</a:t>
            </a:r>
            <a:endParaRPr b="0" i="0" sz="900" u="none" cap="none" strike="noStrike">
              <a:solidFill>
                <a:schemeClr val="dk1"/>
              </a:solidFill>
              <a:latin typeface="Calibri"/>
              <a:ea typeface="Calibri"/>
              <a:cs typeface="Calibri"/>
              <a:sym typeface="Calibri"/>
            </a:endParaRPr>
          </a:p>
        </p:txBody>
      </p:sp>
      <p:sp>
        <p:nvSpPr>
          <p:cNvPr id="264" name="Google Shape;264;p10"/>
          <p:cNvSpPr/>
          <p:nvPr/>
        </p:nvSpPr>
        <p:spPr>
          <a:xfrm>
            <a:off x="10817352" y="6473952"/>
            <a:ext cx="914400" cy="27432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8B93A7"/>
              </a:buClr>
              <a:buSzPts val="1000"/>
              <a:buFont typeface="Calibri"/>
              <a:buNone/>
            </a:pPr>
            <a:r>
              <a:rPr b="0" i="0" lang="en-US" sz="1000" u="none" cap="none" strike="noStrike">
                <a:solidFill>
                  <a:srgbClr val="8B93A7"/>
                </a:solidFill>
                <a:latin typeface="Calibri"/>
                <a:ea typeface="Calibri"/>
                <a:cs typeface="Calibri"/>
                <a:sym typeface="Calibri"/>
              </a:rPr>
              <a:t>08 / 16</a:t>
            </a:r>
            <a:endParaRPr b="0" i="0" sz="1000" u="none" cap="none" strike="noStrike">
              <a:solidFill>
                <a:schemeClr val="dk1"/>
              </a:solidFill>
              <a:latin typeface="Calibri"/>
              <a:ea typeface="Calibri"/>
              <a:cs typeface="Calibri"/>
              <a:sym typeface="Calibri"/>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B0F1C"/>
        </a:solidFill>
      </p:bgPr>
    </p:bg>
    <p:spTree>
      <p:nvGrpSpPr>
        <p:cNvPr id="269" name="Shape 269"/>
        <p:cNvGrpSpPr/>
        <p:nvPr/>
      </p:nvGrpSpPr>
      <p:grpSpPr>
        <a:xfrm>
          <a:off x="0" y="0"/>
          <a:ext cx="0" cy="0"/>
          <a:chOff x="0" y="0"/>
          <a:chExt cx="0" cy="0"/>
        </a:xfrm>
      </p:grpSpPr>
      <p:sp>
        <p:nvSpPr>
          <p:cNvPr id="270" name="Google Shape;270;p11"/>
          <p:cNvSpPr/>
          <p:nvPr/>
        </p:nvSpPr>
        <p:spPr>
          <a:xfrm>
            <a:off x="640080" y="502920"/>
            <a:ext cx="7315200" cy="32004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2DD4BF"/>
              </a:buClr>
              <a:buSzPts val="1200"/>
              <a:buFont typeface="Calibri"/>
              <a:buNone/>
            </a:pPr>
            <a:r>
              <a:rPr b="1" i="0" lang="en-US" sz="1200" u="none" cap="none" strike="noStrike">
                <a:solidFill>
                  <a:srgbClr val="2DD4BF"/>
                </a:solidFill>
                <a:latin typeface="Calibri"/>
                <a:ea typeface="Calibri"/>
                <a:cs typeface="Calibri"/>
                <a:sym typeface="Calibri"/>
              </a:rPr>
              <a:t>TRUST &amp; SAFETY</a:t>
            </a:r>
            <a:endParaRPr b="0" i="0" sz="1200" u="none" cap="none" strike="noStrike">
              <a:solidFill>
                <a:schemeClr val="dk1"/>
              </a:solidFill>
              <a:latin typeface="Calibri"/>
              <a:ea typeface="Calibri"/>
              <a:cs typeface="Calibri"/>
              <a:sym typeface="Calibri"/>
            </a:endParaRPr>
          </a:p>
        </p:txBody>
      </p:sp>
      <p:sp>
        <p:nvSpPr>
          <p:cNvPr id="271" name="Google Shape;271;p11"/>
          <p:cNvSpPr/>
          <p:nvPr/>
        </p:nvSpPr>
        <p:spPr>
          <a:xfrm>
            <a:off x="640080" y="804672"/>
            <a:ext cx="10789920" cy="7315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3400"/>
              <a:buFont typeface="Calibri"/>
              <a:buNone/>
            </a:pPr>
            <a:r>
              <a:rPr b="1" i="0" lang="en-US" sz="3400" u="none" cap="none" strike="noStrike">
                <a:solidFill>
                  <a:srgbClr val="FFFFFF"/>
                </a:solidFill>
                <a:latin typeface="Calibri"/>
                <a:ea typeface="Calibri"/>
                <a:cs typeface="Calibri"/>
                <a:sym typeface="Calibri"/>
              </a:rPr>
              <a:t>Built to Be Trusted With Money</a:t>
            </a:r>
            <a:endParaRPr b="0" i="0" sz="3400" u="none" cap="none" strike="noStrike">
              <a:solidFill>
                <a:schemeClr val="dk1"/>
              </a:solidFill>
              <a:latin typeface="Calibri"/>
              <a:ea typeface="Calibri"/>
              <a:cs typeface="Calibri"/>
              <a:sym typeface="Calibri"/>
            </a:endParaRPr>
          </a:p>
        </p:txBody>
      </p:sp>
      <p:sp>
        <p:nvSpPr>
          <p:cNvPr id="272" name="Google Shape;272;p11"/>
          <p:cNvSpPr/>
          <p:nvPr/>
        </p:nvSpPr>
        <p:spPr>
          <a:xfrm>
            <a:off x="640080" y="1417320"/>
            <a:ext cx="9875520" cy="457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C7CCDA"/>
              </a:buClr>
              <a:buSzPts val="1500"/>
              <a:buFont typeface="Calibri"/>
              <a:buNone/>
            </a:pPr>
            <a:r>
              <a:rPr b="0" i="1" lang="en-US" sz="1500" u="none" cap="none" strike="noStrike">
                <a:solidFill>
                  <a:srgbClr val="C7CCDA"/>
                </a:solidFill>
                <a:latin typeface="Calibri"/>
                <a:ea typeface="Calibri"/>
                <a:cs typeface="Calibri"/>
                <a:sym typeface="Calibri"/>
              </a:rPr>
              <a:t>Non-custodial by design — QMA never holds a user's private keys.</a:t>
            </a:r>
            <a:endParaRPr b="0" i="0" sz="1500" u="none" cap="none" strike="noStrike">
              <a:solidFill>
                <a:schemeClr val="dk1"/>
              </a:solidFill>
              <a:latin typeface="Calibri"/>
              <a:ea typeface="Calibri"/>
              <a:cs typeface="Calibri"/>
              <a:sym typeface="Calibri"/>
            </a:endParaRPr>
          </a:p>
        </p:txBody>
      </p:sp>
      <p:sp>
        <p:nvSpPr>
          <p:cNvPr id="273" name="Google Shape;273;p11"/>
          <p:cNvSpPr/>
          <p:nvPr/>
        </p:nvSpPr>
        <p:spPr>
          <a:xfrm>
            <a:off x="640080" y="2331720"/>
            <a:ext cx="5257800" cy="685800"/>
          </a:xfrm>
          <a:prstGeom prst="roundRect">
            <a:avLst>
              <a:gd fmla="val 12000" name="adj"/>
            </a:avLst>
          </a:prstGeom>
          <a:solidFill>
            <a:srgbClr val="141B2E"/>
          </a:solidFill>
          <a:ln cap="flat" cmpd="sng" w="12700">
            <a:solidFill>
              <a:srgbClr val="232C42"/>
            </a:solidFill>
            <a:prstDash val="solid"/>
            <a:round/>
            <a:headEnd len="sm" w="sm" type="none"/>
            <a:tailEnd len="sm" w="sm" type="none"/>
          </a:ln>
          <a:effectLst>
            <a:outerShdw blurRad="101600" rotWithShape="0" algn="bl" dir="5400000" dist="38100">
              <a:srgbClr val="000000">
                <a:alpha val="34902"/>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4" name="Google Shape;274;p11"/>
          <p:cNvSpPr/>
          <p:nvPr/>
        </p:nvSpPr>
        <p:spPr>
          <a:xfrm>
            <a:off x="896112" y="2564892"/>
            <a:ext cx="219456" cy="219456"/>
          </a:xfrm>
          <a:prstGeom prst="ellipse">
            <a:avLst/>
          </a:prstGeom>
          <a:solidFill>
            <a:srgbClr val="0F1526"/>
          </a:solidFill>
          <a:ln cap="flat" cmpd="sng" w="19050">
            <a:solidFill>
              <a:srgbClr val="34D39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5" name="Google Shape;275;p11"/>
          <p:cNvSpPr/>
          <p:nvPr/>
        </p:nvSpPr>
        <p:spPr>
          <a:xfrm>
            <a:off x="896112" y="2546604"/>
            <a:ext cx="219456" cy="256032"/>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34D399"/>
              </a:buClr>
              <a:buSzPts val="1200"/>
              <a:buFont typeface="Calibri"/>
              <a:buNone/>
            </a:pPr>
            <a:r>
              <a:rPr b="1" i="0" lang="en-US" sz="1200" u="none" cap="none" strike="noStrike">
                <a:solidFill>
                  <a:srgbClr val="34D399"/>
                </a:solidFill>
                <a:latin typeface="Calibri"/>
                <a:ea typeface="Calibri"/>
                <a:cs typeface="Calibri"/>
                <a:sym typeface="Calibri"/>
              </a:rPr>
              <a:t>v</a:t>
            </a:r>
            <a:endParaRPr b="0" i="0" sz="1200" u="none" cap="none" strike="noStrike">
              <a:solidFill>
                <a:schemeClr val="dk1"/>
              </a:solidFill>
              <a:latin typeface="Calibri"/>
              <a:ea typeface="Calibri"/>
              <a:cs typeface="Calibri"/>
              <a:sym typeface="Calibri"/>
            </a:endParaRPr>
          </a:p>
        </p:txBody>
      </p:sp>
      <p:sp>
        <p:nvSpPr>
          <p:cNvPr id="276" name="Google Shape;276;p11"/>
          <p:cNvSpPr/>
          <p:nvPr/>
        </p:nvSpPr>
        <p:spPr>
          <a:xfrm>
            <a:off x="1280160" y="2331720"/>
            <a:ext cx="4434840" cy="6858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1400"/>
              <a:buFont typeface="Calibri"/>
              <a:buNone/>
            </a:pPr>
            <a:r>
              <a:rPr b="1" i="0" lang="en-US" sz="1400" u="none" cap="none" strike="noStrike">
                <a:solidFill>
                  <a:srgbClr val="FFFFFF"/>
                </a:solidFill>
                <a:latin typeface="Calibri"/>
                <a:ea typeface="Calibri"/>
                <a:cs typeface="Calibri"/>
                <a:sym typeface="Calibri"/>
              </a:rPr>
              <a:t>Budget enforcement</a:t>
            </a:r>
            <a:endParaRPr b="0" i="0" sz="1400" u="none" cap="none" strike="noStrike">
              <a:solidFill>
                <a:schemeClr val="dk1"/>
              </a:solidFill>
              <a:latin typeface="Calibri"/>
              <a:ea typeface="Calibri"/>
              <a:cs typeface="Calibri"/>
              <a:sym typeface="Calibri"/>
            </a:endParaRPr>
          </a:p>
        </p:txBody>
      </p:sp>
      <p:sp>
        <p:nvSpPr>
          <p:cNvPr id="277" name="Google Shape;277;p11"/>
          <p:cNvSpPr/>
          <p:nvPr/>
        </p:nvSpPr>
        <p:spPr>
          <a:xfrm>
            <a:off x="6263640" y="2331720"/>
            <a:ext cx="5257800" cy="685800"/>
          </a:xfrm>
          <a:prstGeom prst="roundRect">
            <a:avLst>
              <a:gd fmla="val 12000" name="adj"/>
            </a:avLst>
          </a:prstGeom>
          <a:solidFill>
            <a:srgbClr val="141B2E"/>
          </a:solidFill>
          <a:ln cap="flat" cmpd="sng" w="12700">
            <a:solidFill>
              <a:srgbClr val="232C42"/>
            </a:solidFill>
            <a:prstDash val="solid"/>
            <a:round/>
            <a:headEnd len="sm" w="sm" type="none"/>
            <a:tailEnd len="sm" w="sm" type="none"/>
          </a:ln>
          <a:effectLst>
            <a:outerShdw blurRad="101600" rotWithShape="0" algn="bl" dir="5400000" dist="38100">
              <a:srgbClr val="000000">
                <a:alpha val="34902"/>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8" name="Google Shape;278;p11"/>
          <p:cNvSpPr/>
          <p:nvPr/>
        </p:nvSpPr>
        <p:spPr>
          <a:xfrm>
            <a:off x="6519672" y="2564892"/>
            <a:ext cx="219456" cy="219456"/>
          </a:xfrm>
          <a:prstGeom prst="ellipse">
            <a:avLst/>
          </a:prstGeom>
          <a:solidFill>
            <a:srgbClr val="0F1526"/>
          </a:solidFill>
          <a:ln cap="flat" cmpd="sng" w="19050">
            <a:solidFill>
              <a:srgbClr val="34D39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9" name="Google Shape;279;p11"/>
          <p:cNvSpPr/>
          <p:nvPr/>
        </p:nvSpPr>
        <p:spPr>
          <a:xfrm>
            <a:off x="6519672" y="2546604"/>
            <a:ext cx="219456" cy="256032"/>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34D399"/>
              </a:buClr>
              <a:buSzPts val="1200"/>
              <a:buFont typeface="Calibri"/>
              <a:buNone/>
            </a:pPr>
            <a:r>
              <a:rPr b="1" i="0" lang="en-US" sz="1200" u="none" cap="none" strike="noStrike">
                <a:solidFill>
                  <a:srgbClr val="34D399"/>
                </a:solidFill>
                <a:latin typeface="Calibri"/>
                <a:ea typeface="Calibri"/>
                <a:cs typeface="Calibri"/>
                <a:sym typeface="Calibri"/>
              </a:rPr>
              <a:t>v</a:t>
            </a:r>
            <a:endParaRPr b="0" i="0" sz="1200" u="none" cap="none" strike="noStrike">
              <a:solidFill>
                <a:schemeClr val="dk1"/>
              </a:solidFill>
              <a:latin typeface="Calibri"/>
              <a:ea typeface="Calibri"/>
              <a:cs typeface="Calibri"/>
              <a:sym typeface="Calibri"/>
            </a:endParaRPr>
          </a:p>
        </p:txBody>
      </p:sp>
      <p:sp>
        <p:nvSpPr>
          <p:cNvPr id="280" name="Google Shape;280;p11"/>
          <p:cNvSpPr/>
          <p:nvPr/>
        </p:nvSpPr>
        <p:spPr>
          <a:xfrm>
            <a:off x="6903720" y="2331720"/>
            <a:ext cx="4434840" cy="6858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1400"/>
              <a:buFont typeface="Calibri"/>
              <a:buNone/>
            </a:pPr>
            <a:r>
              <a:rPr b="1" i="0" lang="en-US" sz="1400" u="none" cap="none" strike="noStrike">
                <a:solidFill>
                  <a:srgbClr val="FFFFFF"/>
                </a:solidFill>
                <a:latin typeface="Calibri"/>
                <a:ea typeface="Calibri"/>
                <a:cs typeface="Calibri"/>
                <a:sym typeface="Calibri"/>
              </a:rPr>
              <a:t>Replay protection</a:t>
            </a:r>
            <a:endParaRPr b="0" i="0" sz="1400" u="none" cap="none" strike="noStrike">
              <a:solidFill>
                <a:schemeClr val="dk1"/>
              </a:solidFill>
              <a:latin typeface="Calibri"/>
              <a:ea typeface="Calibri"/>
              <a:cs typeface="Calibri"/>
              <a:sym typeface="Calibri"/>
            </a:endParaRPr>
          </a:p>
        </p:txBody>
      </p:sp>
      <p:sp>
        <p:nvSpPr>
          <p:cNvPr id="281" name="Google Shape;281;p11"/>
          <p:cNvSpPr/>
          <p:nvPr/>
        </p:nvSpPr>
        <p:spPr>
          <a:xfrm>
            <a:off x="640080" y="3337560"/>
            <a:ext cx="5257800" cy="685800"/>
          </a:xfrm>
          <a:prstGeom prst="roundRect">
            <a:avLst>
              <a:gd fmla="val 12000" name="adj"/>
            </a:avLst>
          </a:prstGeom>
          <a:solidFill>
            <a:srgbClr val="141B2E"/>
          </a:solidFill>
          <a:ln cap="flat" cmpd="sng" w="12700">
            <a:solidFill>
              <a:srgbClr val="232C42"/>
            </a:solidFill>
            <a:prstDash val="solid"/>
            <a:round/>
            <a:headEnd len="sm" w="sm" type="none"/>
            <a:tailEnd len="sm" w="sm" type="none"/>
          </a:ln>
          <a:effectLst>
            <a:outerShdw blurRad="101600" rotWithShape="0" algn="bl" dir="5400000" dist="38100">
              <a:srgbClr val="000000">
                <a:alpha val="34902"/>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2" name="Google Shape;282;p11"/>
          <p:cNvSpPr/>
          <p:nvPr/>
        </p:nvSpPr>
        <p:spPr>
          <a:xfrm>
            <a:off x="896112" y="3570732"/>
            <a:ext cx="219456" cy="219456"/>
          </a:xfrm>
          <a:prstGeom prst="ellipse">
            <a:avLst/>
          </a:prstGeom>
          <a:solidFill>
            <a:srgbClr val="0F1526"/>
          </a:solidFill>
          <a:ln cap="flat" cmpd="sng" w="19050">
            <a:solidFill>
              <a:srgbClr val="34D39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3" name="Google Shape;283;p11"/>
          <p:cNvSpPr/>
          <p:nvPr/>
        </p:nvSpPr>
        <p:spPr>
          <a:xfrm>
            <a:off x="896112" y="3552444"/>
            <a:ext cx="219456" cy="256032"/>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34D399"/>
              </a:buClr>
              <a:buSzPts val="1200"/>
              <a:buFont typeface="Calibri"/>
              <a:buNone/>
            </a:pPr>
            <a:r>
              <a:rPr b="1" i="0" lang="en-US" sz="1200" u="none" cap="none" strike="noStrike">
                <a:solidFill>
                  <a:srgbClr val="34D399"/>
                </a:solidFill>
                <a:latin typeface="Calibri"/>
                <a:ea typeface="Calibri"/>
                <a:cs typeface="Calibri"/>
                <a:sym typeface="Calibri"/>
              </a:rPr>
              <a:t>v</a:t>
            </a:r>
            <a:endParaRPr b="0" i="0" sz="1200" u="none" cap="none" strike="noStrike">
              <a:solidFill>
                <a:schemeClr val="dk1"/>
              </a:solidFill>
              <a:latin typeface="Calibri"/>
              <a:ea typeface="Calibri"/>
              <a:cs typeface="Calibri"/>
              <a:sym typeface="Calibri"/>
            </a:endParaRPr>
          </a:p>
        </p:txBody>
      </p:sp>
      <p:sp>
        <p:nvSpPr>
          <p:cNvPr id="284" name="Google Shape;284;p11"/>
          <p:cNvSpPr/>
          <p:nvPr/>
        </p:nvSpPr>
        <p:spPr>
          <a:xfrm>
            <a:off x="1280160" y="3337560"/>
            <a:ext cx="4434840" cy="6858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1400"/>
              <a:buFont typeface="Calibri"/>
              <a:buNone/>
            </a:pPr>
            <a:r>
              <a:rPr b="1" i="0" lang="en-US" sz="1400" u="none" cap="none" strike="noStrike">
                <a:solidFill>
                  <a:srgbClr val="FFFFFF"/>
                </a:solidFill>
                <a:latin typeface="Calibri"/>
                <a:ea typeface="Calibri"/>
                <a:cs typeface="Calibri"/>
                <a:sym typeface="Calibri"/>
              </a:rPr>
              <a:t>Withdrawal limits</a:t>
            </a:r>
            <a:endParaRPr b="0" i="0" sz="1400" u="none" cap="none" strike="noStrike">
              <a:solidFill>
                <a:schemeClr val="dk1"/>
              </a:solidFill>
              <a:latin typeface="Calibri"/>
              <a:ea typeface="Calibri"/>
              <a:cs typeface="Calibri"/>
              <a:sym typeface="Calibri"/>
            </a:endParaRPr>
          </a:p>
        </p:txBody>
      </p:sp>
      <p:sp>
        <p:nvSpPr>
          <p:cNvPr id="285" name="Google Shape;285;p11"/>
          <p:cNvSpPr/>
          <p:nvPr/>
        </p:nvSpPr>
        <p:spPr>
          <a:xfrm>
            <a:off x="6263640" y="3337560"/>
            <a:ext cx="5257800" cy="685800"/>
          </a:xfrm>
          <a:prstGeom prst="roundRect">
            <a:avLst>
              <a:gd fmla="val 12000" name="adj"/>
            </a:avLst>
          </a:prstGeom>
          <a:solidFill>
            <a:srgbClr val="141B2E"/>
          </a:solidFill>
          <a:ln cap="flat" cmpd="sng" w="12700">
            <a:solidFill>
              <a:srgbClr val="232C42"/>
            </a:solidFill>
            <a:prstDash val="solid"/>
            <a:round/>
            <a:headEnd len="sm" w="sm" type="none"/>
            <a:tailEnd len="sm" w="sm" type="none"/>
          </a:ln>
          <a:effectLst>
            <a:outerShdw blurRad="101600" rotWithShape="0" algn="bl" dir="5400000" dist="38100">
              <a:srgbClr val="000000">
                <a:alpha val="34902"/>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6" name="Google Shape;286;p11"/>
          <p:cNvSpPr/>
          <p:nvPr/>
        </p:nvSpPr>
        <p:spPr>
          <a:xfrm>
            <a:off x="6519672" y="3570732"/>
            <a:ext cx="219456" cy="219456"/>
          </a:xfrm>
          <a:prstGeom prst="ellipse">
            <a:avLst/>
          </a:prstGeom>
          <a:solidFill>
            <a:srgbClr val="0F1526"/>
          </a:solidFill>
          <a:ln cap="flat" cmpd="sng" w="19050">
            <a:solidFill>
              <a:srgbClr val="34D39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7" name="Google Shape;287;p11"/>
          <p:cNvSpPr/>
          <p:nvPr/>
        </p:nvSpPr>
        <p:spPr>
          <a:xfrm>
            <a:off x="6519672" y="3552444"/>
            <a:ext cx="219456" cy="256032"/>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34D399"/>
              </a:buClr>
              <a:buSzPts val="1200"/>
              <a:buFont typeface="Calibri"/>
              <a:buNone/>
            </a:pPr>
            <a:r>
              <a:rPr b="1" i="0" lang="en-US" sz="1200" u="none" cap="none" strike="noStrike">
                <a:solidFill>
                  <a:srgbClr val="34D399"/>
                </a:solidFill>
                <a:latin typeface="Calibri"/>
                <a:ea typeface="Calibri"/>
                <a:cs typeface="Calibri"/>
                <a:sym typeface="Calibri"/>
              </a:rPr>
              <a:t>v</a:t>
            </a:r>
            <a:endParaRPr b="0" i="0" sz="1200" u="none" cap="none" strike="noStrike">
              <a:solidFill>
                <a:schemeClr val="dk1"/>
              </a:solidFill>
              <a:latin typeface="Calibri"/>
              <a:ea typeface="Calibri"/>
              <a:cs typeface="Calibri"/>
              <a:sym typeface="Calibri"/>
            </a:endParaRPr>
          </a:p>
        </p:txBody>
      </p:sp>
      <p:sp>
        <p:nvSpPr>
          <p:cNvPr id="288" name="Google Shape;288;p11"/>
          <p:cNvSpPr/>
          <p:nvPr/>
        </p:nvSpPr>
        <p:spPr>
          <a:xfrm>
            <a:off x="6903720" y="3337560"/>
            <a:ext cx="4434840" cy="6858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1400"/>
              <a:buFont typeface="Calibri"/>
              <a:buNone/>
            </a:pPr>
            <a:r>
              <a:rPr b="1" i="0" lang="en-US" sz="1400" u="none" cap="none" strike="noStrike">
                <a:solidFill>
                  <a:srgbClr val="FFFFFF"/>
                </a:solidFill>
                <a:latin typeface="Calibri"/>
                <a:ea typeface="Calibri"/>
                <a:cs typeface="Calibri"/>
                <a:sym typeface="Calibri"/>
              </a:rPr>
              <a:t>Webhook sandboxing</a:t>
            </a:r>
            <a:endParaRPr b="0" i="0" sz="1400" u="none" cap="none" strike="noStrike">
              <a:solidFill>
                <a:schemeClr val="dk1"/>
              </a:solidFill>
              <a:latin typeface="Calibri"/>
              <a:ea typeface="Calibri"/>
              <a:cs typeface="Calibri"/>
              <a:sym typeface="Calibri"/>
            </a:endParaRPr>
          </a:p>
        </p:txBody>
      </p:sp>
      <p:sp>
        <p:nvSpPr>
          <p:cNvPr id="289" name="Google Shape;289;p11"/>
          <p:cNvSpPr/>
          <p:nvPr/>
        </p:nvSpPr>
        <p:spPr>
          <a:xfrm>
            <a:off x="640080" y="4343400"/>
            <a:ext cx="5257800" cy="685800"/>
          </a:xfrm>
          <a:prstGeom prst="roundRect">
            <a:avLst>
              <a:gd fmla="val 12000" name="adj"/>
            </a:avLst>
          </a:prstGeom>
          <a:solidFill>
            <a:srgbClr val="141B2E"/>
          </a:solidFill>
          <a:ln cap="flat" cmpd="sng" w="12700">
            <a:solidFill>
              <a:srgbClr val="232C42"/>
            </a:solidFill>
            <a:prstDash val="solid"/>
            <a:round/>
            <a:headEnd len="sm" w="sm" type="none"/>
            <a:tailEnd len="sm" w="sm" type="none"/>
          </a:ln>
          <a:effectLst>
            <a:outerShdw blurRad="101600" rotWithShape="0" algn="bl" dir="5400000" dist="38100">
              <a:srgbClr val="000000">
                <a:alpha val="34902"/>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0" name="Google Shape;290;p11"/>
          <p:cNvSpPr/>
          <p:nvPr/>
        </p:nvSpPr>
        <p:spPr>
          <a:xfrm>
            <a:off x="896112" y="4576572"/>
            <a:ext cx="219456" cy="219456"/>
          </a:xfrm>
          <a:prstGeom prst="ellipse">
            <a:avLst/>
          </a:prstGeom>
          <a:solidFill>
            <a:srgbClr val="0F1526"/>
          </a:solidFill>
          <a:ln cap="flat" cmpd="sng" w="19050">
            <a:solidFill>
              <a:srgbClr val="34D39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1" name="Google Shape;291;p11"/>
          <p:cNvSpPr/>
          <p:nvPr/>
        </p:nvSpPr>
        <p:spPr>
          <a:xfrm>
            <a:off x="896112" y="4558284"/>
            <a:ext cx="219456" cy="256032"/>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34D399"/>
              </a:buClr>
              <a:buSzPts val="1200"/>
              <a:buFont typeface="Calibri"/>
              <a:buNone/>
            </a:pPr>
            <a:r>
              <a:rPr b="1" i="0" lang="en-US" sz="1200" u="none" cap="none" strike="noStrike">
                <a:solidFill>
                  <a:srgbClr val="34D399"/>
                </a:solidFill>
                <a:latin typeface="Calibri"/>
                <a:ea typeface="Calibri"/>
                <a:cs typeface="Calibri"/>
                <a:sym typeface="Calibri"/>
              </a:rPr>
              <a:t>v</a:t>
            </a:r>
            <a:endParaRPr b="0" i="0" sz="1200" u="none" cap="none" strike="noStrike">
              <a:solidFill>
                <a:schemeClr val="dk1"/>
              </a:solidFill>
              <a:latin typeface="Calibri"/>
              <a:ea typeface="Calibri"/>
              <a:cs typeface="Calibri"/>
              <a:sym typeface="Calibri"/>
            </a:endParaRPr>
          </a:p>
        </p:txBody>
      </p:sp>
      <p:sp>
        <p:nvSpPr>
          <p:cNvPr id="292" name="Google Shape;292;p11"/>
          <p:cNvSpPr/>
          <p:nvPr/>
        </p:nvSpPr>
        <p:spPr>
          <a:xfrm>
            <a:off x="1280160" y="4343400"/>
            <a:ext cx="4434840" cy="6858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1400"/>
              <a:buFont typeface="Calibri"/>
              <a:buNone/>
            </a:pPr>
            <a:r>
              <a:rPr b="1" i="0" lang="en-US" sz="1400" u="none" cap="none" strike="noStrike">
                <a:solidFill>
                  <a:srgbClr val="FFFFFF"/>
                </a:solidFill>
                <a:latin typeface="Calibri"/>
                <a:ea typeface="Calibri"/>
                <a:cs typeface="Calibri"/>
                <a:sym typeface="Calibri"/>
              </a:rPr>
              <a:t>Verification locks</a:t>
            </a:r>
            <a:endParaRPr b="0" i="0" sz="1400" u="none" cap="none" strike="noStrike">
              <a:solidFill>
                <a:schemeClr val="dk1"/>
              </a:solidFill>
              <a:latin typeface="Calibri"/>
              <a:ea typeface="Calibri"/>
              <a:cs typeface="Calibri"/>
              <a:sym typeface="Calibri"/>
            </a:endParaRPr>
          </a:p>
        </p:txBody>
      </p:sp>
      <p:sp>
        <p:nvSpPr>
          <p:cNvPr id="293" name="Google Shape;293;p11"/>
          <p:cNvSpPr/>
          <p:nvPr/>
        </p:nvSpPr>
        <p:spPr>
          <a:xfrm>
            <a:off x="6263640" y="4343400"/>
            <a:ext cx="5257800" cy="685800"/>
          </a:xfrm>
          <a:prstGeom prst="roundRect">
            <a:avLst>
              <a:gd fmla="val 12000" name="adj"/>
            </a:avLst>
          </a:prstGeom>
          <a:solidFill>
            <a:srgbClr val="141B2E"/>
          </a:solidFill>
          <a:ln cap="flat" cmpd="sng" w="12700">
            <a:solidFill>
              <a:srgbClr val="232C42"/>
            </a:solidFill>
            <a:prstDash val="solid"/>
            <a:round/>
            <a:headEnd len="sm" w="sm" type="none"/>
            <a:tailEnd len="sm" w="sm" type="none"/>
          </a:ln>
          <a:effectLst>
            <a:outerShdw blurRad="101600" rotWithShape="0" algn="bl" dir="5400000" dist="38100">
              <a:srgbClr val="000000">
                <a:alpha val="34902"/>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4" name="Google Shape;294;p11"/>
          <p:cNvSpPr/>
          <p:nvPr/>
        </p:nvSpPr>
        <p:spPr>
          <a:xfrm>
            <a:off x="6519672" y="4576572"/>
            <a:ext cx="219456" cy="219456"/>
          </a:xfrm>
          <a:prstGeom prst="ellipse">
            <a:avLst/>
          </a:prstGeom>
          <a:solidFill>
            <a:srgbClr val="0F1526"/>
          </a:solidFill>
          <a:ln cap="flat" cmpd="sng" w="19050">
            <a:solidFill>
              <a:srgbClr val="34D39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5" name="Google Shape;295;p11"/>
          <p:cNvSpPr/>
          <p:nvPr/>
        </p:nvSpPr>
        <p:spPr>
          <a:xfrm>
            <a:off x="6519672" y="4558284"/>
            <a:ext cx="219456" cy="256032"/>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34D399"/>
              </a:buClr>
              <a:buSzPts val="1200"/>
              <a:buFont typeface="Calibri"/>
              <a:buNone/>
            </a:pPr>
            <a:r>
              <a:rPr b="1" i="0" lang="en-US" sz="1200" u="none" cap="none" strike="noStrike">
                <a:solidFill>
                  <a:srgbClr val="34D399"/>
                </a:solidFill>
                <a:latin typeface="Calibri"/>
                <a:ea typeface="Calibri"/>
                <a:cs typeface="Calibri"/>
                <a:sym typeface="Calibri"/>
              </a:rPr>
              <a:t>v</a:t>
            </a:r>
            <a:endParaRPr b="0" i="0" sz="1200" u="none" cap="none" strike="noStrike">
              <a:solidFill>
                <a:schemeClr val="dk1"/>
              </a:solidFill>
              <a:latin typeface="Calibri"/>
              <a:ea typeface="Calibri"/>
              <a:cs typeface="Calibri"/>
              <a:sym typeface="Calibri"/>
            </a:endParaRPr>
          </a:p>
        </p:txBody>
      </p:sp>
      <p:sp>
        <p:nvSpPr>
          <p:cNvPr id="296" name="Google Shape;296;p11"/>
          <p:cNvSpPr/>
          <p:nvPr/>
        </p:nvSpPr>
        <p:spPr>
          <a:xfrm>
            <a:off x="6903720" y="4343400"/>
            <a:ext cx="4434840" cy="6858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1400"/>
              <a:buFont typeface="Calibri"/>
              <a:buNone/>
            </a:pPr>
            <a:r>
              <a:rPr b="1" i="0" lang="en-US" sz="1400" u="none" cap="none" strike="noStrike">
                <a:solidFill>
                  <a:srgbClr val="FFFFFF"/>
                </a:solidFill>
                <a:latin typeface="Calibri"/>
                <a:ea typeface="Calibri"/>
                <a:cs typeface="Calibri"/>
                <a:sym typeface="Calibri"/>
              </a:rPr>
              <a:t>Idempotent, duplicate-safe charges</a:t>
            </a:r>
            <a:endParaRPr b="0" i="0" sz="1400" u="none" cap="none" strike="noStrike">
              <a:solidFill>
                <a:schemeClr val="dk1"/>
              </a:solidFill>
              <a:latin typeface="Calibri"/>
              <a:ea typeface="Calibri"/>
              <a:cs typeface="Calibri"/>
              <a:sym typeface="Calibri"/>
            </a:endParaRPr>
          </a:p>
        </p:txBody>
      </p:sp>
      <p:sp>
        <p:nvSpPr>
          <p:cNvPr id="297" name="Google Shape;297;p11"/>
          <p:cNvSpPr/>
          <p:nvPr/>
        </p:nvSpPr>
        <p:spPr>
          <a:xfrm>
            <a:off x="640080" y="5440680"/>
            <a:ext cx="10881360" cy="54864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B93A7"/>
              </a:buClr>
              <a:buSzPts val="1050"/>
              <a:buFont typeface="Calibri"/>
              <a:buNone/>
            </a:pPr>
            <a:r>
              <a:rPr b="0" i="1" lang="en-US" sz="1050" u="none" cap="none" strike="noStrike">
                <a:solidFill>
                  <a:srgbClr val="8B93A7"/>
                </a:solidFill>
                <a:latin typeface="Calibri"/>
                <a:ea typeface="Calibri"/>
                <a:cs typeface="Calibri"/>
                <a:sym typeface="Calibri"/>
              </a:rPr>
              <a:t>Every claim above is drawn from the required audit narrative and must be verified against the Code Audit Report before publishing — several of these terms do not yet appear anywhere in the current implementation-facing deck.</a:t>
            </a:r>
            <a:endParaRPr b="0" i="0" sz="1050" u="none" cap="none" strike="noStrike">
              <a:solidFill>
                <a:schemeClr val="dk1"/>
              </a:solidFill>
              <a:latin typeface="Calibri"/>
              <a:ea typeface="Calibri"/>
              <a:cs typeface="Calibri"/>
              <a:sym typeface="Calibri"/>
            </a:endParaRPr>
          </a:p>
        </p:txBody>
      </p:sp>
      <p:sp>
        <p:nvSpPr>
          <p:cNvPr id="298" name="Google Shape;298;p11"/>
          <p:cNvSpPr/>
          <p:nvPr/>
        </p:nvSpPr>
        <p:spPr>
          <a:xfrm>
            <a:off x="457200" y="6473952"/>
            <a:ext cx="18288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B93A7"/>
              </a:buClr>
              <a:buSzPts val="1000"/>
              <a:buFont typeface="Calibri"/>
              <a:buNone/>
            </a:pPr>
            <a:r>
              <a:rPr b="1" i="0" lang="en-US" sz="1000" u="none" cap="none" strike="noStrike">
                <a:solidFill>
                  <a:srgbClr val="8B93A7"/>
                </a:solidFill>
                <a:latin typeface="Calibri"/>
                <a:ea typeface="Calibri"/>
                <a:cs typeface="Calibri"/>
                <a:sym typeface="Calibri"/>
              </a:rPr>
              <a:t>QMA</a:t>
            </a:r>
            <a:endParaRPr b="0" i="0" sz="1000" u="none" cap="none" strike="noStrike">
              <a:solidFill>
                <a:schemeClr val="dk1"/>
              </a:solidFill>
              <a:latin typeface="Calibri"/>
              <a:ea typeface="Calibri"/>
              <a:cs typeface="Calibri"/>
              <a:sym typeface="Calibri"/>
            </a:endParaRPr>
          </a:p>
        </p:txBody>
      </p:sp>
      <p:sp>
        <p:nvSpPr>
          <p:cNvPr id="299" name="Google Shape;299;p11"/>
          <p:cNvSpPr/>
          <p:nvPr/>
        </p:nvSpPr>
        <p:spPr>
          <a:xfrm>
            <a:off x="1828800" y="6473952"/>
            <a:ext cx="45720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B93A7"/>
              </a:buClr>
              <a:buSzPts val="900"/>
              <a:buFont typeface="Calibri"/>
              <a:buNone/>
            </a:pPr>
            <a:r>
              <a:rPr b="0" i="0" lang="en-US" sz="900" u="none" cap="none" strike="noStrike">
                <a:solidFill>
                  <a:srgbClr val="8B93A7"/>
                </a:solidFill>
                <a:latin typeface="Calibri"/>
                <a:ea typeface="Calibri"/>
                <a:cs typeface="Calibri"/>
                <a:sym typeface="Calibri"/>
              </a:rPr>
              <a:t>Security</a:t>
            </a:r>
            <a:endParaRPr b="0" i="0" sz="900" u="none" cap="none" strike="noStrike">
              <a:solidFill>
                <a:schemeClr val="dk1"/>
              </a:solidFill>
              <a:latin typeface="Calibri"/>
              <a:ea typeface="Calibri"/>
              <a:cs typeface="Calibri"/>
              <a:sym typeface="Calibri"/>
            </a:endParaRPr>
          </a:p>
        </p:txBody>
      </p:sp>
      <p:sp>
        <p:nvSpPr>
          <p:cNvPr id="300" name="Google Shape;300;p11"/>
          <p:cNvSpPr/>
          <p:nvPr/>
        </p:nvSpPr>
        <p:spPr>
          <a:xfrm>
            <a:off x="10817352" y="6473952"/>
            <a:ext cx="914400" cy="27432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8B93A7"/>
              </a:buClr>
              <a:buSzPts val="1000"/>
              <a:buFont typeface="Calibri"/>
              <a:buNone/>
            </a:pPr>
            <a:r>
              <a:rPr b="0" i="0" lang="en-US" sz="1000" u="none" cap="none" strike="noStrike">
                <a:solidFill>
                  <a:srgbClr val="8B93A7"/>
                </a:solidFill>
                <a:latin typeface="Calibri"/>
                <a:ea typeface="Calibri"/>
                <a:cs typeface="Calibri"/>
                <a:sym typeface="Calibri"/>
              </a:rPr>
              <a:t>09 / 16</a:t>
            </a:r>
            <a:endParaRPr b="0" i="0" sz="1000" u="none" cap="none" strike="noStrike">
              <a:solidFill>
                <a:schemeClr val="dk1"/>
              </a:solidFill>
              <a:latin typeface="Calibri"/>
              <a:ea typeface="Calibri"/>
              <a:cs typeface="Calibri"/>
              <a:sym typeface="Calibri"/>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B0F1C"/>
        </a:solidFill>
      </p:bgPr>
    </p:bg>
    <p:spTree>
      <p:nvGrpSpPr>
        <p:cNvPr id="305" name="Shape 305"/>
        <p:cNvGrpSpPr/>
        <p:nvPr/>
      </p:nvGrpSpPr>
      <p:grpSpPr>
        <a:xfrm>
          <a:off x="0" y="0"/>
          <a:ext cx="0" cy="0"/>
          <a:chOff x="0" y="0"/>
          <a:chExt cx="0" cy="0"/>
        </a:xfrm>
      </p:grpSpPr>
      <p:sp>
        <p:nvSpPr>
          <p:cNvPr id="306" name="Google Shape;306;p12"/>
          <p:cNvSpPr/>
          <p:nvPr/>
        </p:nvSpPr>
        <p:spPr>
          <a:xfrm>
            <a:off x="640080" y="502920"/>
            <a:ext cx="7315200" cy="32004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34D399"/>
              </a:buClr>
              <a:buSzPts val="1200"/>
              <a:buFont typeface="Calibri"/>
              <a:buNone/>
            </a:pPr>
            <a:r>
              <a:rPr b="1" i="0" lang="en-US" sz="1200" u="none" cap="none" strike="noStrike">
                <a:solidFill>
                  <a:srgbClr val="34D399"/>
                </a:solidFill>
                <a:latin typeface="Calibri"/>
                <a:ea typeface="Calibri"/>
                <a:cs typeface="Calibri"/>
                <a:sym typeface="Calibri"/>
              </a:rPr>
              <a:t>PRODUCT EXPERIENCE</a:t>
            </a:r>
            <a:endParaRPr b="0" i="0" sz="1200" u="none" cap="none" strike="noStrike">
              <a:solidFill>
                <a:schemeClr val="dk1"/>
              </a:solidFill>
              <a:latin typeface="Calibri"/>
              <a:ea typeface="Calibri"/>
              <a:cs typeface="Calibri"/>
              <a:sym typeface="Calibri"/>
            </a:endParaRPr>
          </a:p>
        </p:txBody>
      </p:sp>
      <p:sp>
        <p:nvSpPr>
          <p:cNvPr id="307" name="Google Shape;307;p12"/>
          <p:cNvSpPr/>
          <p:nvPr/>
        </p:nvSpPr>
        <p:spPr>
          <a:xfrm>
            <a:off x="640080" y="804672"/>
            <a:ext cx="10789920" cy="7315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3400"/>
              <a:buFont typeface="Calibri"/>
              <a:buNone/>
            </a:pPr>
            <a:r>
              <a:rPr b="1" i="0" lang="en-US" sz="3400" u="none" cap="none" strike="noStrike">
                <a:solidFill>
                  <a:srgbClr val="FFFFFF"/>
                </a:solidFill>
                <a:latin typeface="Calibri"/>
                <a:ea typeface="Calibri"/>
                <a:cs typeface="Calibri"/>
                <a:sym typeface="Calibri"/>
              </a:rPr>
              <a:t>See It Work</a:t>
            </a:r>
            <a:endParaRPr b="0" i="0" sz="3400" u="none" cap="none" strike="noStrike">
              <a:solidFill>
                <a:schemeClr val="dk1"/>
              </a:solidFill>
              <a:latin typeface="Calibri"/>
              <a:ea typeface="Calibri"/>
              <a:cs typeface="Calibri"/>
              <a:sym typeface="Calibri"/>
            </a:endParaRPr>
          </a:p>
        </p:txBody>
      </p:sp>
      <p:sp>
        <p:nvSpPr>
          <p:cNvPr id="308" name="Google Shape;308;p12"/>
          <p:cNvSpPr/>
          <p:nvPr/>
        </p:nvSpPr>
        <p:spPr>
          <a:xfrm>
            <a:off x="640080" y="1417320"/>
            <a:ext cx="9875520" cy="457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C7CCDA"/>
              </a:buClr>
              <a:buSzPts val="1500"/>
              <a:buFont typeface="Calibri"/>
              <a:buNone/>
            </a:pPr>
            <a:r>
              <a:rPr b="0" i="1" lang="en-US" sz="1500" u="none" cap="none" strike="noStrike">
                <a:solidFill>
                  <a:srgbClr val="C7CCDA"/>
                </a:solidFill>
                <a:latin typeface="Calibri"/>
                <a:ea typeface="Calibri"/>
                <a:cs typeface="Calibri"/>
                <a:sym typeface="Calibri"/>
              </a:rPr>
              <a:t>Real product, real user journey — screenshots pending Screenshot Gallery.</a:t>
            </a:r>
            <a:endParaRPr b="0" i="0" sz="1500" u="none" cap="none" strike="noStrike">
              <a:solidFill>
                <a:schemeClr val="dk1"/>
              </a:solidFill>
              <a:latin typeface="Calibri"/>
              <a:ea typeface="Calibri"/>
              <a:cs typeface="Calibri"/>
              <a:sym typeface="Calibri"/>
            </a:endParaRPr>
          </a:p>
        </p:txBody>
      </p:sp>
      <p:sp>
        <p:nvSpPr>
          <p:cNvPr id="309" name="Google Shape;309;p12"/>
          <p:cNvSpPr/>
          <p:nvPr/>
        </p:nvSpPr>
        <p:spPr>
          <a:xfrm>
            <a:off x="640080" y="2377440"/>
            <a:ext cx="1971446" cy="3200400"/>
          </a:xfrm>
          <a:prstGeom prst="roundRect">
            <a:avLst>
              <a:gd fmla="val 4174" name="adj"/>
            </a:avLst>
          </a:prstGeom>
          <a:solidFill>
            <a:srgbClr val="0F1526"/>
          </a:solidFill>
          <a:ln cap="flat" cmpd="sng" w="12700">
            <a:solidFill>
              <a:srgbClr val="232C42"/>
            </a:solidFill>
            <a:prstDash val="solid"/>
            <a:round/>
            <a:headEnd len="sm" w="sm" type="none"/>
            <a:tailEnd len="sm" w="sm" type="none"/>
          </a:ln>
          <a:effectLst>
            <a:outerShdw blurRad="101600" rotWithShape="0" algn="bl" dir="5400000" dist="38100">
              <a:srgbClr val="000000">
                <a:alpha val="34902"/>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0" name="Google Shape;310;p12"/>
          <p:cNvSpPr/>
          <p:nvPr/>
        </p:nvSpPr>
        <p:spPr>
          <a:xfrm>
            <a:off x="804672" y="2542032"/>
            <a:ext cx="1642262" cy="2423160"/>
          </a:xfrm>
          <a:prstGeom prst="roundRect">
            <a:avLst>
              <a:gd fmla="val 2784" name="adj"/>
            </a:avLst>
          </a:prstGeom>
          <a:solidFill>
            <a:srgbClr val="0A0E18"/>
          </a:solidFill>
          <a:ln cap="flat" cmpd="sng" w="12700">
            <a:solidFill>
              <a:srgbClr val="232C42"/>
            </a:solidFill>
            <a:prstDash val="dash"/>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1" name="Google Shape;311;p12"/>
          <p:cNvSpPr/>
          <p:nvPr/>
        </p:nvSpPr>
        <p:spPr>
          <a:xfrm>
            <a:off x="804672" y="2542032"/>
            <a:ext cx="1642262" cy="242316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8B93A7"/>
              </a:buClr>
              <a:buSzPts val="1050"/>
              <a:buFont typeface="Calibri"/>
              <a:buNone/>
            </a:pPr>
            <a:r>
              <a:rPr b="0" i="0" lang="en-US" sz="1050" u="none" cap="none" strike="noStrike">
                <a:solidFill>
                  <a:srgbClr val="8B93A7"/>
                </a:solidFill>
                <a:latin typeface="Calibri"/>
                <a:ea typeface="Calibri"/>
                <a:cs typeface="Calibri"/>
                <a:sym typeface="Calibri"/>
              </a:rPr>
              <a:t>Screenshot</a:t>
            </a:r>
            <a:endParaRPr b="0" i="0" sz="1050" u="none" cap="none" strike="noStrike">
              <a:solidFill>
                <a:schemeClr val="dk1"/>
              </a:solidFill>
              <a:latin typeface="Calibri"/>
              <a:ea typeface="Calibri"/>
              <a:cs typeface="Calibri"/>
              <a:sym typeface="Calibri"/>
            </a:endParaRPr>
          </a:p>
          <a:p>
            <a:pPr indent="0" lvl="0" marL="0" marR="0" rtl="0" algn="ctr">
              <a:spcBef>
                <a:spcPts val="0"/>
              </a:spcBef>
              <a:spcAft>
                <a:spcPts val="0"/>
              </a:spcAft>
              <a:buClr>
                <a:srgbClr val="8B93A7"/>
              </a:buClr>
              <a:buSzPts val="1050"/>
              <a:buFont typeface="Calibri"/>
              <a:buNone/>
            </a:pPr>
            <a:r>
              <a:rPr b="0" i="0" lang="en-US" sz="1050" u="none" cap="none" strike="noStrike">
                <a:solidFill>
                  <a:srgbClr val="8B93A7"/>
                </a:solidFill>
                <a:latin typeface="Calibri"/>
                <a:ea typeface="Calibri"/>
                <a:cs typeface="Calibri"/>
                <a:sym typeface="Calibri"/>
              </a:rPr>
              <a:t>pending</a:t>
            </a:r>
            <a:endParaRPr b="0" i="0" sz="1050" u="none" cap="none" strike="noStrike">
              <a:solidFill>
                <a:schemeClr val="dk1"/>
              </a:solidFill>
              <a:latin typeface="Calibri"/>
              <a:ea typeface="Calibri"/>
              <a:cs typeface="Calibri"/>
              <a:sym typeface="Calibri"/>
            </a:endParaRPr>
          </a:p>
        </p:txBody>
      </p:sp>
      <p:sp>
        <p:nvSpPr>
          <p:cNvPr id="312" name="Google Shape;312;p12"/>
          <p:cNvSpPr/>
          <p:nvPr/>
        </p:nvSpPr>
        <p:spPr>
          <a:xfrm>
            <a:off x="804672" y="5010912"/>
            <a:ext cx="365760" cy="32004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2DD4BF"/>
              </a:buClr>
              <a:buSzPts val="1100"/>
              <a:buFont typeface="Calibri"/>
              <a:buNone/>
            </a:pPr>
            <a:r>
              <a:rPr b="1" i="0" lang="en-US" sz="1100" u="none" cap="none" strike="noStrike">
                <a:solidFill>
                  <a:srgbClr val="2DD4BF"/>
                </a:solidFill>
                <a:latin typeface="Calibri"/>
                <a:ea typeface="Calibri"/>
                <a:cs typeface="Calibri"/>
                <a:sym typeface="Calibri"/>
              </a:rPr>
              <a:t>1</a:t>
            </a:r>
            <a:endParaRPr b="0" i="0" sz="1100" u="none" cap="none" strike="noStrike">
              <a:solidFill>
                <a:schemeClr val="dk1"/>
              </a:solidFill>
              <a:latin typeface="Calibri"/>
              <a:ea typeface="Calibri"/>
              <a:cs typeface="Calibri"/>
              <a:sym typeface="Calibri"/>
            </a:endParaRPr>
          </a:p>
        </p:txBody>
      </p:sp>
      <p:sp>
        <p:nvSpPr>
          <p:cNvPr id="313" name="Google Shape;313;p12"/>
          <p:cNvSpPr/>
          <p:nvPr/>
        </p:nvSpPr>
        <p:spPr>
          <a:xfrm>
            <a:off x="1097280" y="5010912"/>
            <a:ext cx="1377086" cy="32004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1150"/>
              <a:buFont typeface="Calibri"/>
              <a:buNone/>
            </a:pPr>
            <a:r>
              <a:rPr b="1" i="0" lang="en-US" sz="1150" u="none" cap="none" strike="noStrike">
                <a:solidFill>
                  <a:srgbClr val="FFFFFF"/>
                </a:solidFill>
                <a:latin typeface="Calibri"/>
                <a:ea typeface="Calibri"/>
                <a:cs typeface="Calibri"/>
                <a:sym typeface="Calibri"/>
              </a:rPr>
              <a:t>Landing Page</a:t>
            </a:r>
            <a:endParaRPr b="0" i="0" sz="1150" u="none" cap="none" strike="noStrike">
              <a:solidFill>
                <a:schemeClr val="dk1"/>
              </a:solidFill>
              <a:latin typeface="Calibri"/>
              <a:ea typeface="Calibri"/>
              <a:cs typeface="Calibri"/>
              <a:sym typeface="Calibri"/>
            </a:endParaRPr>
          </a:p>
        </p:txBody>
      </p:sp>
      <p:sp>
        <p:nvSpPr>
          <p:cNvPr id="314" name="Google Shape;314;p12"/>
          <p:cNvSpPr/>
          <p:nvPr/>
        </p:nvSpPr>
        <p:spPr>
          <a:xfrm>
            <a:off x="2867558" y="2377440"/>
            <a:ext cx="1971446" cy="3200400"/>
          </a:xfrm>
          <a:prstGeom prst="roundRect">
            <a:avLst>
              <a:gd fmla="val 4174" name="adj"/>
            </a:avLst>
          </a:prstGeom>
          <a:solidFill>
            <a:srgbClr val="0F1526"/>
          </a:solidFill>
          <a:ln cap="flat" cmpd="sng" w="12700">
            <a:solidFill>
              <a:srgbClr val="232C42"/>
            </a:solidFill>
            <a:prstDash val="solid"/>
            <a:round/>
            <a:headEnd len="sm" w="sm" type="none"/>
            <a:tailEnd len="sm" w="sm" type="none"/>
          </a:ln>
          <a:effectLst>
            <a:outerShdw blurRad="101600" rotWithShape="0" algn="bl" dir="5400000" dist="38100">
              <a:srgbClr val="000000">
                <a:alpha val="34902"/>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5" name="Google Shape;315;p12"/>
          <p:cNvSpPr/>
          <p:nvPr/>
        </p:nvSpPr>
        <p:spPr>
          <a:xfrm>
            <a:off x="3032150" y="2542032"/>
            <a:ext cx="1642262" cy="2423160"/>
          </a:xfrm>
          <a:prstGeom prst="roundRect">
            <a:avLst>
              <a:gd fmla="val 2784" name="adj"/>
            </a:avLst>
          </a:prstGeom>
          <a:solidFill>
            <a:srgbClr val="0A0E18"/>
          </a:solidFill>
          <a:ln cap="flat" cmpd="sng" w="12700">
            <a:solidFill>
              <a:srgbClr val="232C42"/>
            </a:solidFill>
            <a:prstDash val="dash"/>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6" name="Google Shape;316;p12"/>
          <p:cNvSpPr/>
          <p:nvPr/>
        </p:nvSpPr>
        <p:spPr>
          <a:xfrm>
            <a:off x="3032150" y="2542032"/>
            <a:ext cx="1642262" cy="242316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8B93A7"/>
              </a:buClr>
              <a:buSzPts val="1050"/>
              <a:buFont typeface="Calibri"/>
              <a:buNone/>
            </a:pPr>
            <a:r>
              <a:rPr b="0" i="0" lang="en-US" sz="1050" u="none" cap="none" strike="noStrike">
                <a:solidFill>
                  <a:srgbClr val="8B93A7"/>
                </a:solidFill>
                <a:latin typeface="Calibri"/>
                <a:ea typeface="Calibri"/>
                <a:cs typeface="Calibri"/>
                <a:sym typeface="Calibri"/>
              </a:rPr>
              <a:t>Screenshot</a:t>
            </a:r>
            <a:endParaRPr b="0" i="0" sz="1050" u="none" cap="none" strike="noStrike">
              <a:solidFill>
                <a:schemeClr val="dk1"/>
              </a:solidFill>
              <a:latin typeface="Calibri"/>
              <a:ea typeface="Calibri"/>
              <a:cs typeface="Calibri"/>
              <a:sym typeface="Calibri"/>
            </a:endParaRPr>
          </a:p>
          <a:p>
            <a:pPr indent="0" lvl="0" marL="0" marR="0" rtl="0" algn="ctr">
              <a:spcBef>
                <a:spcPts val="0"/>
              </a:spcBef>
              <a:spcAft>
                <a:spcPts val="0"/>
              </a:spcAft>
              <a:buClr>
                <a:srgbClr val="8B93A7"/>
              </a:buClr>
              <a:buSzPts val="1050"/>
              <a:buFont typeface="Calibri"/>
              <a:buNone/>
            </a:pPr>
            <a:r>
              <a:rPr b="0" i="0" lang="en-US" sz="1050" u="none" cap="none" strike="noStrike">
                <a:solidFill>
                  <a:srgbClr val="8B93A7"/>
                </a:solidFill>
                <a:latin typeface="Calibri"/>
                <a:ea typeface="Calibri"/>
                <a:cs typeface="Calibri"/>
                <a:sym typeface="Calibri"/>
              </a:rPr>
              <a:t>pending</a:t>
            </a:r>
            <a:endParaRPr b="0" i="0" sz="1050" u="none" cap="none" strike="noStrike">
              <a:solidFill>
                <a:schemeClr val="dk1"/>
              </a:solidFill>
              <a:latin typeface="Calibri"/>
              <a:ea typeface="Calibri"/>
              <a:cs typeface="Calibri"/>
              <a:sym typeface="Calibri"/>
            </a:endParaRPr>
          </a:p>
        </p:txBody>
      </p:sp>
      <p:sp>
        <p:nvSpPr>
          <p:cNvPr id="317" name="Google Shape;317;p12"/>
          <p:cNvSpPr/>
          <p:nvPr/>
        </p:nvSpPr>
        <p:spPr>
          <a:xfrm>
            <a:off x="3032150" y="5010912"/>
            <a:ext cx="365760" cy="32004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2DD4BF"/>
              </a:buClr>
              <a:buSzPts val="1100"/>
              <a:buFont typeface="Calibri"/>
              <a:buNone/>
            </a:pPr>
            <a:r>
              <a:rPr b="1" i="0" lang="en-US" sz="1100" u="none" cap="none" strike="noStrike">
                <a:solidFill>
                  <a:srgbClr val="2DD4BF"/>
                </a:solidFill>
                <a:latin typeface="Calibri"/>
                <a:ea typeface="Calibri"/>
                <a:cs typeface="Calibri"/>
                <a:sym typeface="Calibri"/>
              </a:rPr>
              <a:t>2</a:t>
            </a:r>
            <a:endParaRPr b="0" i="0" sz="1100" u="none" cap="none" strike="noStrike">
              <a:solidFill>
                <a:schemeClr val="dk1"/>
              </a:solidFill>
              <a:latin typeface="Calibri"/>
              <a:ea typeface="Calibri"/>
              <a:cs typeface="Calibri"/>
              <a:sym typeface="Calibri"/>
            </a:endParaRPr>
          </a:p>
        </p:txBody>
      </p:sp>
      <p:sp>
        <p:nvSpPr>
          <p:cNvPr id="318" name="Google Shape;318;p12"/>
          <p:cNvSpPr/>
          <p:nvPr/>
        </p:nvSpPr>
        <p:spPr>
          <a:xfrm>
            <a:off x="3324758" y="5010912"/>
            <a:ext cx="1377086" cy="32004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1150"/>
              <a:buFont typeface="Calibri"/>
              <a:buNone/>
            </a:pPr>
            <a:r>
              <a:rPr b="1" i="0" lang="en-US" sz="1150" u="none" cap="none" strike="noStrike">
                <a:solidFill>
                  <a:srgbClr val="FFFFFF"/>
                </a:solidFill>
                <a:latin typeface="Calibri"/>
                <a:ea typeface="Calibri"/>
                <a:cs typeface="Calibri"/>
                <a:sym typeface="Calibri"/>
              </a:rPr>
              <a:t>Marketplace</a:t>
            </a:r>
            <a:endParaRPr b="0" i="0" sz="1150" u="none" cap="none" strike="noStrike">
              <a:solidFill>
                <a:schemeClr val="dk1"/>
              </a:solidFill>
              <a:latin typeface="Calibri"/>
              <a:ea typeface="Calibri"/>
              <a:cs typeface="Calibri"/>
              <a:sym typeface="Calibri"/>
            </a:endParaRPr>
          </a:p>
        </p:txBody>
      </p:sp>
      <p:sp>
        <p:nvSpPr>
          <p:cNvPr id="319" name="Google Shape;319;p12"/>
          <p:cNvSpPr/>
          <p:nvPr/>
        </p:nvSpPr>
        <p:spPr>
          <a:xfrm>
            <a:off x="5095037" y="2377440"/>
            <a:ext cx="1971446" cy="3200400"/>
          </a:xfrm>
          <a:prstGeom prst="roundRect">
            <a:avLst>
              <a:gd fmla="val 4174" name="adj"/>
            </a:avLst>
          </a:prstGeom>
          <a:solidFill>
            <a:srgbClr val="0F1526"/>
          </a:solidFill>
          <a:ln cap="flat" cmpd="sng" w="12700">
            <a:solidFill>
              <a:srgbClr val="232C42"/>
            </a:solidFill>
            <a:prstDash val="solid"/>
            <a:round/>
            <a:headEnd len="sm" w="sm" type="none"/>
            <a:tailEnd len="sm" w="sm" type="none"/>
          </a:ln>
          <a:effectLst>
            <a:outerShdw blurRad="101600" rotWithShape="0" algn="bl" dir="5400000" dist="38100">
              <a:srgbClr val="000000">
                <a:alpha val="34902"/>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0" name="Google Shape;320;p12"/>
          <p:cNvSpPr/>
          <p:nvPr/>
        </p:nvSpPr>
        <p:spPr>
          <a:xfrm>
            <a:off x="5259629" y="2542032"/>
            <a:ext cx="1642262" cy="2423160"/>
          </a:xfrm>
          <a:prstGeom prst="roundRect">
            <a:avLst>
              <a:gd fmla="val 2784" name="adj"/>
            </a:avLst>
          </a:prstGeom>
          <a:solidFill>
            <a:srgbClr val="0A0E18"/>
          </a:solidFill>
          <a:ln cap="flat" cmpd="sng" w="12700">
            <a:solidFill>
              <a:srgbClr val="232C42"/>
            </a:solidFill>
            <a:prstDash val="dash"/>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1" name="Google Shape;321;p12"/>
          <p:cNvSpPr/>
          <p:nvPr/>
        </p:nvSpPr>
        <p:spPr>
          <a:xfrm>
            <a:off x="5259629" y="2542032"/>
            <a:ext cx="1642262" cy="242316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8B93A7"/>
              </a:buClr>
              <a:buSzPts val="1050"/>
              <a:buFont typeface="Calibri"/>
              <a:buNone/>
            </a:pPr>
            <a:r>
              <a:rPr b="0" i="0" lang="en-US" sz="1050" u="none" cap="none" strike="noStrike">
                <a:solidFill>
                  <a:srgbClr val="8B93A7"/>
                </a:solidFill>
                <a:latin typeface="Calibri"/>
                <a:ea typeface="Calibri"/>
                <a:cs typeface="Calibri"/>
                <a:sym typeface="Calibri"/>
              </a:rPr>
              <a:t>Screenshot</a:t>
            </a:r>
            <a:endParaRPr b="0" i="0" sz="1050" u="none" cap="none" strike="noStrike">
              <a:solidFill>
                <a:schemeClr val="dk1"/>
              </a:solidFill>
              <a:latin typeface="Calibri"/>
              <a:ea typeface="Calibri"/>
              <a:cs typeface="Calibri"/>
              <a:sym typeface="Calibri"/>
            </a:endParaRPr>
          </a:p>
          <a:p>
            <a:pPr indent="0" lvl="0" marL="0" marR="0" rtl="0" algn="ctr">
              <a:spcBef>
                <a:spcPts val="0"/>
              </a:spcBef>
              <a:spcAft>
                <a:spcPts val="0"/>
              </a:spcAft>
              <a:buClr>
                <a:srgbClr val="8B93A7"/>
              </a:buClr>
              <a:buSzPts val="1050"/>
              <a:buFont typeface="Calibri"/>
              <a:buNone/>
            </a:pPr>
            <a:r>
              <a:rPr b="0" i="0" lang="en-US" sz="1050" u="none" cap="none" strike="noStrike">
                <a:solidFill>
                  <a:srgbClr val="8B93A7"/>
                </a:solidFill>
                <a:latin typeface="Calibri"/>
                <a:ea typeface="Calibri"/>
                <a:cs typeface="Calibri"/>
                <a:sym typeface="Calibri"/>
              </a:rPr>
              <a:t>pending</a:t>
            </a:r>
            <a:endParaRPr b="0" i="0" sz="1050" u="none" cap="none" strike="noStrike">
              <a:solidFill>
                <a:schemeClr val="dk1"/>
              </a:solidFill>
              <a:latin typeface="Calibri"/>
              <a:ea typeface="Calibri"/>
              <a:cs typeface="Calibri"/>
              <a:sym typeface="Calibri"/>
            </a:endParaRPr>
          </a:p>
        </p:txBody>
      </p:sp>
      <p:sp>
        <p:nvSpPr>
          <p:cNvPr id="322" name="Google Shape;322;p12"/>
          <p:cNvSpPr/>
          <p:nvPr/>
        </p:nvSpPr>
        <p:spPr>
          <a:xfrm>
            <a:off x="5259629" y="5010912"/>
            <a:ext cx="365760" cy="32004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2DD4BF"/>
              </a:buClr>
              <a:buSzPts val="1100"/>
              <a:buFont typeface="Calibri"/>
              <a:buNone/>
            </a:pPr>
            <a:r>
              <a:rPr b="1" i="0" lang="en-US" sz="1100" u="none" cap="none" strike="noStrike">
                <a:solidFill>
                  <a:srgbClr val="2DD4BF"/>
                </a:solidFill>
                <a:latin typeface="Calibri"/>
                <a:ea typeface="Calibri"/>
                <a:cs typeface="Calibri"/>
                <a:sym typeface="Calibri"/>
              </a:rPr>
              <a:t>3</a:t>
            </a:r>
            <a:endParaRPr b="0" i="0" sz="1100" u="none" cap="none" strike="noStrike">
              <a:solidFill>
                <a:schemeClr val="dk1"/>
              </a:solidFill>
              <a:latin typeface="Calibri"/>
              <a:ea typeface="Calibri"/>
              <a:cs typeface="Calibri"/>
              <a:sym typeface="Calibri"/>
            </a:endParaRPr>
          </a:p>
        </p:txBody>
      </p:sp>
      <p:sp>
        <p:nvSpPr>
          <p:cNvPr id="323" name="Google Shape;323;p12"/>
          <p:cNvSpPr/>
          <p:nvPr/>
        </p:nvSpPr>
        <p:spPr>
          <a:xfrm>
            <a:off x="5552237" y="5010912"/>
            <a:ext cx="1377086" cy="32004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1150"/>
              <a:buFont typeface="Calibri"/>
              <a:buNone/>
            </a:pPr>
            <a:r>
              <a:rPr b="1" lang="en-US" sz="1150">
                <a:solidFill>
                  <a:srgbClr val="FFFFFF"/>
                </a:solidFill>
                <a:latin typeface="Calibri"/>
                <a:ea typeface="Calibri"/>
                <a:cs typeface="Calibri"/>
                <a:sym typeface="Calibri"/>
              </a:rPr>
              <a:t>Traction</a:t>
            </a:r>
            <a:endParaRPr b="0" i="0" sz="1150" u="none" cap="none" strike="noStrike">
              <a:solidFill>
                <a:schemeClr val="dk1"/>
              </a:solidFill>
              <a:latin typeface="Calibri"/>
              <a:ea typeface="Calibri"/>
              <a:cs typeface="Calibri"/>
              <a:sym typeface="Calibri"/>
            </a:endParaRPr>
          </a:p>
        </p:txBody>
      </p:sp>
      <p:sp>
        <p:nvSpPr>
          <p:cNvPr id="324" name="Google Shape;324;p12"/>
          <p:cNvSpPr/>
          <p:nvPr/>
        </p:nvSpPr>
        <p:spPr>
          <a:xfrm>
            <a:off x="7322515" y="2377440"/>
            <a:ext cx="1971446" cy="3200400"/>
          </a:xfrm>
          <a:prstGeom prst="roundRect">
            <a:avLst>
              <a:gd fmla="val 4174" name="adj"/>
            </a:avLst>
          </a:prstGeom>
          <a:solidFill>
            <a:srgbClr val="0F1526"/>
          </a:solidFill>
          <a:ln cap="flat" cmpd="sng" w="12700">
            <a:solidFill>
              <a:srgbClr val="232C42"/>
            </a:solidFill>
            <a:prstDash val="solid"/>
            <a:round/>
            <a:headEnd len="sm" w="sm" type="none"/>
            <a:tailEnd len="sm" w="sm" type="none"/>
          </a:ln>
          <a:effectLst>
            <a:outerShdw blurRad="101600" rotWithShape="0" algn="bl" dir="5400000" dist="38100">
              <a:srgbClr val="000000">
                <a:alpha val="34902"/>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5" name="Google Shape;325;p12"/>
          <p:cNvSpPr/>
          <p:nvPr/>
        </p:nvSpPr>
        <p:spPr>
          <a:xfrm>
            <a:off x="7487107" y="2542032"/>
            <a:ext cx="1642262" cy="2423160"/>
          </a:xfrm>
          <a:prstGeom prst="roundRect">
            <a:avLst>
              <a:gd fmla="val 2784" name="adj"/>
            </a:avLst>
          </a:prstGeom>
          <a:solidFill>
            <a:srgbClr val="0A0E18"/>
          </a:solidFill>
          <a:ln cap="flat" cmpd="sng" w="12700">
            <a:solidFill>
              <a:srgbClr val="232C42"/>
            </a:solidFill>
            <a:prstDash val="dash"/>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6" name="Google Shape;326;p12"/>
          <p:cNvSpPr/>
          <p:nvPr/>
        </p:nvSpPr>
        <p:spPr>
          <a:xfrm>
            <a:off x="7487107" y="2542032"/>
            <a:ext cx="1642262" cy="242316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8B93A7"/>
              </a:buClr>
              <a:buSzPts val="1050"/>
              <a:buFont typeface="Calibri"/>
              <a:buNone/>
            </a:pPr>
            <a:r>
              <a:rPr b="0" i="0" lang="en-US" sz="1050" u="none" cap="none" strike="noStrike">
                <a:solidFill>
                  <a:srgbClr val="8B93A7"/>
                </a:solidFill>
                <a:latin typeface="Calibri"/>
                <a:ea typeface="Calibri"/>
                <a:cs typeface="Calibri"/>
                <a:sym typeface="Calibri"/>
              </a:rPr>
              <a:t>Screenshot</a:t>
            </a:r>
            <a:endParaRPr b="0" i="0" sz="1050" u="none" cap="none" strike="noStrike">
              <a:solidFill>
                <a:schemeClr val="dk1"/>
              </a:solidFill>
              <a:latin typeface="Calibri"/>
              <a:ea typeface="Calibri"/>
              <a:cs typeface="Calibri"/>
              <a:sym typeface="Calibri"/>
            </a:endParaRPr>
          </a:p>
          <a:p>
            <a:pPr indent="0" lvl="0" marL="0" marR="0" rtl="0" algn="ctr">
              <a:spcBef>
                <a:spcPts val="0"/>
              </a:spcBef>
              <a:spcAft>
                <a:spcPts val="0"/>
              </a:spcAft>
              <a:buClr>
                <a:srgbClr val="8B93A7"/>
              </a:buClr>
              <a:buSzPts val="1050"/>
              <a:buFont typeface="Calibri"/>
              <a:buNone/>
            </a:pPr>
            <a:r>
              <a:rPr b="0" i="0" lang="en-US" sz="1050" u="none" cap="none" strike="noStrike">
                <a:solidFill>
                  <a:srgbClr val="8B93A7"/>
                </a:solidFill>
                <a:latin typeface="Calibri"/>
                <a:ea typeface="Calibri"/>
                <a:cs typeface="Calibri"/>
                <a:sym typeface="Calibri"/>
              </a:rPr>
              <a:t>pending</a:t>
            </a:r>
            <a:endParaRPr b="0" i="0" sz="1050" u="none" cap="none" strike="noStrike">
              <a:solidFill>
                <a:schemeClr val="dk1"/>
              </a:solidFill>
              <a:latin typeface="Calibri"/>
              <a:ea typeface="Calibri"/>
              <a:cs typeface="Calibri"/>
              <a:sym typeface="Calibri"/>
            </a:endParaRPr>
          </a:p>
        </p:txBody>
      </p:sp>
      <p:sp>
        <p:nvSpPr>
          <p:cNvPr id="327" name="Google Shape;327;p12"/>
          <p:cNvSpPr/>
          <p:nvPr/>
        </p:nvSpPr>
        <p:spPr>
          <a:xfrm>
            <a:off x="7487107" y="5010912"/>
            <a:ext cx="365760" cy="32004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2DD4BF"/>
              </a:buClr>
              <a:buSzPts val="1100"/>
              <a:buFont typeface="Calibri"/>
              <a:buNone/>
            </a:pPr>
            <a:r>
              <a:rPr b="1" i="0" lang="en-US" sz="1100" u="none" cap="none" strike="noStrike">
                <a:solidFill>
                  <a:srgbClr val="2DD4BF"/>
                </a:solidFill>
                <a:latin typeface="Calibri"/>
                <a:ea typeface="Calibri"/>
                <a:cs typeface="Calibri"/>
                <a:sym typeface="Calibri"/>
              </a:rPr>
              <a:t>4</a:t>
            </a:r>
            <a:endParaRPr b="0" i="0" sz="1100" u="none" cap="none" strike="noStrike">
              <a:solidFill>
                <a:schemeClr val="dk1"/>
              </a:solidFill>
              <a:latin typeface="Calibri"/>
              <a:ea typeface="Calibri"/>
              <a:cs typeface="Calibri"/>
              <a:sym typeface="Calibri"/>
            </a:endParaRPr>
          </a:p>
        </p:txBody>
      </p:sp>
      <p:sp>
        <p:nvSpPr>
          <p:cNvPr id="328" name="Google Shape;328;p12"/>
          <p:cNvSpPr/>
          <p:nvPr/>
        </p:nvSpPr>
        <p:spPr>
          <a:xfrm>
            <a:off x="7779715" y="5010912"/>
            <a:ext cx="1377086" cy="32004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1150"/>
              <a:buFont typeface="Calibri"/>
              <a:buNone/>
            </a:pPr>
            <a:r>
              <a:rPr b="1" i="0" lang="en-US" sz="1150" u="none" cap="none" strike="noStrike">
                <a:solidFill>
                  <a:srgbClr val="FFFFFF"/>
                </a:solidFill>
                <a:latin typeface="Calibri"/>
                <a:ea typeface="Calibri"/>
                <a:cs typeface="Calibri"/>
                <a:sym typeface="Calibri"/>
              </a:rPr>
              <a:t>Profile</a:t>
            </a:r>
            <a:endParaRPr b="0" i="0" sz="1150" u="none" cap="none" strike="noStrike">
              <a:solidFill>
                <a:schemeClr val="dk1"/>
              </a:solidFill>
              <a:latin typeface="Calibri"/>
              <a:ea typeface="Calibri"/>
              <a:cs typeface="Calibri"/>
              <a:sym typeface="Calibri"/>
            </a:endParaRPr>
          </a:p>
        </p:txBody>
      </p:sp>
      <p:sp>
        <p:nvSpPr>
          <p:cNvPr id="329" name="Google Shape;329;p12"/>
          <p:cNvSpPr/>
          <p:nvPr/>
        </p:nvSpPr>
        <p:spPr>
          <a:xfrm>
            <a:off x="9549994" y="2377440"/>
            <a:ext cx="1971446" cy="3200400"/>
          </a:xfrm>
          <a:prstGeom prst="roundRect">
            <a:avLst>
              <a:gd fmla="val 4174" name="adj"/>
            </a:avLst>
          </a:prstGeom>
          <a:solidFill>
            <a:srgbClr val="0F1526"/>
          </a:solidFill>
          <a:ln cap="flat" cmpd="sng" w="12700">
            <a:solidFill>
              <a:srgbClr val="232C42"/>
            </a:solidFill>
            <a:prstDash val="solid"/>
            <a:round/>
            <a:headEnd len="sm" w="sm" type="none"/>
            <a:tailEnd len="sm" w="sm" type="none"/>
          </a:ln>
          <a:effectLst>
            <a:outerShdw blurRad="101600" rotWithShape="0" algn="bl" dir="5400000" dist="38100">
              <a:srgbClr val="000000">
                <a:alpha val="34902"/>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0" name="Google Shape;330;p12"/>
          <p:cNvSpPr/>
          <p:nvPr/>
        </p:nvSpPr>
        <p:spPr>
          <a:xfrm>
            <a:off x="9714586" y="2542032"/>
            <a:ext cx="1642262" cy="2423160"/>
          </a:xfrm>
          <a:prstGeom prst="roundRect">
            <a:avLst>
              <a:gd fmla="val 2784" name="adj"/>
            </a:avLst>
          </a:prstGeom>
          <a:solidFill>
            <a:srgbClr val="0A0E18"/>
          </a:solidFill>
          <a:ln cap="flat" cmpd="sng" w="12700">
            <a:solidFill>
              <a:srgbClr val="232C42"/>
            </a:solidFill>
            <a:prstDash val="dash"/>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1" name="Google Shape;331;p12"/>
          <p:cNvSpPr/>
          <p:nvPr/>
        </p:nvSpPr>
        <p:spPr>
          <a:xfrm>
            <a:off x="9714586" y="2542032"/>
            <a:ext cx="1642262" cy="242316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8B93A7"/>
              </a:buClr>
              <a:buSzPts val="1050"/>
              <a:buFont typeface="Calibri"/>
              <a:buNone/>
            </a:pPr>
            <a:r>
              <a:rPr b="0" i="0" lang="en-US" sz="1050" u="none" cap="none" strike="noStrike">
                <a:solidFill>
                  <a:srgbClr val="8B93A7"/>
                </a:solidFill>
                <a:latin typeface="Calibri"/>
                <a:ea typeface="Calibri"/>
                <a:cs typeface="Calibri"/>
                <a:sym typeface="Calibri"/>
              </a:rPr>
              <a:t>Screenshot</a:t>
            </a:r>
            <a:endParaRPr b="0" i="0" sz="1050" u="none" cap="none" strike="noStrike">
              <a:solidFill>
                <a:schemeClr val="dk1"/>
              </a:solidFill>
              <a:latin typeface="Calibri"/>
              <a:ea typeface="Calibri"/>
              <a:cs typeface="Calibri"/>
              <a:sym typeface="Calibri"/>
            </a:endParaRPr>
          </a:p>
          <a:p>
            <a:pPr indent="0" lvl="0" marL="0" marR="0" rtl="0" algn="ctr">
              <a:spcBef>
                <a:spcPts val="0"/>
              </a:spcBef>
              <a:spcAft>
                <a:spcPts val="0"/>
              </a:spcAft>
              <a:buClr>
                <a:srgbClr val="8B93A7"/>
              </a:buClr>
              <a:buSzPts val="1050"/>
              <a:buFont typeface="Calibri"/>
              <a:buNone/>
            </a:pPr>
            <a:r>
              <a:rPr b="0" i="0" lang="en-US" sz="1050" u="none" cap="none" strike="noStrike">
                <a:solidFill>
                  <a:srgbClr val="8B93A7"/>
                </a:solidFill>
                <a:latin typeface="Calibri"/>
                <a:ea typeface="Calibri"/>
                <a:cs typeface="Calibri"/>
                <a:sym typeface="Calibri"/>
              </a:rPr>
              <a:t>pending</a:t>
            </a:r>
            <a:endParaRPr b="0" i="0" sz="1050" u="none" cap="none" strike="noStrike">
              <a:solidFill>
                <a:schemeClr val="dk1"/>
              </a:solidFill>
              <a:latin typeface="Calibri"/>
              <a:ea typeface="Calibri"/>
              <a:cs typeface="Calibri"/>
              <a:sym typeface="Calibri"/>
            </a:endParaRPr>
          </a:p>
        </p:txBody>
      </p:sp>
      <p:sp>
        <p:nvSpPr>
          <p:cNvPr id="332" name="Google Shape;332;p12"/>
          <p:cNvSpPr/>
          <p:nvPr/>
        </p:nvSpPr>
        <p:spPr>
          <a:xfrm>
            <a:off x="9714586" y="5010912"/>
            <a:ext cx="365760" cy="32004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2DD4BF"/>
              </a:buClr>
              <a:buSzPts val="1100"/>
              <a:buFont typeface="Calibri"/>
              <a:buNone/>
            </a:pPr>
            <a:r>
              <a:rPr b="1" i="0" lang="en-US" sz="1100" u="none" cap="none" strike="noStrike">
                <a:solidFill>
                  <a:srgbClr val="2DD4BF"/>
                </a:solidFill>
                <a:latin typeface="Calibri"/>
                <a:ea typeface="Calibri"/>
                <a:cs typeface="Calibri"/>
                <a:sym typeface="Calibri"/>
              </a:rPr>
              <a:t>5</a:t>
            </a:r>
            <a:endParaRPr b="0" i="0" sz="1100" u="none" cap="none" strike="noStrike">
              <a:solidFill>
                <a:schemeClr val="dk1"/>
              </a:solidFill>
              <a:latin typeface="Calibri"/>
              <a:ea typeface="Calibri"/>
              <a:cs typeface="Calibri"/>
              <a:sym typeface="Calibri"/>
            </a:endParaRPr>
          </a:p>
        </p:txBody>
      </p:sp>
      <p:sp>
        <p:nvSpPr>
          <p:cNvPr id="333" name="Google Shape;333;p12"/>
          <p:cNvSpPr/>
          <p:nvPr/>
        </p:nvSpPr>
        <p:spPr>
          <a:xfrm>
            <a:off x="10007194" y="5010912"/>
            <a:ext cx="1377086" cy="32004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1150"/>
              <a:buFont typeface="Calibri"/>
              <a:buNone/>
            </a:pPr>
            <a:r>
              <a:rPr b="1" i="0" lang="en-US" sz="1150" u="none" cap="none" strike="noStrike">
                <a:solidFill>
                  <a:srgbClr val="FFFFFF"/>
                </a:solidFill>
                <a:latin typeface="Calibri"/>
                <a:ea typeface="Calibri"/>
                <a:cs typeface="Calibri"/>
                <a:sym typeface="Calibri"/>
              </a:rPr>
              <a:t>Agent Session</a:t>
            </a:r>
            <a:endParaRPr b="0" i="0" sz="1150" u="none" cap="none" strike="noStrike">
              <a:solidFill>
                <a:schemeClr val="dk1"/>
              </a:solidFill>
              <a:latin typeface="Calibri"/>
              <a:ea typeface="Calibri"/>
              <a:cs typeface="Calibri"/>
              <a:sym typeface="Calibri"/>
            </a:endParaRPr>
          </a:p>
        </p:txBody>
      </p:sp>
      <p:sp>
        <p:nvSpPr>
          <p:cNvPr id="334" name="Google Shape;334;p12"/>
          <p:cNvSpPr/>
          <p:nvPr/>
        </p:nvSpPr>
        <p:spPr>
          <a:xfrm>
            <a:off x="457200" y="6473952"/>
            <a:ext cx="18288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B93A7"/>
              </a:buClr>
              <a:buSzPts val="1000"/>
              <a:buFont typeface="Calibri"/>
              <a:buNone/>
            </a:pPr>
            <a:r>
              <a:rPr b="1" i="0" lang="en-US" sz="1000" u="none" cap="none" strike="noStrike">
                <a:solidFill>
                  <a:srgbClr val="8B93A7"/>
                </a:solidFill>
                <a:latin typeface="Calibri"/>
                <a:ea typeface="Calibri"/>
                <a:cs typeface="Calibri"/>
                <a:sym typeface="Calibri"/>
              </a:rPr>
              <a:t>QMA</a:t>
            </a:r>
            <a:endParaRPr b="0" i="0" sz="1000" u="none" cap="none" strike="noStrike">
              <a:solidFill>
                <a:schemeClr val="dk1"/>
              </a:solidFill>
              <a:latin typeface="Calibri"/>
              <a:ea typeface="Calibri"/>
              <a:cs typeface="Calibri"/>
              <a:sym typeface="Calibri"/>
            </a:endParaRPr>
          </a:p>
        </p:txBody>
      </p:sp>
      <p:sp>
        <p:nvSpPr>
          <p:cNvPr id="335" name="Google Shape;335;p12"/>
          <p:cNvSpPr/>
          <p:nvPr/>
        </p:nvSpPr>
        <p:spPr>
          <a:xfrm>
            <a:off x="1828800" y="6473952"/>
            <a:ext cx="45720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B93A7"/>
              </a:buClr>
              <a:buSzPts val="900"/>
              <a:buFont typeface="Calibri"/>
              <a:buNone/>
            </a:pPr>
            <a:r>
              <a:rPr b="0" i="0" lang="en-US" sz="900" u="none" cap="none" strike="noStrike">
                <a:solidFill>
                  <a:srgbClr val="8B93A7"/>
                </a:solidFill>
                <a:latin typeface="Calibri"/>
                <a:ea typeface="Calibri"/>
                <a:cs typeface="Calibri"/>
                <a:sym typeface="Calibri"/>
              </a:rPr>
              <a:t>Live Demo</a:t>
            </a:r>
            <a:endParaRPr b="0" i="0" sz="900" u="none" cap="none" strike="noStrike">
              <a:solidFill>
                <a:schemeClr val="dk1"/>
              </a:solidFill>
              <a:latin typeface="Calibri"/>
              <a:ea typeface="Calibri"/>
              <a:cs typeface="Calibri"/>
              <a:sym typeface="Calibri"/>
            </a:endParaRPr>
          </a:p>
        </p:txBody>
      </p:sp>
      <p:sp>
        <p:nvSpPr>
          <p:cNvPr id="336" name="Google Shape;336;p12"/>
          <p:cNvSpPr/>
          <p:nvPr/>
        </p:nvSpPr>
        <p:spPr>
          <a:xfrm>
            <a:off x="10817352" y="6473952"/>
            <a:ext cx="914400" cy="27432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8B93A7"/>
              </a:buClr>
              <a:buSzPts val="1000"/>
              <a:buFont typeface="Calibri"/>
              <a:buNone/>
            </a:pPr>
            <a:r>
              <a:rPr b="0" i="0" lang="en-US" sz="1000" u="none" cap="none" strike="noStrike">
                <a:solidFill>
                  <a:srgbClr val="8B93A7"/>
                </a:solidFill>
                <a:latin typeface="Calibri"/>
                <a:ea typeface="Calibri"/>
                <a:cs typeface="Calibri"/>
                <a:sym typeface="Calibri"/>
              </a:rPr>
              <a:t>10 / 16</a:t>
            </a:r>
            <a:endParaRPr b="0" i="0" sz="1000" u="none" cap="none" strike="noStrike">
              <a:solidFill>
                <a:schemeClr val="dk1"/>
              </a:solidFill>
              <a:latin typeface="Calibri"/>
              <a:ea typeface="Calibri"/>
              <a:cs typeface="Calibri"/>
              <a:sym typeface="Calibri"/>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B0F1C"/>
        </a:solidFill>
      </p:bgPr>
    </p:bg>
    <p:spTree>
      <p:nvGrpSpPr>
        <p:cNvPr id="341" name="Shape 341"/>
        <p:cNvGrpSpPr/>
        <p:nvPr/>
      </p:nvGrpSpPr>
      <p:grpSpPr>
        <a:xfrm>
          <a:off x="0" y="0"/>
          <a:ext cx="0" cy="0"/>
          <a:chOff x="0" y="0"/>
          <a:chExt cx="0" cy="0"/>
        </a:xfrm>
      </p:grpSpPr>
      <p:sp>
        <p:nvSpPr>
          <p:cNvPr id="342" name="Google Shape;342;p13"/>
          <p:cNvSpPr/>
          <p:nvPr/>
        </p:nvSpPr>
        <p:spPr>
          <a:xfrm>
            <a:off x="640080" y="502920"/>
            <a:ext cx="7315200" cy="32004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2DD4BF"/>
              </a:buClr>
              <a:buSzPts val="1200"/>
              <a:buFont typeface="Calibri"/>
              <a:buNone/>
            </a:pPr>
            <a:r>
              <a:rPr b="1" i="0" lang="en-US" sz="1200" u="none" cap="none" strike="noStrike">
                <a:solidFill>
                  <a:srgbClr val="2DD4BF"/>
                </a:solidFill>
                <a:latin typeface="Calibri"/>
                <a:ea typeface="Calibri"/>
                <a:cs typeface="Calibri"/>
                <a:sym typeface="Calibri"/>
              </a:rPr>
              <a:t>WHY IT MATTERS</a:t>
            </a:r>
            <a:endParaRPr b="0" i="0" sz="1200" u="none" cap="none" strike="noStrike">
              <a:solidFill>
                <a:schemeClr val="dk1"/>
              </a:solidFill>
              <a:latin typeface="Calibri"/>
              <a:ea typeface="Calibri"/>
              <a:cs typeface="Calibri"/>
              <a:sym typeface="Calibri"/>
            </a:endParaRPr>
          </a:p>
        </p:txBody>
      </p:sp>
      <p:sp>
        <p:nvSpPr>
          <p:cNvPr id="343" name="Google Shape;343;p13"/>
          <p:cNvSpPr/>
          <p:nvPr/>
        </p:nvSpPr>
        <p:spPr>
          <a:xfrm>
            <a:off x="640080" y="804672"/>
            <a:ext cx="10789920" cy="7315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3400"/>
              <a:buFont typeface="Calibri"/>
              <a:buNone/>
            </a:pPr>
            <a:r>
              <a:rPr b="1" i="0" lang="en-US" sz="3400" u="none" cap="none" strike="noStrike">
                <a:solidFill>
                  <a:srgbClr val="FFFFFF"/>
                </a:solidFill>
                <a:latin typeface="Calibri"/>
                <a:ea typeface="Calibri"/>
                <a:cs typeface="Calibri"/>
                <a:sym typeface="Calibri"/>
              </a:rPr>
              <a:t>Why QMA Matters</a:t>
            </a:r>
            <a:endParaRPr b="0" i="0" sz="3400" u="none" cap="none" strike="noStrike">
              <a:solidFill>
                <a:schemeClr val="dk1"/>
              </a:solidFill>
              <a:latin typeface="Calibri"/>
              <a:ea typeface="Calibri"/>
              <a:cs typeface="Calibri"/>
              <a:sym typeface="Calibri"/>
            </a:endParaRPr>
          </a:p>
        </p:txBody>
      </p:sp>
      <p:sp>
        <p:nvSpPr>
          <p:cNvPr id="344" name="Google Shape;344;p13"/>
          <p:cNvSpPr/>
          <p:nvPr/>
        </p:nvSpPr>
        <p:spPr>
          <a:xfrm>
            <a:off x="640080" y="2194560"/>
            <a:ext cx="10881360" cy="914400"/>
          </a:xfrm>
          <a:prstGeom prst="roundRect">
            <a:avLst>
              <a:gd fmla="val 9000" name="adj"/>
            </a:avLst>
          </a:prstGeom>
          <a:solidFill>
            <a:srgbClr val="141B2E"/>
          </a:solidFill>
          <a:ln cap="flat" cmpd="sng" w="12700">
            <a:solidFill>
              <a:srgbClr val="232C42"/>
            </a:solidFill>
            <a:prstDash val="solid"/>
            <a:round/>
            <a:headEnd len="sm" w="sm" type="none"/>
            <a:tailEnd len="sm" w="sm" type="none"/>
          </a:ln>
          <a:effectLst>
            <a:outerShdw blurRad="101600" rotWithShape="0" algn="bl" dir="5400000" dist="38100">
              <a:srgbClr val="000000">
                <a:alpha val="34902"/>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5" name="Google Shape;345;p13"/>
          <p:cNvSpPr/>
          <p:nvPr/>
        </p:nvSpPr>
        <p:spPr>
          <a:xfrm>
            <a:off x="1005840" y="2377440"/>
            <a:ext cx="548640" cy="548640"/>
          </a:xfrm>
          <a:prstGeom prst="ellipse">
            <a:avLst/>
          </a:prstGeom>
          <a:solidFill>
            <a:srgbClr val="0F1526"/>
          </a:solidFill>
          <a:ln cap="flat" cmpd="sng" w="22225">
            <a:solidFill>
              <a:srgbClr val="8B7CF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6" name="Google Shape;346;p13"/>
          <p:cNvSpPr/>
          <p:nvPr/>
        </p:nvSpPr>
        <p:spPr>
          <a:xfrm>
            <a:off x="1005840" y="2377440"/>
            <a:ext cx="548640" cy="54864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8B7CF6"/>
              </a:buClr>
              <a:buSzPts val="2040"/>
              <a:buFont typeface="Calibri"/>
              <a:buNone/>
            </a:pPr>
            <a:r>
              <a:rPr b="1" i="0" lang="en-US" sz="2040" u="none" cap="none" strike="noStrike">
                <a:solidFill>
                  <a:srgbClr val="8B7CF6"/>
                </a:solidFill>
                <a:latin typeface="Calibri"/>
                <a:ea typeface="Calibri"/>
                <a:cs typeface="Calibri"/>
                <a:sym typeface="Calibri"/>
              </a:rPr>
              <a:t>A</a:t>
            </a:r>
            <a:endParaRPr b="0" i="0" sz="2040" u="none" cap="none" strike="noStrike">
              <a:solidFill>
                <a:schemeClr val="dk1"/>
              </a:solidFill>
              <a:latin typeface="Calibri"/>
              <a:ea typeface="Calibri"/>
              <a:cs typeface="Calibri"/>
              <a:sym typeface="Calibri"/>
            </a:endParaRPr>
          </a:p>
        </p:txBody>
      </p:sp>
      <p:sp>
        <p:nvSpPr>
          <p:cNvPr id="347" name="Google Shape;347;p13"/>
          <p:cNvSpPr/>
          <p:nvPr/>
        </p:nvSpPr>
        <p:spPr>
          <a:xfrm>
            <a:off x="1874520" y="2194560"/>
            <a:ext cx="9326880" cy="9144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1600"/>
              <a:buFont typeface="Calibri"/>
              <a:buNone/>
            </a:pPr>
            <a:r>
              <a:rPr b="1" i="0" lang="en-US" sz="1600" u="none" cap="none" strike="noStrike">
                <a:solidFill>
                  <a:srgbClr val="FFFFFF"/>
                </a:solidFill>
                <a:latin typeface="Calibri"/>
                <a:ea typeface="Calibri"/>
                <a:cs typeface="Calibri"/>
                <a:sym typeface="Calibri"/>
              </a:rPr>
              <a:t>Analysts monetize insight without building a business.</a:t>
            </a:r>
            <a:endParaRPr b="0" i="0" sz="1600" u="none" cap="none" strike="noStrike">
              <a:solidFill>
                <a:schemeClr val="dk1"/>
              </a:solidFill>
              <a:latin typeface="Calibri"/>
              <a:ea typeface="Calibri"/>
              <a:cs typeface="Calibri"/>
              <a:sym typeface="Calibri"/>
            </a:endParaRPr>
          </a:p>
        </p:txBody>
      </p:sp>
      <p:sp>
        <p:nvSpPr>
          <p:cNvPr id="348" name="Google Shape;348;p13"/>
          <p:cNvSpPr/>
          <p:nvPr/>
        </p:nvSpPr>
        <p:spPr>
          <a:xfrm>
            <a:off x="640080" y="3246120"/>
            <a:ext cx="10881360" cy="914400"/>
          </a:xfrm>
          <a:prstGeom prst="roundRect">
            <a:avLst>
              <a:gd fmla="val 9000" name="adj"/>
            </a:avLst>
          </a:prstGeom>
          <a:solidFill>
            <a:srgbClr val="141B2E"/>
          </a:solidFill>
          <a:ln cap="flat" cmpd="sng" w="12700">
            <a:solidFill>
              <a:srgbClr val="232C42"/>
            </a:solidFill>
            <a:prstDash val="solid"/>
            <a:round/>
            <a:headEnd len="sm" w="sm" type="none"/>
            <a:tailEnd len="sm" w="sm" type="none"/>
          </a:ln>
          <a:effectLst>
            <a:outerShdw blurRad="101600" rotWithShape="0" algn="bl" dir="5400000" dist="38100">
              <a:srgbClr val="000000">
                <a:alpha val="34902"/>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9" name="Google Shape;349;p13"/>
          <p:cNvSpPr/>
          <p:nvPr/>
        </p:nvSpPr>
        <p:spPr>
          <a:xfrm>
            <a:off x="1005840" y="3429000"/>
            <a:ext cx="548640" cy="548640"/>
          </a:xfrm>
          <a:prstGeom prst="ellipse">
            <a:avLst/>
          </a:prstGeom>
          <a:solidFill>
            <a:srgbClr val="0F1526"/>
          </a:solidFill>
          <a:ln cap="flat" cmpd="sng" w="22225">
            <a:solidFill>
              <a:srgbClr val="2DD4B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0" name="Google Shape;350;p13"/>
          <p:cNvSpPr/>
          <p:nvPr/>
        </p:nvSpPr>
        <p:spPr>
          <a:xfrm>
            <a:off x="1005840" y="3429000"/>
            <a:ext cx="548640" cy="54864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2DD4BF"/>
              </a:buClr>
              <a:buSzPts val="2040"/>
              <a:buFont typeface="Calibri"/>
              <a:buNone/>
            </a:pPr>
            <a:r>
              <a:rPr b="1" i="0" lang="en-US" sz="2040" u="none" cap="none" strike="noStrike">
                <a:solidFill>
                  <a:srgbClr val="2DD4BF"/>
                </a:solidFill>
                <a:latin typeface="Calibri"/>
                <a:ea typeface="Calibri"/>
                <a:cs typeface="Calibri"/>
                <a:sym typeface="Calibri"/>
              </a:rPr>
              <a:t>T</a:t>
            </a:r>
            <a:endParaRPr b="0" i="0" sz="2040" u="none" cap="none" strike="noStrike">
              <a:solidFill>
                <a:schemeClr val="dk1"/>
              </a:solidFill>
              <a:latin typeface="Calibri"/>
              <a:ea typeface="Calibri"/>
              <a:cs typeface="Calibri"/>
              <a:sym typeface="Calibri"/>
            </a:endParaRPr>
          </a:p>
        </p:txBody>
      </p:sp>
      <p:sp>
        <p:nvSpPr>
          <p:cNvPr id="351" name="Google Shape;351;p13"/>
          <p:cNvSpPr/>
          <p:nvPr/>
        </p:nvSpPr>
        <p:spPr>
          <a:xfrm>
            <a:off x="1874520" y="3246120"/>
            <a:ext cx="9326880" cy="9144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1600"/>
              <a:buFont typeface="Calibri"/>
              <a:buNone/>
            </a:pPr>
            <a:r>
              <a:rPr b="1" i="0" lang="en-US" sz="1600" u="none" cap="none" strike="noStrike">
                <a:solidFill>
                  <a:srgbClr val="FFFFFF"/>
                </a:solidFill>
                <a:latin typeface="Calibri"/>
                <a:ea typeface="Calibri"/>
                <a:cs typeface="Calibri"/>
                <a:sym typeface="Calibri"/>
              </a:rPr>
              <a:t>Traders buy exactly the signal they need, when they need it.</a:t>
            </a:r>
            <a:endParaRPr b="0" i="0" sz="1600" u="none" cap="none" strike="noStrike">
              <a:solidFill>
                <a:schemeClr val="dk1"/>
              </a:solidFill>
              <a:latin typeface="Calibri"/>
              <a:ea typeface="Calibri"/>
              <a:cs typeface="Calibri"/>
              <a:sym typeface="Calibri"/>
            </a:endParaRPr>
          </a:p>
        </p:txBody>
      </p:sp>
      <p:sp>
        <p:nvSpPr>
          <p:cNvPr id="352" name="Google Shape;352;p13"/>
          <p:cNvSpPr/>
          <p:nvPr/>
        </p:nvSpPr>
        <p:spPr>
          <a:xfrm>
            <a:off x="640080" y="4297680"/>
            <a:ext cx="10881360" cy="914400"/>
          </a:xfrm>
          <a:prstGeom prst="roundRect">
            <a:avLst>
              <a:gd fmla="val 9000" name="adj"/>
            </a:avLst>
          </a:prstGeom>
          <a:solidFill>
            <a:srgbClr val="141B2E"/>
          </a:solidFill>
          <a:ln cap="flat" cmpd="sng" w="12700">
            <a:solidFill>
              <a:srgbClr val="232C42"/>
            </a:solidFill>
            <a:prstDash val="solid"/>
            <a:round/>
            <a:headEnd len="sm" w="sm" type="none"/>
            <a:tailEnd len="sm" w="sm" type="none"/>
          </a:ln>
          <a:effectLst>
            <a:outerShdw blurRad="101600" rotWithShape="0" algn="bl" dir="5400000" dist="38100">
              <a:srgbClr val="000000">
                <a:alpha val="34902"/>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3" name="Google Shape;353;p13"/>
          <p:cNvSpPr/>
          <p:nvPr/>
        </p:nvSpPr>
        <p:spPr>
          <a:xfrm>
            <a:off x="1005840" y="4480560"/>
            <a:ext cx="548640" cy="548640"/>
          </a:xfrm>
          <a:prstGeom prst="ellipse">
            <a:avLst/>
          </a:prstGeom>
          <a:solidFill>
            <a:srgbClr val="0F1526"/>
          </a:solidFill>
          <a:ln cap="flat" cmpd="sng" w="22225">
            <a:solidFill>
              <a:srgbClr val="34D39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4" name="Google Shape;354;p13"/>
          <p:cNvSpPr/>
          <p:nvPr/>
        </p:nvSpPr>
        <p:spPr>
          <a:xfrm>
            <a:off x="1005840" y="4480560"/>
            <a:ext cx="548640" cy="54864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34D399"/>
              </a:buClr>
              <a:buSzPts val="2040"/>
              <a:buFont typeface="Calibri"/>
              <a:buNone/>
            </a:pPr>
            <a:r>
              <a:rPr b="1" i="0" lang="en-US" sz="2040" u="none" cap="none" strike="noStrike">
                <a:solidFill>
                  <a:srgbClr val="34D399"/>
                </a:solidFill>
                <a:latin typeface="Calibri"/>
                <a:ea typeface="Calibri"/>
                <a:cs typeface="Calibri"/>
                <a:sym typeface="Calibri"/>
              </a:rPr>
              <a:t>AI</a:t>
            </a:r>
            <a:endParaRPr b="0" i="0" sz="2040" u="none" cap="none" strike="noStrike">
              <a:solidFill>
                <a:schemeClr val="dk1"/>
              </a:solidFill>
              <a:latin typeface="Calibri"/>
              <a:ea typeface="Calibri"/>
              <a:cs typeface="Calibri"/>
              <a:sym typeface="Calibri"/>
            </a:endParaRPr>
          </a:p>
        </p:txBody>
      </p:sp>
      <p:sp>
        <p:nvSpPr>
          <p:cNvPr id="355" name="Google Shape;355;p13"/>
          <p:cNvSpPr/>
          <p:nvPr/>
        </p:nvSpPr>
        <p:spPr>
          <a:xfrm>
            <a:off x="1874520" y="4297680"/>
            <a:ext cx="9326880" cy="9144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1600"/>
              <a:buFont typeface="Calibri"/>
              <a:buNone/>
            </a:pPr>
            <a:r>
              <a:rPr b="1" i="0" lang="en-US" sz="1600" u="none" cap="none" strike="noStrike">
                <a:solidFill>
                  <a:srgbClr val="FFFFFF"/>
                </a:solidFill>
                <a:latin typeface="Calibri"/>
                <a:ea typeface="Calibri"/>
                <a:cs typeface="Calibri"/>
                <a:sym typeface="Calibri"/>
              </a:rPr>
              <a:t>Agents transact autonomously, safely, and without human intervention.</a:t>
            </a:r>
            <a:endParaRPr b="0" i="0" sz="1600" u="none" cap="none" strike="noStrike">
              <a:solidFill>
                <a:schemeClr val="dk1"/>
              </a:solidFill>
              <a:latin typeface="Calibri"/>
              <a:ea typeface="Calibri"/>
              <a:cs typeface="Calibri"/>
              <a:sym typeface="Calibri"/>
            </a:endParaRPr>
          </a:p>
        </p:txBody>
      </p:sp>
      <p:sp>
        <p:nvSpPr>
          <p:cNvPr id="356" name="Google Shape;356;p13"/>
          <p:cNvSpPr/>
          <p:nvPr/>
        </p:nvSpPr>
        <p:spPr>
          <a:xfrm>
            <a:off x="640080" y="5349240"/>
            <a:ext cx="10881360" cy="914400"/>
          </a:xfrm>
          <a:prstGeom prst="roundRect">
            <a:avLst>
              <a:gd fmla="val 9000" name="adj"/>
            </a:avLst>
          </a:prstGeom>
          <a:solidFill>
            <a:srgbClr val="141B2E"/>
          </a:solidFill>
          <a:ln cap="flat" cmpd="sng" w="12700">
            <a:solidFill>
              <a:srgbClr val="232C42"/>
            </a:solidFill>
            <a:prstDash val="solid"/>
            <a:round/>
            <a:headEnd len="sm" w="sm" type="none"/>
            <a:tailEnd len="sm" w="sm" type="none"/>
          </a:ln>
          <a:effectLst>
            <a:outerShdw blurRad="101600" rotWithShape="0" algn="bl" dir="5400000" dist="38100">
              <a:srgbClr val="000000">
                <a:alpha val="34902"/>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7" name="Google Shape;357;p13"/>
          <p:cNvSpPr/>
          <p:nvPr/>
        </p:nvSpPr>
        <p:spPr>
          <a:xfrm>
            <a:off x="1005840" y="5532120"/>
            <a:ext cx="548640" cy="548640"/>
          </a:xfrm>
          <a:prstGeom prst="ellipse">
            <a:avLst/>
          </a:prstGeom>
          <a:solidFill>
            <a:srgbClr val="0F1526"/>
          </a:solidFill>
          <a:ln cap="flat" cmpd="sng" w="22225">
            <a:solidFill>
              <a:srgbClr val="8B93A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8" name="Google Shape;358;p13"/>
          <p:cNvSpPr/>
          <p:nvPr/>
        </p:nvSpPr>
        <p:spPr>
          <a:xfrm>
            <a:off x="1005840" y="5532120"/>
            <a:ext cx="548640" cy="54864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8B93A7"/>
              </a:buClr>
              <a:buSzPts val="2040"/>
              <a:buFont typeface="Calibri"/>
              <a:buNone/>
            </a:pPr>
            <a:r>
              <a:rPr b="1" i="0" lang="en-US" sz="2040" u="none" cap="none" strike="noStrike">
                <a:solidFill>
                  <a:srgbClr val="8B93A7"/>
                </a:solidFill>
                <a:latin typeface="Calibri"/>
                <a:ea typeface="Calibri"/>
                <a:cs typeface="Calibri"/>
                <a:sym typeface="Calibri"/>
              </a:rPr>
              <a:t>$</a:t>
            </a:r>
            <a:endParaRPr b="0" i="0" sz="2040" u="none" cap="none" strike="noStrike">
              <a:solidFill>
                <a:schemeClr val="dk1"/>
              </a:solidFill>
              <a:latin typeface="Calibri"/>
              <a:ea typeface="Calibri"/>
              <a:cs typeface="Calibri"/>
              <a:sym typeface="Calibri"/>
            </a:endParaRPr>
          </a:p>
        </p:txBody>
      </p:sp>
      <p:sp>
        <p:nvSpPr>
          <p:cNvPr id="359" name="Google Shape;359;p13"/>
          <p:cNvSpPr/>
          <p:nvPr/>
        </p:nvSpPr>
        <p:spPr>
          <a:xfrm>
            <a:off x="1874520" y="5349240"/>
            <a:ext cx="9326880" cy="9144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1600"/>
              <a:buFont typeface="Calibri"/>
              <a:buNone/>
            </a:pPr>
            <a:r>
              <a:rPr b="1" i="0" lang="en-US" sz="1600" u="none" cap="none" strike="noStrike">
                <a:solidFill>
                  <a:srgbClr val="FFFFFF"/>
                </a:solidFill>
                <a:latin typeface="Calibri"/>
                <a:ea typeface="Calibri"/>
                <a:cs typeface="Calibri"/>
                <a:sym typeface="Calibri"/>
              </a:rPr>
              <a:t>USDC-native commerce makes all of it instant and global.</a:t>
            </a:r>
            <a:endParaRPr b="0" i="0" sz="1600" u="none" cap="none" strike="noStrike">
              <a:solidFill>
                <a:schemeClr val="dk1"/>
              </a:solidFill>
              <a:latin typeface="Calibri"/>
              <a:ea typeface="Calibri"/>
              <a:cs typeface="Calibri"/>
              <a:sym typeface="Calibri"/>
            </a:endParaRPr>
          </a:p>
        </p:txBody>
      </p:sp>
      <p:sp>
        <p:nvSpPr>
          <p:cNvPr id="360" name="Google Shape;360;p13"/>
          <p:cNvSpPr/>
          <p:nvPr/>
        </p:nvSpPr>
        <p:spPr>
          <a:xfrm>
            <a:off x="457200" y="6473952"/>
            <a:ext cx="18288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B93A7"/>
              </a:buClr>
              <a:buSzPts val="1000"/>
              <a:buFont typeface="Calibri"/>
              <a:buNone/>
            </a:pPr>
            <a:r>
              <a:rPr b="1" i="0" lang="en-US" sz="1000" u="none" cap="none" strike="noStrike">
                <a:solidFill>
                  <a:srgbClr val="8B93A7"/>
                </a:solidFill>
                <a:latin typeface="Calibri"/>
                <a:ea typeface="Calibri"/>
                <a:cs typeface="Calibri"/>
                <a:sym typeface="Calibri"/>
              </a:rPr>
              <a:t>QMA</a:t>
            </a:r>
            <a:endParaRPr b="0" i="0" sz="1000" u="none" cap="none" strike="noStrike">
              <a:solidFill>
                <a:schemeClr val="dk1"/>
              </a:solidFill>
              <a:latin typeface="Calibri"/>
              <a:ea typeface="Calibri"/>
              <a:cs typeface="Calibri"/>
              <a:sym typeface="Calibri"/>
            </a:endParaRPr>
          </a:p>
        </p:txBody>
      </p:sp>
      <p:sp>
        <p:nvSpPr>
          <p:cNvPr id="361" name="Google Shape;361;p13"/>
          <p:cNvSpPr/>
          <p:nvPr/>
        </p:nvSpPr>
        <p:spPr>
          <a:xfrm>
            <a:off x="1828800" y="6473952"/>
            <a:ext cx="45720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B93A7"/>
              </a:buClr>
              <a:buSzPts val="900"/>
              <a:buFont typeface="Calibri"/>
              <a:buNone/>
            </a:pPr>
            <a:r>
              <a:rPr b="0" i="0" lang="en-US" sz="900" u="none" cap="none" strike="noStrike">
                <a:solidFill>
                  <a:srgbClr val="8B93A7"/>
                </a:solidFill>
                <a:latin typeface="Calibri"/>
                <a:ea typeface="Calibri"/>
                <a:cs typeface="Calibri"/>
                <a:sym typeface="Calibri"/>
              </a:rPr>
              <a:t>Why It Matters</a:t>
            </a:r>
            <a:endParaRPr b="0" i="0" sz="900" u="none" cap="none" strike="noStrike">
              <a:solidFill>
                <a:schemeClr val="dk1"/>
              </a:solidFill>
              <a:latin typeface="Calibri"/>
              <a:ea typeface="Calibri"/>
              <a:cs typeface="Calibri"/>
              <a:sym typeface="Calibri"/>
            </a:endParaRPr>
          </a:p>
        </p:txBody>
      </p:sp>
      <p:sp>
        <p:nvSpPr>
          <p:cNvPr id="362" name="Google Shape;362;p13"/>
          <p:cNvSpPr/>
          <p:nvPr/>
        </p:nvSpPr>
        <p:spPr>
          <a:xfrm>
            <a:off x="10817352" y="6473952"/>
            <a:ext cx="914400" cy="27432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8B93A7"/>
              </a:buClr>
              <a:buSzPts val="1000"/>
              <a:buFont typeface="Calibri"/>
              <a:buNone/>
            </a:pPr>
            <a:r>
              <a:rPr b="0" i="0" lang="en-US" sz="1000" u="none" cap="none" strike="noStrike">
                <a:solidFill>
                  <a:srgbClr val="8B93A7"/>
                </a:solidFill>
                <a:latin typeface="Calibri"/>
                <a:ea typeface="Calibri"/>
                <a:cs typeface="Calibri"/>
                <a:sym typeface="Calibri"/>
              </a:rPr>
              <a:t>11 / 16</a:t>
            </a:r>
            <a:endParaRPr b="0" i="0" sz="1000" u="none" cap="none" strike="noStrike">
              <a:solidFill>
                <a:schemeClr val="dk1"/>
              </a:solidFill>
              <a:latin typeface="Calibri"/>
              <a:ea typeface="Calibri"/>
              <a:cs typeface="Calibri"/>
              <a:sym typeface="Calibri"/>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B0F1C"/>
        </a:solidFill>
      </p:bgPr>
    </p:bg>
    <p:spTree>
      <p:nvGrpSpPr>
        <p:cNvPr id="367" name="Shape 367"/>
        <p:cNvGrpSpPr/>
        <p:nvPr/>
      </p:nvGrpSpPr>
      <p:grpSpPr>
        <a:xfrm>
          <a:off x="0" y="0"/>
          <a:ext cx="0" cy="0"/>
          <a:chOff x="0" y="0"/>
          <a:chExt cx="0" cy="0"/>
        </a:xfrm>
      </p:grpSpPr>
      <p:sp>
        <p:nvSpPr>
          <p:cNvPr id="368" name="Google Shape;368;p14"/>
          <p:cNvSpPr/>
          <p:nvPr/>
        </p:nvSpPr>
        <p:spPr>
          <a:xfrm>
            <a:off x="640080" y="502920"/>
            <a:ext cx="7315200" cy="32004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B7CF6"/>
              </a:buClr>
              <a:buSzPts val="1200"/>
              <a:buFont typeface="Calibri"/>
              <a:buNone/>
            </a:pPr>
            <a:r>
              <a:rPr b="1" i="0" lang="en-US" sz="1200" u="none" cap="none" strike="noStrike">
                <a:solidFill>
                  <a:srgbClr val="8B7CF6"/>
                </a:solidFill>
                <a:latin typeface="Calibri"/>
                <a:ea typeface="Calibri"/>
                <a:cs typeface="Calibri"/>
                <a:sym typeface="Calibri"/>
              </a:rPr>
              <a:t>WHAT'S NEXT</a:t>
            </a:r>
            <a:endParaRPr b="0" i="0" sz="1200" u="none" cap="none" strike="noStrike">
              <a:solidFill>
                <a:schemeClr val="dk1"/>
              </a:solidFill>
              <a:latin typeface="Calibri"/>
              <a:ea typeface="Calibri"/>
              <a:cs typeface="Calibri"/>
              <a:sym typeface="Calibri"/>
            </a:endParaRPr>
          </a:p>
        </p:txBody>
      </p:sp>
      <p:sp>
        <p:nvSpPr>
          <p:cNvPr id="369" name="Google Shape;369;p14"/>
          <p:cNvSpPr/>
          <p:nvPr/>
        </p:nvSpPr>
        <p:spPr>
          <a:xfrm>
            <a:off x="640080" y="804672"/>
            <a:ext cx="10789920" cy="7315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3400"/>
              <a:buFont typeface="Calibri"/>
              <a:buNone/>
            </a:pPr>
            <a:r>
              <a:rPr b="1" i="0" lang="en-US" sz="3400" u="none" cap="none" strike="noStrike">
                <a:solidFill>
                  <a:srgbClr val="FFFFFF"/>
                </a:solidFill>
                <a:latin typeface="Calibri"/>
                <a:ea typeface="Calibri"/>
                <a:cs typeface="Calibri"/>
                <a:sym typeface="Calibri"/>
              </a:rPr>
              <a:t>Roadmap</a:t>
            </a:r>
            <a:endParaRPr b="0" i="0" sz="3400" u="none" cap="none" strike="noStrike">
              <a:solidFill>
                <a:schemeClr val="dk1"/>
              </a:solidFill>
              <a:latin typeface="Calibri"/>
              <a:ea typeface="Calibri"/>
              <a:cs typeface="Calibri"/>
              <a:sym typeface="Calibri"/>
            </a:endParaRPr>
          </a:p>
        </p:txBody>
      </p:sp>
      <p:sp>
        <p:nvSpPr>
          <p:cNvPr id="370" name="Google Shape;370;p14"/>
          <p:cNvSpPr/>
          <p:nvPr/>
        </p:nvSpPr>
        <p:spPr>
          <a:xfrm>
            <a:off x="640080" y="1417320"/>
            <a:ext cx="9875520" cy="457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C7CCDA"/>
              </a:buClr>
              <a:buSzPts val="1500"/>
              <a:buFont typeface="Calibri"/>
              <a:buNone/>
            </a:pPr>
            <a:r>
              <a:rPr b="0" i="1" lang="en-US" sz="1500" u="none" cap="none" strike="noStrike">
                <a:solidFill>
                  <a:srgbClr val="C7CCDA"/>
                </a:solidFill>
                <a:latin typeface="Calibri"/>
                <a:ea typeface="Calibri"/>
                <a:cs typeface="Calibri"/>
                <a:sym typeface="Calibri"/>
              </a:rPr>
              <a:t>Phase 1 status must be confirmed against actual deployment before use.</a:t>
            </a:r>
            <a:endParaRPr b="0" i="0" sz="1500" u="none" cap="none" strike="noStrike">
              <a:solidFill>
                <a:schemeClr val="dk1"/>
              </a:solidFill>
              <a:latin typeface="Calibri"/>
              <a:ea typeface="Calibri"/>
              <a:cs typeface="Calibri"/>
              <a:sym typeface="Calibri"/>
            </a:endParaRPr>
          </a:p>
        </p:txBody>
      </p:sp>
      <p:sp>
        <p:nvSpPr>
          <p:cNvPr id="371" name="Google Shape;371;p14"/>
          <p:cNvSpPr/>
          <p:nvPr/>
        </p:nvSpPr>
        <p:spPr>
          <a:xfrm>
            <a:off x="640080" y="2331720"/>
            <a:ext cx="3413760" cy="3291840"/>
          </a:xfrm>
          <a:prstGeom prst="roundRect">
            <a:avLst>
              <a:gd fmla="val 2500" name="adj"/>
            </a:avLst>
          </a:prstGeom>
          <a:solidFill>
            <a:srgbClr val="141B2E"/>
          </a:solidFill>
          <a:ln cap="flat" cmpd="sng" w="12700">
            <a:solidFill>
              <a:srgbClr val="2DD4BF"/>
            </a:solidFill>
            <a:prstDash val="solid"/>
            <a:round/>
            <a:headEnd len="sm" w="sm" type="none"/>
            <a:tailEnd len="sm" w="sm" type="none"/>
          </a:ln>
          <a:effectLst>
            <a:outerShdw blurRad="101600" rotWithShape="0" algn="bl" dir="5400000" dist="38100">
              <a:srgbClr val="000000">
                <a:alpha val="34902"/>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2" name="Google Shape;372;p14"/>
          <p:cNvSpPr/>
          <p:nvPr/>
        </p:nvSpPr>
        <p:spPr>
          <a:xfrm>
            <a:off x="914400" y="2560320"/>
            <a:ext cx="286512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2DD4BF"/>
              </a:buClr>
              <a:buSzPts val="950"/>
              <a:buFont typeface="Calibri"/>
              <a:buNone/>
            </a:pPr>
            <a:r>
              <a:rPr b="1" i="0" lang="en-US" sz="950" u="none" cap="none" strike="noStrike">
                <a:solidFill>
                  <a:srgbClr val="2DD4BF"/>
                </a:solidFill>
                <a:latin typeface="Calibri"/>
                <a:ea typeface="Calibri"/>
                <a:cs typeface="Calibri"/>
                <a:sym typeface="Calibri"/>
              </a:rPr>
              <a:t>PHASE 1 · STATUS PENDING AUDIT</a:t>
            </a:r>
            <a:endParaRPr b="0" i="0" sz="950" u="none" cap="none" strike="noStrike">
              <a:solidFill>
                <a:schemeClr val="dk1"/>
              </a:solidFill>
              <a:latin typeface="Calibri"/>
              <a:ea typeface="Calibri"/>
              <a:cs typeface="Calibri"/>
              <a:sym typeface="Calibri"/>
            </a:endParaRPr>
          </a:p>
        </p:txBody>
      </p:sp>
      <p:sp>
        <p:nvSpPr>
          <p:cNvPr id="373" name="Google Shape;373;p14"/>
          <p:cNvSpPr/>
          <p:nvPr/>
        </p:nvSpPr>
        <p:spPr>
          <a:xfrm>
            <a:off x="914400" y="2834640"/>
            <a:ext cx="2865120" cy="457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1900"/>
              <a:buFont typeface="Calibri"/>
              <a:buNone/>
            </a:pPr>
            <a:r>
              <a:rPr b="1" i="0" lang="en-US" sz="1900" u="none" cap="none" strike="noStrike">
                <a:solidFill>
                  <a:srgbClr val="FFFFFF"/>
                </a:solidFill>
                <a:latin typeface="Calibri"/>
                <a:ea typeface="Calibri"/>
                <a:cs typeface="Calibri"/>
                <a:sym typeface="Calibri"/>
              </a:rPr>
              <a:t>Foundation</a:t>
            </a:r>
            <a:endParaRPr b="0" i="0" sz="1900" u="none" cap="none" strike="noStrike">
              <a:solidFill>
                <a:schemeClr val="dk1"/>
              </a:solidFill>
              <a:latin typeface="Calibri"/>
              <a:ea typeface="Calibri"/>
              <a:cs typeface="Calibri"/>
              <a:sym typeface="Calibri"/>
            </a:endParaRPr>
          </a:p>
        </p:txBody>
      </p:sp>
      <p:sp>
        <p:nvSpPr>
          <p:cNvPr id="374" name="Google Shape;374;p14"/>
          <p:cNvSpPr/>
          <p:nvPr/>
        </p:nvSpPr>
        <p:spPr>
          <a:xfrm>
            <a:off x="914400" y="3493008"/>
            <a:ext cx="82296" cy="82296"/>
          </a:xfrm>
          <a:prstGeom prst="ellipse">
            <a:avLst/>
          </a:prstGeom>
          <a:solidFill>
            <a:srgbClr val="2DD4B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5" name="Google Shape;375;p14"/>
          <p:cNvSpPr/>
          <p:nvPr/>
        </p:nvSpPr>
        <p:spPr>
          <a:xfrm>
            <a:off x="1143000" y="3355848"/>
            <a:ext cx="2636520" cy="502920"/>
          </a:xfrm>
          <a:prstGeom prst="rect">
            <a:avLst/>
          </a:prstGeom>
          <a:noFill/>
          <a:ln>
            <a:noFill/>
          </a:ln>
        </p:spPr>
        <p:txBody>
          <a:bodyPr anchorCtr="0" anchor="ctr" bIns="45700" lIns="91425" spcFirstLastPara="1" rIns="91425" wrap="square" tIns="45700">
            <a:noAutofit/>
          </a:bodyPr>
          <a:lstStyle/>
          <a:p>
            <a:pPr indent="0" lvl="0" marL="0" marR="0" rtl="0" algn="l">
              <a:lnSpc>
                <a:spcPct val="127272"/>
              </a:lnSpc>
              <a:spcBef>
                <a:spcPts val="0"/>
              </a:spcBef>
              <a:spcAft>
                <a:spcPts val="0"/>
              </a:spcAft>
              <a:buClr>
                <a:srgbClr val="C7CCDA"/>
              </a:buClr>
              <a:buSzPts val="1100"/>
              <a:buFont typeface="Calibri"/>
              <a:buNone/>
            </a:pPr>
            <a:r>
              <a:rPr b="0" i="0" lang="en-US" sz="1100" u="none" cap="none" strike="noStrike">
                <a:solidFill>
                  <a:srgbClr val="C7CCDA"/>
                </a:solidFill>
                <a:latin typeface="Calibri"/>
                <a:ea typeface="Calibri"/>
                <a:cs typeface="Calibri"/>
                <a:sym typeface="Calibri"/>
              </a:rPr>
              <a:t>[NEEDS: Audit — confirm testnet vs. mainnet]</a:t>
            </a:r>
            <a:endParaRPr b="0" i="0" sz="1100" u="none" cap="none" strike="noStrike">
              <a:solidFill>
                <a:schemeClr val="dk1"/>
              </a:solidFill>
              <a:latin typeface="Calibri"/>
              <a:ea typeface="Calibri"/>
              <a:cs typeface="Calibri"/>
              <a:sym typeface="Calibri"/>
            </a:endParaRPr>
          </a:p>
        </p:txBody>
      </p:sp>
      <p:sp>
        <p:nvSpPr>
          <p:cNvPr id="376" name="Google Shape;376;p14"/>
          <p:cNvSpPr/>
          <p:nvPr/>
        </p:nvSpPr>
        <p:spPr>
          <a:xfrm>
            <a:off x="914400" y="4151376"/>
            <a:ext cx="82296" cy="82296"/>
          </a:xfrm>
          <a:prstGeom prst="ellipse">
            <a:avLst/>
          </a:prstGeom>
          <a:solidFill>
            <a:srgbClr val="2DD4B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7" name="Google Shape;377;p14"/>
          <p:cNvSpPr/>
          <p:nvPr/>
        </p:nvSpPr>
        <p:spPr>
          <a:xfrm>
            <a:off x="1143000" y="4014216"/>
            <a:ext cx="2636520" cy="502920"/>
          </a:xfrm>
          <a:prstGeom prst="rect">
            <a:avLst/>
          </a:prstGeom>
          <a:noFill/>
          <a:ln>
            <a:noFill/>
          </a:ln>
        </p:spPr>
        <p:txBody>
          <a:bodyPr anchorCtr="0" anchor="ctr" bIns="45700" lIns="91425" spcFirstLastPara="1" rIns="91425" wrap="square" tIns="45700">
            <a:noAutofit/>
          </a:bodyPr>
          <a:lstStyle/>
          <a:p>
            <a:pPr indent="0" lvl="0" marL="0" marR="0" rtl="0" algn="l">
              <a:lnSpc>
                <a:spcPct val="127272"/>
              </a:lnSpc>
              <a:spcBef>
                <a:spcPts val="0"/>
              </a:spcBef>
              <a:spcAft>
                <a:spcPts val="0"/>
              </a:spcAft>
              <a:buClr>
                <a:srgbClr val="C7CCDA"/>
              </a:buClr>
              <a:buSzPts val="1100"/>
              <a:buFont typeface="Calibri"/>
              <a:buNone/>
            </a:pPr>
            <a:r>
              <a:rPr b="0" i="0" lang="en-US" sz="1100" u="none" cap="none" strike="noStrike">
                <a:solidFill>
                  <a:srgbClr val="C7CCDA"/>
                </a:solidFill>
                <a:latin typeface="Calibri"/>
                <a:ea typeface="Calibri"/>
                <a:cs typeface="Calibri"/>
                <a:sym typeface="Calibri"/>
              </a:rPr>
              <a:t>Marketplace core live</a:t>
            </a:r>
            <a:endParaRPr b="0" i="0" sz="1100" u="none" cap="none" strike="noStrike">
              <a:solidFill>
                <a:schemeClr val="dk1"/>
              </a:solidFill>
              <a:latin typeface="Calibri"/>
              <a:ea typeface="Calibri"/>
              <a:cs typeface="Calibri"/>
              <a:sym typeface="Calibri"/>
            </a:endParaRPr>
          </a:p>
        </p:txBody>
      </p:sp>
      <p:sp>
        <p:nvSpPr>
          <p:cNvPr id="378" name="Google Shape;378;p14"/>
          <p:cNvSpPr/>
          <p:nvPr/>
        </p:nvSpPr>
        <p:spPr>
          <a:xfrm>
            <a:off x="914400" y="4809744"/>
            <a:ext cx="82296" cy="82296"/>
          </a:xfrm>
          <a:prstGeom prst="ellipse">
            <a:avLst/>
          </a:prstGeom>
          <a:solidFill>
            <a:srgbClr val="2DD4B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9" name="Google Shape;379;p14"/>
          <p:cNvSpPr/>
          <p:nvPr/>
        </p:nvSpPr>
        <p:spPr>
          <a:xfrm>
            <a:off x="1143000" y="4672584"/>
            <a:ext cx="2636520" cy="502920"/>
          </a:xfrm>
          <a:prstGeom prst="rect">
            <a:avLst/>
          </a:prstGeom>
          <a:noFill/>
          <a:ln>
            <a:noFill/>
          </a:ln>
        </p:spPr>
        <p:txBody>
          <a:bodyPr anchorCtr="0" anchor="ctr" bIns="45700" lIns="91425" spcFirstLastPara="1" rIns="91425" wrap="square" tIns="45700">
            <a:noAutofit/>
          </a:bodyPr>
          <a:lstStyle/>
          <a:p>
            <a:pPr indent="0" lvl="0" marL="0" marR="0" rtl="0" algn="l">
              <a:lnSpc>
                <a:spcPct val="127272"/>
              </a:lnSpc>
              <a:spcBef>
                <a:spcPts val="0"/>
              </a:spcBef>
              <a:spcAft>
                <a:spcPts val="0"/>
              </a:spcAft>
              <a:buClr>
                <a:srgbClr val="C7CCDA"/>
              </a:buClr>
              <a:buSzPts val="1100"/>
              <a:buFont typeface="Calibri"/>
              <a:buNone/>
            </a:pPr>
            <a:r>
              <a:rPr b="0" i="0" lang="en-US" sz="1100" u="none" cap="none" strike="noStrike">
                <a:solidFill>
                  <a:srgbClr val="C7CCDA"/>
                </a:solidFill>
                <a:latin typeface="Calibri"/>
                <a:ea typeface="Calibri"/>
                <a:cs typeface="Calibri"/>
                <a:sym typeface="Calibri"/>
              </a:rPr>
              <a:t>HTTP 402 middleware</a:t>
            </a:r>
            <a:endParaRPr b="0" i="0" sz="1100" u="none" cap="none" strike="noStrike">
              <a:solidFill>
                <a:schemeClr val="dk1"/>
              </a:solidFill>
              <a:latin typeface="Calibri"/>
              <a:ea typeface="Calibri"/>
              <a:cs typeface="Calibri"/>
              <a:sym typeface="Calibri"/>
            </a:endParaRPr>
          </a:p>
        </p:txBody>
      </p:sp>
      <p:sp>
        <p:nvSpPr>
          <p:cNvPr id="380" name="Google Shape;380;p14"/>
          <p:cNvSpPr/>
          <p:nvPr/>
        </p:nvSpPr>
        <p:spPr>
          <a:xfrm>
            <a:off x="4373880" y="2331720"/>
            <a:ext cx="3413760" cy="3291840"/>
          </a:xfrm>
          <a:prstGeom prst="roundRect">
            <a:avLst>
              <a:gd fmla="val 2500" name="adj"/>
            </a:avLst>
          </a:prstGeom>
          <a:solidFill>
            <a:srgbClr val="141B2E"/>
          </a:solidFill>
          <a:ln cap="flat" cmpd="sng" w="12700">
            <a:solidFill>
              <a:srgbClr val="232C42"/>
            </a:solidFill>
            <a:prstDash val="solid"/>
            <a:round/>
            <a:headEnd len="sm" w="sm" type="none"/>
            <a:tailEnd len="sm" w="sm" type="none"/>
          </a:ln>
          <a:effectLst>
            <a:outerShdw blurRad="101600" rotWithShape="0" algn="bl" dir="5400000" dist="38100">
              <a:srgbClr val="000000">
                <a:alpha val="34902"/>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1" name="Google Shape;381;p14"/>
          <p:cNvSpPr/>
          <p:nvPr/>
        </p:nvSpPr>
        <p:spPr>
          <a:xfrm>
            <a:off x="4648200" y="2560320"/>
            <a:ext cx="286512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B7CF6"/>
              </a:buClr>
              <a:buSzPts val="950"/>
              <a:buFont typeface="Calibri"/>
              <a:buNone/>
            </a:pPr>
            <a:r>
              <a:rPr b="1" i="0" lang="en-US" sz="950" u="none" cap="none" strike="noStrike">
                <a:solidFill>
                  <a:srgbClr val="8B7CF6"/>
                </a:solidFill>
                <a:latin typeface="Calibri"/>
                <a:ea typeface="Calibri"/>
                <a:cs typeface="Calibri"/>
                <a:sym typeface="Calibri"/>
              </a:rPr>
              <a:t>PHASE 2</a:t>
            </a:r>
            <a:endParaRPr b="0" i="0" sz="950" u="none" cap="none" strike="noStrike">
              <a:solidFill>
                <a:schemeClr val="dk1"/>
              </a:solidFill>
              <a:latin typeface="Calibri"/>
              <a:ea typeface="Calibri"/>
              <a:cs typeface="Calibri"/>
              <a:sym typeface="Calibri"/>
            </a:endParaRPr>
          </a:p>
        </p:txBody>
      </p:sp>
      <p:sp>
        <p:nvSpPr>
          <p:cNvPr id="382" name="Google Shape;382;p14"/>
          <p:cNvSpPr/>
          <p:nvPr/>
        </p:nvSpPr>
        <p:spPr>
          <a:xfrm>
            <a:off x="4648200" y="2834640"/>
            <a:ext cx="2865120" cy="457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1900"/>
              <a:buFont typeface="Calibri"/>
              <a:buNone/>
            </a:pPr>
            <a:r>
              <a:rPr b="1" i="0" lang="en-US" sz="1900" u="none" cap="none" strike="noStrike">
                <a:solidFill>
                  <a:srgbClr val="FFFFFF"/>
                </a:solidFill>
                <a:latin typeface="Calibri"/>
                <a:ea typeface="Calibri"/>
                <a:cs typeface="Calibri"/>
                <a:sym typeface="Calibri"/>
              </a:rPr>
              <a:t>Expansion</a:t>
            </a:r>
            <a:endParaRPr b="0" i="0" sz="1900" u="none" cap="none" strike="noStrike">
              <a:solidFill>
                <a:schemeClr val="dk1"/>
              </a:solidFill>
              <a:latin typeface="Calibri"/>
              <a:ea typeface="Calibri"/>
              <a:cs typeface="Calibri"/>
              <a:sym typeface="Calibri"/>
            </a:endParaRPr>
          </a:p>
        </p:txBody>
      </p:sp>
      <p:sp>
        <p:nvSpPr>
          <p:cNvPr id="383" name="Google Shape;383;p14"/>
          <p:cNvSpPr/>
          <p:nvPr/>
        </p:nvSpPr>
        <p:spPr>
          <a:xfrm>
            <a:off x="4648200" y="3493008"/>
            <a:ext cx="82296" cy="82296"/>
          </a:xfrm>
          <a:prstGeom prst="ellipse">
            <a:avLst/>
          </a:prstGeom>
          <a:solidFill>
            <a:srgbClr val="8B7CF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4" name="Google Shape;384;p14"/>
          <p:cNvSpPr/>
          <p:nvPr/>
        </p:nvSpPr>
        <p:spPr>
          <a:xfrm>
            <a:off x="4876800" y="3355848"/>
            <a:ext cx="2636520" cy="502920"/>
          </a:xfrm>
          <a:prstGeom prst="rect">
            <a:avLst/>
          </a:prstGeom>
          <a:noFill/>
          <a:ln>
            <a:noFill/>
          </a:ln>
        </p:spPr>
        <p:txBody>
          <a:bodyPr anchorCtr="0" anchor="ctr" bIns="45700" lIns="91425" spcFirstLastPara="1" rIns="91425" wrap="square" tIns="45700">
            <a:noAutofit/>
          </a:bodyPr>
          <a:lstStyle/>
          <a:p>
            <a:pPr indent="0" lvl="0" marL="0" marR="0" rtl="0" algn="l">
              <a:lnSpc>
                <a:spcPct val="127272"/>
              </a:lnSpc>
              <a:spcBef>
                <a:spcPts val="0"/>
              </a:spcBef>
              <a:spcAft>
                <a:spcPts val="0"/>
              </a:spcAft>
              <a:buClr>
                <a:srgbClr val="C7CCDA"/>
              </a:buClr>
              <a:buSzPts val="1100"/>
              <a:buFont typeface="Calibri"/>
              <a:buNone/>
            </a:pPr>
            <a:r>
              <a:rPr b="0" i="0" lang="en-US" sz="1100" u="none" cap="none" strike="noStrike">
                <a:solidFill>
                  <a:srgbClr val="C7CCDA"/>
                </a:solidFill>
                <a:latin typeface="Calibri"/>
                <a:ea typeface="Calibri"/>
                <a:cs typeface="Calibri"/>
                <a:sym typeface="Calibri"/>
              </a:rPr>
              <a:t>Agent-to-agent commerce</a:t>
            </a:r>
            <a:endParaRPr b="0" i="0" sz="1100" u="none" cap="none" strike="noStrike">
              <a:solidFill>
                <a:schemeClr val="dk1"/>
              </a:solidFill>
              <a:latin typeface="Calibri"/>
              <a:ea typeface="Calibri"/>
              <a:cs typeface="Calibri"/>
              <a:sym typeface="Calibri"/>
            </a:endParaRPr>
          </a:p>
        </p:txBody>
      </p:sp>
      <p:sp>
        <p:nvSpPr>
          <p:cNvPr id="385" name="Google Shape;385;p14"/>
          <p:cNvSpPr/>
          <p:nvPr/>
        </p:nvSpPr>
        <p:spPr>
          <a:xfrm>
            <a:off x="4648200" y="4151376"/>
            <a:ext cx="82296" cy="82296"/>
          </a:xfrm>
          <a:prstGeom prst="ellipse">
            <a:avLst/>
          </a:prstGeom>
          <a:solidFill>
            <a:srgbClr val="8B7CF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6" name="Google Shape;386;p14"/>
          <p:cNvSpPr/>
          <p:nvPr/>
        </p:nvSpPr>
        <p:spPr>
          <a:xfrm>
            <a:off x="4876800" y="4014216"/>
            <a:ext cx="2636520" cy="502920"/>
          </a:xfrm>
          <a:prstGeom prst="rect">
            <a:avLst/>
          </a:prstGeom>
          <a:noFill/>
          <a:ln>
            <a:noFill/>
          </a:ln>
        </p:spPr>
        <p:txBody>
          <a:bodyPr anchorCtr="0" anchor="ctr" bIns="45700" lIns="91425" spcFirstLastPara="1" rIns="91425" wrap="square" tIns="45700">
            <a:noAutofit/>
          </a:bodyPr>
          <a:lstStyle/>
          <a:p>
            <a:pPr indent="0" lvl="0" marL="0" marR="0" rtl="0" algn="l">
              <a:lnSpc>
                <a:spcPct val="127272"/>
              </a:lnSpc>
              <a:spcBef>
                <a:spcPts val="0"/>
              </a:spcBef>
              <a:spcAft>
                <a:spcPts val="0"/>
              </a:spcAft>
              <a:buClr>
                <a:srgbClr val="C7CCDA"/>
              </a:buClr>
              <a:buSzPts val="1100"/>
              <a:buFont typeface="Calibri"/>
              <a:buNone/>
            </a:pPr>
            <a:r>
              <a:rPr b="0" i="0" lang="en-US" sz="1100" u="none" cap="none" strike="noStrike">
                <a:solidFill>
                  <a:srgbClr val="C7CCDA"/>
                </a:solidFill>
                <a:latin typeface="Calibri"/>
                <a:ea typeface="Calibri"/>
                <a:cs typeface="Calibri"/>
                <a:sym typeface="Calibri"/>
              </a:rPr>
              <a:t>Provider bidding markets</a:t>
            </a:r>
            <a:endParaRPr b="0" i="0" sz="1100" u="none" cap="none" strike="noStrike">
              <a:solidFill>
                <a:schemeClr val="dk1"/>
              </a:solidFill>
              <a:latin typeface="Calibri"/>
              <a:ea typeface="Calibri"/>
              <a:cs typeface="Calibri"/>
              <a:sym typeface="Calibri"/>
            </a:endParaRPr>
          </a:p>
        </p:txBody>
      </p:sp>
      <p:sp>
        <p:nvSpPr>
          <p:cNvPr id="387" name="Google Shape;387;p14"/>
          <p:cNvSpPr/>
          <p:nvPr/>
        </p:nvSpPr>
        <p:spPr>
          <a:xfrm>
            <a:off x="4648200" y="4809744"/>
            <a:ext cx="82296" cy="82296"/>
          </a:xfrm>
          <a:prstGeom prst="ellipse">
            <a:avLst/>
          </a:prstGeom>
          <a:solidFill>
            <a:srgbClr val="8B7CF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8" name="Google Shape;388;p14"/>
          <p:cNvSpPr/>
          <p:nvPr/>
        </p:nvSpPr>
        <p:spPr>
          <a:xfrm>
            <a:off x="4876800" y="4672584"/>
            <a:ext cx="2636520" cy="502920"/>
          </a:xfrm>
          <a:prstGeom prst="rect">
            <a:avLst/>
          </a:prstGeom>
          <a:noFill/>
          <a:ln>
            <a:noFill/>
          </a:ln>
        </p:spPr>
        <p:txBody>
          <a:bodyPr anchorCtr="0" anchor="ctr" bIns="45700" lIns="91425" spcFirstLastPara="1" rIns="91425" wrap="square" tIns="45700">
            <a:noAutofit/>
          </a:bodyPr>
          <a:lstStyle/>
          <a:p>
            <a:pPr indent="0" lvl="0" marL="0" marR="0" rtl="0" algn="l">
              <a:lnSpc>
                <a:spcPct val="127272"/>
              </a:lnSpc>
              <a:spcBef>
                <a:spcPts val="0"/>
              </a:spcBef>
              <a:spcAft>
                <a:spcPts val="0"/>
              </a:spcAft>
              <a:buClr>
                <a:srgbClr val="C7CCDA"/>
              </a:buClr>
              <a:buSzPts val="1100"/>
              <a:buFont typeface="Calibri"/>
              <a:buNone/>
            </a:pPr>
            <a:r>
              <a:rPr b="0" i="0" lang="en-US" sz="1100" u="none" cap="none" strike="noStrike">
                <a:solidFill>
                  <a:srgbClr val="C7CCDA"/>
                </a:solidFill>
                <a:latin typeface="Calibri"/>
                <a:ea typeface="Calibri"/>
                <a:cs typeface="Calibri"/>
                <a:sym typeface="Calibri"/>
              </a:rPr>
              <a:t>Circle CCTP mainnet bridges</a:t>
            </a:r>
            <a:endParaRPr b="0" i="0" sz="1100" u="none" cap="none" strike="noStrike">
              <a:solidFill>
                <a:schemeClr val="dk1"/>
              </a:solidFill>
              <a:latin typeface="Calibri"/>
              <a:ea typeface="Calibri"/>
              <a:cs typeface="Calibri"/>
              <a:sym typeface="Calibri"/>
            </a:endParaRPr>
          </a:p>
        </p:txBody>
      </p:sp>
      <p:sp>
        <p:nvSpPr>
          <p:cNvPr id="389" name="Google Shape;389;p14"/>
          <p:cNvSpPr/>
          <p:nvPr/>
        </p:nvSpPr>
        <p:spPr>
          <a:xfrm>
            <a:off x="8107680" y="2331720"/>
            <a:ext cx="3413760" cy="3291840"/>
          </a:xfrm>
          <a:prstGeom prst="roundRect">
            <a:avLst>
              <a:gd fmla="val 2500" name="adj"/>
            </a:avLst>
          </a:prstGeom>
          <a:solidFill>
            <a:srgbClr val="141B2E"/>
          </a:solidFill>
          <a:ln cap="flat" cmpd="sng" w="12700">
            <a:solidFill>
              <a:srgbClr val="232C42"/>
            </a:solidFill>
            <a:prstDash val="solid"/>
            <a:round/>
            <a:headEnd len="sm" w="sm" type="none"/>
            <a:tailEnd len="sm" w="sm" type="none"/>
          </a:ln>
          <a:effectLst>
            <a:outerShdw blurRad="101600" rotWithShape="0" algn="bl" dir="5400000" dist="38100">
              <a:srgbClr val="000000">
                <a:alpha val="34902"/>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0" name="Google Shape;390;p14"/>
          <p:cNvSpPr/>
          <p:nvPr/>
        </p:nvSpPr>
        <p:spPr>
          <a:xfrm>
            <a:off x="8382000" y="2560320"/>
            <a:ext cx="286512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34D399"/>
              </a:buClr>
              <a:buSzPts val="950"/>
              <a:buFont typeface="Calibri"/>
              <a:buNone/>
            </a:pPr>
            <a:r>
              <a:rPr b="1" i="0" lang="en-US" sz="950" u="none" cap="none" strike="noStrike">
                <a:solidFill>
                  <a:srgbClr val="34D399"/>
                </a:solidFill>
                <a:latin typeface="Calibri"/>
                <a:ea typeface="Calibri"/>
                <a:cs typeface="Calibri"/>
                <a:sym typeface="Calibri"/>
              </a:rPr>
              <a:t>PHASE 3</a:t>
            </a:r>
            <a:endParaRPr b="0" i="0" sz="950" u="none" cap="none" strike="noStrike">
              <a:solidFill>
                <a:schemeClr val="dk1"/>
              </a:solidFill>
              <a:latin typeface="Calibri"/>
              <a:ea typeface="Calibri"/>
              <a:cs typeface="Calibri"/>
              <a:sym typeface="Calibri"/>
            </a:endParaRPr>
          </a:p>
        </p:txBody>
      </p:sp>
      <p:sp>
        <p:nvSpPr>
          <p:cNvPr id="391" name="Google Shape;391;p14"/>
          <p:cNvSpPr/>
          <p:nvPr/>
        </p:nvSpPr>
        <p:spPr>
          <a:xfrm>
            <a:off x="8382000" y="2834640"/>
            <a:ext cx="2865120" cy="457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1900"/>
              <a:buFont typeface="Calibri"/>
              <a:buNone/>
            </a:pPr>
            <a:r>
              <a:rPr b="1" i="0" lang="en-US" sz="1900" u="none" cap="none" strike="noStrike">
                <a:solidFill>
                  <a:srgbClr val="FFFFFF"/>
                </a:solidFill>
                <a:latin typeface="Calibri"/>
                <a:ea typeface="Calibri"/>
                <a:cs typeface="Calibri"/>
                <a:sym typeface="Calibri"/>
              </a:rPr>
              <a:t>Decentralization</a:t>
            </a:r>
            <a:endParaRPr b="0" i="0" sz="1900" u="none" cap="none" strike="noStrike">
              <a:solidFill>
                <a:schemeClr val="dk1"/>
              </a:solidFill>
              <a:latin typeface="Calibri"/>
              <a:ea typeface="Calibri"/>
              <a:cs typeface="Calibri"/>
              <a:sym typeface="Calibri"/>
            </a:endParaRPr>
          </a:p>
        </p:txBody>
      </p:sp>
      <p:sp>
        <p:nvSpPr>
          <p:cNvPr id="392" name="Google Shape;392;p14"/>
          <p:cNvSpPr/>
          <p:nvPr/>
        </p:nvSpPr>
        <p:spPr>
          <a:xfrm>
            <a:off x="8382000" y="3493008"/>
            <a:ext cx="82296" cy="82296"/>
          </a:xfrm>
          <a:prstGeom prst="ellipse">
            <a:avLst/>
          </a:prstGeom>
          <a:solidFill>
            <a:srgbClr val="34D39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3" name="Google Shape;393;p14"/>
          <p:cNvSpPr/>
          <p:nvPr/>
        </p:nvSpPr>
        <p:spPr>
          <a:xfrm>
            <a:off x="8610600" y="3355848"/>
            <a:ext cx="2636520" cy="502920"/>
          </a:xfrm>
          <a:prstGeom prst="rect">
            <a:avLst/>
          </a:prstGeom>
          <a:noFill/>
          <a:ln>
            <a:noFill/>
          </a:ln>
        </p:spPr>
        <p:txBody>
          <a:bodyPr anchorCtr="0" anchor="ctr" bIns="45700" lIns="91425" spcFirstLastPara="1" rIns="91425" wrap="square" tIns="45700">
            <a:noAutofit/>
          </a:bodyPr>
          <a:lstStyle/>
          <a:p>
            <a:pPr indent="0" lvl="0" marL="0" marR="0" rtl="0" algn="l">
              <a:lnSpc>
                <a:spcPct val="127272"/>
              </a:lnSpc>
              <a:spcBef>
                <a:spcPts val="0"/>
              </a:spcBef>
              <a:spcAft>
                <a:spcPts val="0"/>
              </a:spcAft>
              <a:buClr>
                <a:srgbClr val="C7CCDA"/>
              </a:buClr>
              <a:buSzPts val="1100"/>
              <a:buFont typeface="Calibri"/>
              <a:buNone/>
            </a:pPr>
            <a:r>
              <a:rPr b="0" i="0" lang="en-US" sz="1100" u="none" cap="none" strike="noStrike">
                <a:solidFill>
                  <a:srgbClr val="C7CCDA"/>
                </a:solidFill>
                <a:latin typeface="Calibri"/>
                <a:ea typeface="Calibri"/>
                <a:cs typeface="Calibri"/>
                <a:sym typeface="Calibri"/>
              </a:rPr>
              <a:t>Autonomous intelligence networks</a:t>
            </a:r>
            <a:endParaRPr b="0" i="0" sz="1100" u="none" cap="none" strike="noStrike">
              <a:solidFill>
                <a:schemeClr val="dk1"/>
              </a:solidFill>
              <a:latin typeface="Calibri"/>
              <a:ea typeface="Calibri"/>
              <a:cs typeface="Calibri"/>
              <a:sym typeface="Calibri"/>
            </a:endParaRPr>
          </a:p>
        </p:txBody>
      </p:sp>
      <p:sp>
        <p:nvSpPr>
          <p:cNvPr id="394" name="Google Shape;394;p14"/>
          <p:cNvSpPr/>
          <p:nvPr/>
        </p:nvSpPr>
        <p:spPr>
          <a:xfrm>
            <a:off x="8382000" y="4151376"/>
            <a:ext cx="82296" cy="82296"/>
          </a:xfrm>
          <a:prstGeom prst="ellipse">
            <a:avLst/>
          </a:prstGeom>
          <a:solidFill>
            <a:srgbClr val="34D39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5" name="Google Shape;395;p14"/>
          <p:cNvSpPr/>
          <p:nvPr/>
        </p:nvSpPr>
        <p:spPr>
          <a:xfrm>
            <a:off x="8610600" y="4014216"/>
            <a:ext cx="2636520" cy="502920"/>
          </a:xfrm>
          <a:prstGeom prst="rect">
            <a:avLst/>
          </a:prstGeom>
          <a:noFill/>
          <a:ln>
            <a:noFill/>
          </a:ln>
        </p:spPr>
        <p:txBody>
          <a:bodyPr anchorCtr="0" anchor="ctr" bIns="45700" lIns="91425" spcFirstLastPara="1" rIns="91425" wrap="square" tIns="45700">
            <a:noAutofit/>
          </a:bodyPr>
          <a:lstStyle/>
          <a:p>
            <a:pPr indent="0" lvl="0" marL="0" marR="0" rtl="0" algn="l">
              <a:lnSpc>
                <a:spcPct val="127272"/>
              </a:lnSpc>
              <a:spcBef>
                <a:spcPts val="0"/>
              </a:spcBef>
              <a:spcAft>
                <a:spcPts val="0"/>
              </a:spcAft>
              <a:buClr>
                <a:srgbClr val="C7CCDA"/>
              </a:buClr>
              <a:buSzPts val="1100"/>
              <a:buFont typeface="Calibri"/>
              <a:buNone/>
            </a:pPr>
            <a:r>
              <a:rPr b="0" i="0" lang="en-US" sz="1100" u="none" cap="none" strike="noStrike">
                <a:solidFill>
                  <a:srgbClr val="C7CCDA"/>
                </a:solidFill>
                <a:latin typeface="Calibri"/>
                <a:ea typeface="Calibri"/>
                <a:cs typeface="Calibri"/>
                <a:sym typeface="Calibri"/>
              </a:rPr>
              <a:t>Reputation &amp; calibration systems</a:t>
            </a:r>
            <a:endParaRPr b="0" i="0" sz="1100" u="none" cap="none" strike="noStrike">
              <a:solidFill>
                <a:schemeClr val="dk1"/>
              </a:solidFill>
              <a:latin typeface="Calibri"/>
              <a:ea typeface="Calibri"/>
              <a:cs typeface="Calibri"/>
              <a:sym typeface="Calibri"/>
            </a:endParaRPr>
          </a:p>
        </p:txBody>
      </p:sp>
      <p:sp>
        <p:nvSpPr>
          <p:cNvPr id="396" name="Google Shape;396;p14"/>
          <p:cNvSpPr/>
          <p:nvPr/>
        </p:nvSpPr>
        <p:spPr>
          <a:xfrm>
            <a:off x="8382000" y="4809744"/>
            <a:ext cx="82296" cy="82296"/>
          </a:xfrm>
          <a:prstGeom prst="ellipse">
            <a:avLst/>
          </a:prstGeom>
          <a:solidFill>
            <a:srgbClr val="34D39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7" name="Google Shape;397;p14"/>
          <p:cNvSpPr/>
          <p:nvPr/>
        </p:nvSpPr>
        <p:spPr>
          <a:xfrm>
            <a:off x="8610600" y="4672584"/>
            <a:ext cx="2636520" cy="502920"/>
          </a:xfrm>
          <a:prstGeom prst="rect">
            <a:avLst/>
          </a:prstGeom>
          <a:noFill/>
          <a:ln>
            <a:noFill/>
          </a:ln>
        </p:spPr>
        <p:txBody>
          <a:bodyPr anchorCtr="0" anchor="ctr" bIns="45700" lIns="91425" spcFirstLastPara="1" rIns="91425" wrap="square" tIns="45700">
            <a:noAutofit/>
          </a:bodyPr>
          <a:lstStyle/>
          <a:p>
            <a:pPr indent="0" lvl="0" marL="0" marR="0" rtl="0" algn="l">
              <a:lnSpc>
                <a:spcPct val="127272"/>
              </a:lnSpc>
              <a:spcBef>
                <a:spcPts val="0"/>
              </a:spcBef>
              <a:spcAft>
                <a:spcPts val="0"/>
              </a:spcAft>
              <a:buClr>
                <a:srgbClr val="C7CCDA"/>
              </a:buClr>
              <a:buSzPts val="1100"/>
              <a:buFont typeface="Calibri"/>
              <a:buNone/>
            </a:pPr>
            <a:r>
              <a:rPr b="0" i="0" lang="en-US" sz="1100" u="none" cap="none" strike="noStrike">
                <a:solidFill>
                  <a:srgbClr val="C7CCDA"/>
                </a:solidFill>
                <a:latin typeface="Calibri"/>
                <a:ea typeface="Calibri"/>
                <a:cs typeface="Calibri"/>
                <a:sym typeface="Calibri"/>
              </a:rPr>
              <a:t>Fully decentralized marketplace</a:t>
            </a:r>
            <a:endParaRPr b="0" i="0" sz="1100" u="none" cap="none" strike="noStrike">
              <a:solidFill>
                <a:schemeClr val="dk1"/>
              </a:solidFill>
              <a:latin typeface="Calibri"/>
              <a:ea typeface="Calibri"/>
              <a:cs typeface="Calibri"/>
              <a:sym typeface="Calibri"/>
            </a:endParaRPr>
          </a:p>
        </p:txBody>
      </p:sp>
      <p:sp>
        <p:nvSpPr>
          <p:cNvPr id="398" name="Google Shape;398;p14"/>
          <p:cNvSpPr/>
          <p:nvPr/>
        </p:nvSpPr>
        <p:spPr>
          <a:xfrm>
            <a:off x="457200" y="6473952"/>
            <a:ext cx="18288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B93A7"/>
              </a:buClr>
              <a:buSzPts val="1000"/>
              <a:buFont typeface="Calibri"/>
              <a:buNone/>
            </a:pPr>
            <a:r>
              <a:rPr b="1" i="0" lang="en-US" sz="1000" u="none" cap="none" strike="noStrike">
                <a:solidFill>
                  <a:srgbClr val="8B93A7"/>
                </a:solidFill>
                <a:latin typeface="Calibri"/>
                <a:ea typeface="Calibri"/>
                <a:cs typeface="Calibri"/>
                <a:sym typeface="Calibri"/>
              </a:rPr>
              <a:t>QMA</a:t>
            </a:r>
            <a:endParaRPr b="0" i="0" sz="1000" u="none" cap="none" strike="noStrike">
              <a:solidFill>
                <a:schemeClr val="dk1"/>
              </a:solidFill>
              <a:latin typeface="Calibri"/>
              <a:ea typeface="Calibri"/>
              <a:cs typeface="Calibri"/>
              <a:sym typeface="Calibri"/>
            </a:endParaRPr>
          </a:p>
        </p:txBody>
      </p:sp>
      <p:sp>
        <p:nvSpPr>
          <p:cNvPr id="399" name="Google Shape;399;p14"/>
          <p:cNvSpPr/>
          <p:nvPr/>
        </p:nvSpPr>
        <p:spPr>
          <a:xfrm>
            <a:off x="1828800" y="6473952"/>
            <a:ext cx="45720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B93A7"/>
              </a:buClr>
              <a:buSzPts val="900"/>
              <a:buFont typeface="Calibri"/>
              <a:buNone/>
            </a:pPr>
            <a:r>
              <a:rPr b="0" i="0" lang="en-US" sz="900" u="none" cap="none" strike="noStrike">
                <a:solidFill>
                  <a:srgbClr val="8B93A7"/>
                </a:solidFill>
                <a:latin typeface="Calibri"/>
                <a:ea typeface="Calibri"/>
                <a:cs typeface="Calibri"/>
                <a:sym typeface="Calibri"/>
              </a:rPr>
              <a:t>Roadmap</a:t>
            </a:r>
            <a:endParaRPr b="0" i="0" sz="900" u="none" cap="none" strike="noStrike">
              <a:solidFill>
                <a:schemeClr val="dk1"/>
              </a:solidFill>
              <a:latin typeface="Calibri"/>
              <a:ea typeface="Calibri"/>
              <a:cs typeface="Calibri"/>
              <a:sym typeface="Calibri"/>
            </a:endParaRPr>
          </a:p>
        </p:txBody>
      </p:sp>
      <p:sp>
        <p:nvSpPr>
          <p:cNvPr id="400" name="Google Shape;400;p14"/>
          <p:cNvSpPr/>
          <p:nvPr/>
        </p:nvSpPr>
        <p:spPr>
          <a:xfrm>
            <a:off x="10817352" y="6473952"/>
            <a:ext cx="914400" cy="27432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8B93A7"/>
              </a:buClr>
              <a:buSzPts val="1000"/>
              <a:buFont typeface="Calibri"/>
              <a:buNone/>
            </a:pPr>
            <a:r>
              <a:rPr b="0" i="0" lang="en-US" sz="1000" u="none" cap="none" strike="noStrike">
                <a:solidFill>
                  <a:srgbClr val="8B93A7"/>
                </a:solidFill>
                <a:latin typeface="Calibri"/>
                <a:ea typeface="Calibri"/>
                <a:cs typeface="Calibri"/>
                <a:sym typeface="Calibri"/>
              </a:rPr>
              <a:t>12 / 16</a:t>
            </a:r>
            <a:endParaRPr b="0" i="0" sz="1000" u="none" cap="none" strike="noStrike">
              <a:solidFill>
                <a:schemeClr val="dk1"/>
              </a:solidFill>
              <a:latin typeface="Calibri"/>
              <a:ea typeface="Calibri"/>
              <a:cs typeface="Calibri"/>
              <a:sym typeface="Calibri"/>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B0F1C"/>
        </a:solidFill>
      </p:bgPr>
    </p:bg>
    <p:spTree>
      <p:nvGrpSpPr>
        <p:cNvPr id="405" name="Shape 405"/>
        <p:cNvGrpSpPr/>
        <p:nvPr/>
      </p:nvGrpSpPr>
      <p:grpSpPr>
        <a:xfrm>
          <a:off x="0" y="0"/>
          <a:ext cx="0" cy="0"/>
          <a:chOff x="0" y="0"/>
          <a:chExt cx="0" cy="0"/>
        </a:xfrm>
      </p:grpSpPr>
      <p:sp>
        <p:nvSpPr>
          <p:cNvPr id="406" name="Google Shape;406;p15"/>
          <p:cNvSpPr/>
          <p:nvPr/>
        </p:nvSpPr>
        <p:spPr>
          <a:xfrm>
            <a:off x="0" y="2743200"/>
            <a:ext cx="12188952" cy="64008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3000"/>
              <a:buFont typeface="Calibri"/>
              <a:buNone/>
            </a:pPr>
            <a:r>
              <a:rPr b="1" i="0" lang="en-US" sz="3000" u="none" cap="none" strike="noStrike">
                <a:solidFill>
                  <a:srgbClr val="FFFFFF"/>
                </a:solidFill>
                <a:latin typeface="Calibri"/>
                <a:ea typeface="Calibri"/>
                <a:cs typeface="Calibri"/>
                <a:sym typeface="Calibri"/>
              </a:rPr>
              <a:t>APPENDIX</a:t>
            </a:r>
            <a:endParaRPr b="0" i="0" sz="3000" u="none" cap="none" strike="noStrike">
              <a:solidFill>
                <a:schemeClr val="dk1"/>
              </a:solidFill>
              <a:latin typeface="Calibri"/>
              <a:ea typeface="Calibri"/>
              <a:cs typeface="Calibri"/>
              <a:sym typeface="Calibri"/>
            </a:endParaRPr>
          </a:p>
        </p:txBody>
      </p:sp>
      <p:sp>
        <p:nvSpPr>
          <p:cNvPr id="407" name="Google Shape;407;p15"/>
          <p:cNvSpPr/>
          <p:nvPr/>
        </p:nvSpPr>
        <p:spPr>
          <a:xfrm>
            <a:off x="0" y="3429000"/>
            <a:ext cx="12188952" cy="36576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8B93A7"/>
              </a:buClr>
              <a:buSzPts val="1300"/>
              <a:buFont typeface="Calibri"/>
              <a:buNone/>
            </a:pPr>
            <a:r>
              <a:rPr b="0" i="1" lang="en-US" sz="1300" u="none" cap="none" strike="noStrike">
                <a:solidFill>
                  <a:srgbClr val="8B93A7"/>
                </a:solidFill>
                <a:latin typeface="Calibri"/>
                <a:ea typeface="Calibri"/>
                <a:cs typeface="Calibri"/>
                <a:sym typeface="Calibri"/>
              </a:rPr>
              <a:t>Technical detail for judge Q&amp;A — not part of the core narrative.</a:t>
            </a:r>
            <a:endParaRPr b="0" i="0" sz="1300" u="none" cap="none" strike="noStrike">
              <a:solidFill>
                <a:schemeClr val="dk1"/>
              </a:solidFill>
              <a:latin typeface="Calibri"/>
              <a:ea typeface="Calibri"/>
              <a:cs typeface="Calibri"/>
              <a:sym typeface="Calibri"/>
            </a:endParaRPr>
          </a:p>
        </p:txBody>
      </p:sp>
      <p:sp>
        <p:nvSpPr>
          <p:cNvPr id="408" name="Google Shape;408;p15"/>
          <p:cNvSpPr/>
          <p:nvPr/>
        </p:nvSpPr>
        <p:spPr>
          <a:xfrm>
            <a:off x="457200" y="6473952"/>
            <a:ext cx="18288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B93A7"/>
              </a:buClr>
              <a:buSzPts val="1000"/>
              <a:buFont typeface="Calibri"/>
              <a:buNone/>
            </a:pPr>
            <a:r>
              <a:rPr b="1" i="0" lang="en-US" sz="1000" u="none" cap="none" strike="noStrike">
                <a:solidFill>
                  <a:srgbClr val="8B93A7"/>
                </a:solidFill>
                <a:latin typeface="Calibri"/>
                <a:ea typeface="Calibri"/>
                <a:cs typeface="Calibri"/>
                <a:sym typeface="Calibri"/>
              </a:rPr>
              <a:t>QMA</a:t>
            </a:r>
            <a:endParaRPr b="0" i="0" sz="1000" u="none" cap="none" strike="noStrike">
              <a:solidFill>
                <a:schemeClr val="dk1"/>
              </a:solidFill>
              <a:latin typeface="Calibri"/>
              <a:ea typeface="Calibri"/>
              <a:cs typeface="Calibri"/>
              <a:sym typeface="Calibri"/>
            </a:endParaRPr>
          </a:p>
        </p:txBody>
      </p:sp>
      <p:sp>
        <p:nvSpPr>
          <p:cNvPr id="409" name="Google Shape;409;p15"/>
          <p:cNvSpPr/>
          <p:nvPr/>
        </p:nvSpPr>
        <p:spPr>
          <a:xfrm>
            <a:off x="1828800" y="6473952"/>
            <a:ext cx="45720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B93A7"/>
              </a:buClr>
              <a:buSzPts val="900"/>
              <a:buFont typeface="Calibri"/>
              <a:buNone/>
            </a:pPr>
            <a:r>
              <a:rPr b="0" i="0" lang="en-US" sz="900" u="none" cap="none" strike="noStrike">
                <a:solidFill>
                  <a:srgbClr val="8B93A7"/>
                </a:solidFill>
                <a:latin typeface="Calibri"/>
                <a:ea typeface="Calibri"/>
                <a:cs typeface="Calibri"/>
                <a:sym typeface="Calibri"/>
              </a:rPr>
              <a:t>Appendix</a:t>
            </a:r>
            <a:endParaRPr b="0" i="0" sz="900" u="none" cap="none" strike="noStrike">
              <a:solidFill>
                <a:schemeClr val="dk1"/>
              </a:solidFill>
              <a:latin typeface="Calibri"/>
              <a:ea typeface="Calibri"/>
              <a:cs typeface="Calibri"/>
              <a:sym typeface="Calibri"/>
            </a:endParaRPr>
          </a:p>
        </p:txBody>
      </p:sp>
      <p:sp>
        <p:nvSpPr>
          <p:cNvPr id="410" name="Google Shape;410;p15"/>
          <p:cNvSpPr/>
          <p:nvPr/>
        </p:nvSpPr>
        <p:spPr>
          <a:xfrm>
            <a:off x="10817352" y="6473952"/>
            <a:ext cx="914400" cy="27432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8B93A7"/>
              </a:buClr>
              <a:buSzPts val="1000"/>
              <a:buFont typeface="Calibri"/>
              <a:buNone/>
            </a:pPr>
            <a:r>
              <a:rPr b="0" i="0" lang="en-US" sz="1000" u="none" cap="none" strike="noStrike">
                <a:solidFill>
                  <a:srgbClr val="8B93A7"/>
                </a:solidFill>
                <a:latin typeface="Calibri"/>
                <a:ea typeface="Calibri"/>
                <a:cs typeface="Calibri"/>
                <a:sym typeface="Calibri"/>
              </a:rPr>
              <a:t>13 / 16</a:t>
            </a:r>
            <a:endParaRPr b="0" i="0" sz="1000" u="none" cap="none" strike="noStrike">
              <a:solidFill>
                <a:schemeClr val="dk1"/>
              </a:solidFill>
              <a:latin typeface="Calibri"/>
              <a:ea typeface="Calibri"/>
              <a:cs typeface="Calibri"/>
              <a:sym typeface="Calibri"/>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B0F1C"/>
        </a:solidFill>
      </p:bgPr>
    </p:bg>
    <p:spTree>
      <p:nvGrpSpPr>
        <p:cNvPr id="415" name="Shape 415"/>
        <p:cNvGrpSpPr/>
        <p:nvPr/>
      </p:nvGrpSpPr>
      <p:grpSpPr>
        <a:xfrm>
          <a:off x="0" y="0"/>
          <a:ext cx="0" cy="0"/>
          <a:chOff x="0" y="0"/>
          <a:chExt cx="0" cy="0"/>
        </a:xfrm>
      </p:grpSpPr>
      <p:sp>
        <p:nvSpPr>
          <p:cNvPr id="416" name="Google Shape;416;p16"/>
          <p:cNvSpPr/>
          <p:nvPr/>
        </p:nvSpPr>
        <p:spPr>
          <a:xfrm>
            <a:off x="640080" y="502920"/>
            <a:ext cx="7315200" cy="32004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B93A7"/>
              </a:buClr>
              <a:buSzPts val="1200"/>
              <a:buFont typeface="Calibri"/>
              <a:buNone/>
            </a:pPr>
            <a:r>
              <a:rPr b="1" i="0" lang="en-US" sz="1200" u="none" cap="none" strike="noStrike">
                <a:solidFill>
                  <a:srgbClr val="8B93A7"/>
                </a:solidFill>
                <a:latin typeface="Calibri"/>
                <a:ea typeface="Calibri"/>
                <a:cs typeface="Calibri"/>
                <a:sym typeface="Calibri"/>
              </a:rPr>
              <a:t>APPENDIX A</a:t>
            </a:r>
            <a:endParaRPr b="0" i="0" sz="1200" u="none" cap="none" strike="noStrike">
              <a:solidFill>
                <a:schemeClr val="dk1"/>
              </a:solidFill>
              <a:latin typeface="Calibri"/>
              <a:ea typeface="Calibri"/>
              <a:cs typeface="Calibri"/>
              <a:sym typeface="Calibri"/>
            </a:endParaRPr>
          </a:p>
        </p:txBody>
      </p:sp>
      <p:sp>
        <p:nvSpPr>
          <p:cNvPr id="417" name="Google Shape;417;p16"/>
          <p:cNvSpPr/>
          <p:nvPr/>
        </p:nvSpPr>
        <p:spPr>
          <a:xfrm>
            <a:off x="640080" y="804672"/>
            <a:ext cx="10789920" cy="7315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3400"/>
              <a:buFont typeface="Calibri"/>
              <a:buNone/>
            </a:pPr>
            <a:r>
              <a:rPr b="1" i="0" lang="en-US" sz="3400" u="none" cap="none" strike="noStrike">
                <a:solidFill>
                  <a:srgbClr val="FFFFFF"/>
                </a:solidFill>
                <a:latin typeface="Calibri"/>
                <a:ea typeface="Calibri"/>
                <a:cs typeface="Calibri"/>
                <a:sym typeface="Calibri"/>
              </a:rPr>
              <a:t>Core Technical Stack</a:t>
            </a:r>
            <a:endParaRPr b="0" i="0" sz="3400" u="none" cap="none" strike="noStrike">
              <a:solidFill>
                <a:schemeClr val="dk1"/>
              </a:solidFill>
              <a:latin typeface="Calibri"/>
              <a:ea typeface="Calibri"/>
              <a:cs typeface="Calibri"/>
              <a:sym typeface="Calibri"/>
            </a:endParaRPr>
          </a:p>
        </p:txBody>
      </p:sp>
      <p:sp>
        <p:nvSpPr>
          <p:cNvPr id="418" name="Google Shape;418;p16"/>
          <p:cNvSpPr/>
          <p:nvPr/>
        </p:nvSpPr>
        <p:spPr>
          <a:xfrm>
            <a:off x="640080" y="2377440"/>
            <a:ext cx="5280660" cy="1371600"/>
          </a:xfrm>
          <a:prstGeom prst="roundRect">
            <a:avLst>
              <a:gd fmla="val 6000" name="adj"/>
            </a:avLst>
          </a:prstGeom>
          <a:solidFill>
            <a:srgbClr val="141B2E"/>
          </a:solidFill>
          <a:ln cap="flat" cmpd="sng" w="12700">
            <a:solidFill>
              <a:srgbClr val="232C42"/>
            </a:solidFill>
            <a:prstDash val="solid"/>
            <a:round/>
            <a:headEnd len="sm" w="sm" type="none"/>
            <a:tailEnd len="sm" w="sm" type="none"/>
          </a:ln>
          <a:effectLst>
            <a:outerShdw blurRad="101600" rotWithShape="0" algn="bl" dir="5400000" dist="38100">
              <a:srgbClr val="000000">
                <a:alpha val="34902"/>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9" name="Google Shape;419;p16"/>
          <p:cNvSpPr/>
          <p:nvPr/>
        </p:nvSpPr>
        <p:spPr>
          <a:xfrm>
            <a:off x="914400" y="2651760"/>
            <a:ext cx="457200" cy="457200"/>
          </a:xfrm>
          <a:prstGeom prst="roundRect">
            <a:avLst>
              <a:gd fmla="val 24000" name="adj"/>
            </a:avLst>
          </a:prstGeom>
          <a:solidFill>
            <a:srgbClr val="0F1526"/>
          </a:solidFill>
          <a:ln cap="flat" cmpd="sng" w="19050">
            <a:solidFill>
              <a:srgbClr val="2DD4B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0" name="Google Shape;420;p16"/>
          <p:cNvSpPr/>
          <p:nvPr/>
        </p:nvSpPr>
        <p:spPr>
          <a:xfrm>
            <a:off x="1554480" y="2606040"/>
            <a:ext cx="4183380" cy="36576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1500"/>
              <a:buFont typeface="Calibri"/>
              <a:buNone/>
            </a:pPr>
            <a:r>
              <a:rPr b="1" i="0" lang="en-US" sz="1500" u="none" cap="none" strike="noStrike">
                <a:solidFill>
                  <a:srgbClr val="FFFFFF"/>
                </a:solidFill>
                <a:latin typeface="Calibri"/>
                <a:ea typeface="Calibri"/>
                <a:cs typeface="Calibri"/>
                <a:sym typeface="Calibri"/>
              </a:rPr>
              <a:t>Backend</a:t>
            </a:r>
            <a:endParaRPr b="0" i="0" sz="1500" u="none" cap="none" strike="noStrike">
              <a:solidFill>
                <a:schemeClr val="dk1"/>
              </a:solidFill>
              <a:latin typeface="Calibri"/>
              <a:ea typeface="Calibri"/>
              <a:cs typeface="Calibri"/>
              <a:sym typeface="Calibri"/>
            </a:endParaRPr>
          </a:p>
        </p:txBody>
      </p:sp>
      <p:sp>
        <p:nvSpPr>
          <p:cNvPr id="421" name="Google Shape;421;p16"/>
          <p:cNvSpPr/>
          <p:nvPr/>
        </p:nvSpPr>
        <p:spPr>
          <a:xfrm>
            <a:off x="1554480" y="2971800"/>
            <a:ext cx="4183380" cy="54864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C7CCDA"/>
              </a:buClr>
              <a:buSzPts val="1150"/>
              <a:buFont typeface="Calibri"/>
              <a:buNone/>
            </a:pPr>
            <a:r>
              <a:rPr b="0" i="0" lang="en-US" sz="1150" u="none" cap="none" strike="noStrike">
                <a:solidFill>
                  <a:srgbClr val="C7CCDA"/>
                </a:solidFill>
                <a:latin typeface="Calibri"/>
                <a:ea typeface="Calibri"/>
                <a:cs typeface="Calibri"/>
                <a:sym typeface="Calibri"/>
              </a:rPr>
              <a:t>Python 3.11 · FastAPI</a:t>
            </a:r>
            <a:endParaRPr b="0" i="0" sz="1150" u="none" cap="none" strike="noStrike">
              <a:solidFill>
                <a:schemeClr val="dk1"/>
              </a:solidFill>
              <a:latin typeface="Calibri"/>
              <a:ea typeface="Calibri"/>
              <a:cs typeface="Calibri"/>
              <a:sym typeface="Calibri"/>
            </a:endParaRPr>
          </a:p>
        </p:txBody>
      </p:sp>
      <p:sp>
        <p:nvSpPr>
          <p:cNvPr id="422" name="Google Shape;422;p16"/>
          <p:cNvSpPr/>
          <p:nvPr/>
        </p:nvSpPr>
        <p:spPr>
          <a:xfrm>
            <a:off x="6240780" y="2377440"/>
            <a:ext cx="5280660" cy="1371600"/>
          </a:xfrm>
          <a:prstGeom prst="roundRect">
            <a:avLst>
              <a:gd fmla="val 6000" name="adj"/>
            </a:avLst>
          </a:prstGeom>
          <a:solidFill>
            <a:srgbClr val="141B2E"/>
          </a:solidFill>
          <a:ln cap="flat" cmpd="sng" w="12700">
            <a:solidFill>
              <a:srgbClr val="232C42"/>
            </a:solidFill>
            <a:prstDash val="solid"/>
            <a:round/>
            <a:headEnd len="sm" w="sm" type="none"/>
            <a:tailEnd len="sm" w="sm" type="none"/>
          </a:ln>
          <a:effectLst>
            <a:outerShdw blurRad="101600" rotWithShape="0" algn="bl" dir="5400000" dist="38100">
              <a:srgbClr val="000000">
                <a:alpha val="34902"/>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3" name="Google Shape;423;p16"/>
          <p:cNvSpPr/>
          <p:nvPr/>
        </p:nvSpPr>
        <p:spPr>
          <a:xfrm>
            <a:off x="6515100" y="2651760"/>
            <a:ext cx="457200" cy="457200"/>
          </a:xfrm>
          <a:prstGeom prst="roundRect">
            <a:avLst>
              <a:gd fmla="val 24000" name="adj"/>
            </a:avLst>
          </a:prstGeom>
          <a:solidFill>
            <a:srgbClr val="0F1526"/>
          </a:solidFill>
          <a:ln cap="flat" cmpd="sng" w="19050">
            <a:solidFill>
              <a:srgbClr val="8B7CF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4" name="Google Shape;424;p16"/>
          <p:cNvSpPr/>
          <p:nvPr/>
        </p:nvSpPr>
        <p:spPr>
          <a:xfrm>
            <a:off x="7155180" y="2606040"/>
            <a:ext cx="4183380" cy="36576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1500"/>
              <a:buFont typeface="Calibri"/>
              <a:buNone/>
            </a:pPr>
            <a:r>
              <a:rPr b="1" i="0" lang="en-US" sz="1500" u="none" cap="none" strike="noStrike">
                <a:solidFill>
                  <a:srgbClr val="FFFFFF"/>
                </a:solidFill>
                <a:latin typeface="Calibri"/>
                <a:ea typeface="Calibri"/>
                <a:cs typeface="Calibri"/>
                <a:sym typeface="Calibri"/>
              </a:rPr>
              <a:t>Storage</a:t>
            </a:r>
            <a:endParaRPr b="0" i="0" sz="1500" u="none" cap="none" strike="noStrike">
              <a:solidFill>
                <a:schemeClr val="dk1"/>
              </a:solidFill>
              <a:latin typeface="Calibri"/>
              <a:ea typeface="Calibri"/>
              <a:cs typeface="Calibri"/>
              <a:sym typeface="Calibri"/>
            </a:endParaRPr>
          </a:p>
        </p:txBody>
      </p:sp>
      <p:sp>
        <p:nvSpPr>
          <p:cNvPr id="425" name="Google Shape;425;p16"/>
          <p:cNvSpPr/>
          <p:nvPr/>
        </p:nvSpPr>
        <p:spPr>
          <a:xfrm>
            <a:off x="7155180" y="2971800"/>
            <a:ext cx="4183380" cy="54864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C7CCDA"/>
              </a:buClr>
              <a:buSzPts val="1150"/>
              <a:buFont typeface="Calibri"/>
              <a:buNone/>
            </a:pPr>
            <a:r>
              <a:rPr b="0" i="0" lang="en-US" sz="1150" u="none" cap="none" strike="noStrike">
                <a:solidFill>
                  <a:srgbClr val="C7CCDA"/>
                </a:solidFill>
                <a:latin typeface="Calibri"/>
                <a:ea typeface="Calibri"/>
                <a:cs typeface="Calibri"/>
                <a:sym typeface="Calibri"/>
              </a:rPr>
              <a:t>Supabase PostgreSQL · payment event tables</a:t>
            </a:r>
            <a:endParaRPr b="0" i="0" sz="1150" u="none" cap="none" strike="noStrike">
              <a:solidFill>
                <a:schemeClr val="dk1"/>
              </a:solidFill>
              <a:latin typeface="Calibri"/>
              <a:ea typeface="Calibri"/>
              <a:cs typeface="Calibri"/>
              <a:sym typeface="Calibri"/>
            </a:endParaRPr>
          </a:p>
        </p:txBody>
      </p:sp>
      <p:sp>
        <p:nvSpPr>
          <p:cNvPr id="426" name="Google Shape;426;p16"/>
          <p:cNvSpPr/>
          <p:nvPr/>
        </p:nvSpPr>
        <p:spPr>
          <a:xfrm>
            <a:off x="640080" y="4069080"/>
            <a:ext cx="5280660" cy="1371600"/>
          </a:xfrm>
          <a:prstGeom prst="roundRect">
            <a:avLst>
              <a:gd fmla="val 6000" name="adj"/>
            </a:avLst>
          </a:prstGeom>
          <a:solidFill>
            <a:srgbClr val="141B2E"/>
          </a:solidFill>
          <a:ln cap="flat" cmpd="sng" w="12700">
            <a:solidFill>
              <a:srgbClr val="232C42"/>
            </a:solidFill>
            <a:prstDash val="solid"/>
            <a:round/>
            <a:headEnd len="sm" w="sm" type="none"/>
            <a:tailEnd len="sm" w="sm" type="none"/>
          </a:ln>
          <a:effectLst>
            <a:outerShdw blurRad="101600" rotWithShape="0" algn="bl" dir="5400000" dist="38100">
              <a:srgbClr val="000000">
                <a:alpha val="34902"/>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7" name="Google Shape;427;p16"/>
          <p:cNvSpPr/>
          <p:nvPr/>
        </p:nvSpPr>
        <p:spPr>
          <a:xfrm>
            <a:off x="914400" y="4343400"/>
            <a:ext cx="457200" cy="457200"/>
          </a:xfrm>
          <a:prstGeom prst="roundRect">
            <a:avLst>
              <a:gd fmla="val 24000" name="adj"/>
            </a:avLst>
          </a:prstGeom>
          <a:solidFill>
            <a:srgbClr val="0F1526"/>
          </a:solidFill>
          <a:ln cap="flat" cmpd="sng" w="19050">
            <a:solidFill>
              <a:srgbClr val="34D39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8" name="Google Shape;428;p16"/>
          <p:cNvSpPr/>
          <p:nvPr/>
        </p:nvSpPr>
        <p:spPr>
          <a:xfrm>
            <a:off x="1554480" y="4297680"/>
            <a:ext cx="4183380" cy="36576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1500"/>
              <a:buFont typeface="Calibri"/>
              <a:buNone/>
            </a:pPr>
            <a:r>
              <a:rPr b="1" i="0" lang="en-US" sz="1500" u="none" cap="none" strike="noStrike">
                <a:solidFill>
                  <a:srgbClr val="FFFFFF"/>
                </a:solidFill>
                <a:latin typeface="Calibri"/>
                <a:ea typeface="Calibri"/>
                <a:cs typeface="Calibri"/>
                <a:sym typeface="Calibri"/>
              </a:rPr>
              <a:t>Frontend</a:t>
            </a:r>
            <a:endParaRPr b="0" i="0" sz="1500" u="none" cap="none" strike="noStrike">
              <a:solidFill>
                <a:schemeClr val="dk1"/>
              </a:solidFill>
              <a:latin typeface="Calibri"/>
              <a:ea typeface="Calibri"/>
              <a:cs typeface="Calibri"/>
              <a:sym typeface="Calibri"/>
            </a:endParaRPr>
          </a:p>
        </p:txBody>
      </p:sp>
      <p:sp>
        <p:nvSpPr>
          <p:cNvPr id="429" name="Google Shape;429;p16"/>
          <p:cNvSpPr/>
          <p:nvPr/>
        </p:nvSpPr>
        <p:spPr>
          <a:xfrm>
            <a:off x="1554480" y="4663440"/>
            <a:ext cx="4183380" cy="54864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C7CCDA"/>
              </a:buClr>
              <a:buSzPts val="1150"/>
              <a:buFont typeface="Calibri"/>
              <a:buNone/>
            </a:pPr>
            <a:r>
              <a:rPr b="0" i="0" lang="en-US" sz="1150" u="none" cap="none" strike="noStrike">
                <a:solidFill>
                  <a:srgbClr val="C7CCDA"/>
                </a:solidFill>
                <a:latin typeface="Calibri"/>
                <a:ea typeface="Calibri"/>
                <a:cs typeface="Calibri"/>
                <a:sym typeface="Calibri"/>
              </a:rPr>
              <a:t>React 18 · Vite · TypeScript</a:t>
            </a:r>
            <a:endParaRPr b="0" i="0" sz="1150" u="none" cap="none" strike="noStrike">
              <a:solidFill>
                <a:schemeClr val="dk1"/>
              </a:solidFill>
              <a:latin typeface="Calibri"/>
              <a:ea typeface="Calibri"/>
              <a:cs typeface="Calibri"/>
              <a:sym typeface="Calibri"/>
            </a:endParaRPr>
          </a:p>
        </p:txBody>
      </p:sp>
      <p:sp>
        <p:nvSpPr>
          <p:cNvPr id="430" name="Google Shape;430;p16"/>
          <p:cNvSpPr/>
          <p:nvPr/>
        </p:nvSpPr>
        <p:spPr>
          <a:xfrm>
            <a:off x="6240780" y="4069080"/>
            <a:ext cx="5280660" cy="1371600"/>
          </a:xfrm>
          <a:prstGeom prst="roundRect">
            <a:avLst>
              <a:gd fmla="val 6000" name="adj"/>
            </a:avLst>
          </a:prstGeom>
          <a:solidFill>
            <a:srgbClr val="141B2E"/>
          </a:solidFill>
          <a:ln cap="flat" cmpd="sng" w="12700">
            <a:solidFill>
              <a:srgbClr val="232C42"/>
            </a:solidFill>
            <a:prstDash val="solid"/>
            <a:round/>
            <a:headEnd len="sm" w="sm" type="none"/>
            <a:tailEnd len="sm" w="sm" type="none"/>
          </a:ln>
          <a:effectLst>
            <a:outerShdw blurRad="101600" rotWithShape="0" algn="bl" dir="5400000" dist="38100">
              <a:srgbClr val="000000">
                <a:alpha val="34902"/>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1" name="Google Shape;431;p16"/>
          <p:cNvSpPr/>
          <p:nvPr/>
        </p:nvSpPr>
        <p:spPr>
          <a:xfrm>
            <a:off x="6515100" y="4343400"/>
            <a:ext cx="457200" cy="457200"/>
          </a:xfrm>
          <a:prstGeom prst="roundRect">
            <a:avLst>
              <a:gd fmla="val 24000" name="adj"/>
            </a:avLst>
          </a:prstGeom>
          <a:solidFill>
            <a:srgbClr val="0F1526"/>
          </a:solidFill>
          <a:ln cap="flat" cmpd="sng" w="19050">
            <a:solidFill>
              <a:srgbClr val="8B93A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2" name="Google Shape;432;p16"/>
          <p:cNvSpPr/>
          <p:nvPr/>
        </p:nvSpPr>
        <p:spPr>
          <a:xfrm>
            <a:off x="7155180" y="4297680"/>
            <a:ext cx="4183380" cy="36576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1500"/>
              <a:buFont typeface="Calibri"/>
              <a:buNone/>
            </a:pPr>
            <a:r>
              <a:rPr b="1" i="0" lang="en-US" sz="1500" u="none" cap="none" strike="noStrike">
                <a:solidFill>
                  <a:srgbClr val="FFFFFF"/>
                </a:solidFill>
                <a:latin typeface="Calibri"/>
                <a:ea typeface="Calibri"/>
                <a:cs typeface="Calibri"/>
                <a:sym typeface="Calibri"/>
              </a:rPr>
              <a:t>Blockchain</a:t>
            </a:r>
            <a:endParaRPr b="0" i="0" sz="1500" u="none" cap="none" strike="noStrike">
              <a:solidFill>
                <a:schemeClr val="dk1"/>
              </a:solidFill>
              <a:latin typeface="Calibri"/>
              <a:ea typeface="Calibri"/>
              <a:cs typeface="Calibri"/>
              <a:sym typeface="Calibri"/>
            </a:endParaRPr>
          </a:p>
        </p:txBody>
      </p:sp>
      <p:sp>
        <p:nvSpPr>
          <p:cNvPr id="433" name="Google Shape;433;p16"/>
          <p:cNvSpPr/>
          <p:nvPr/>
        </p:nvSpPr>
        <p:spPr>
          <a:xfrm>
            <a:off x="7155180" y="4663440"/>
            <a:ext cx="4183380" cy="54864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C7CCDA"/>
              </a:buClr>
              <a:buSzPts val="1150"/>
              <a:buFont typeface="Calibri"/>
              <a:buNone/>
            </a:pPr>
            <a:r>
              <a:rPr b="0" i="0" lang="en-US" sz="1150" u="none" cap="none" strike="noStrike">
                <a:solidFill>
                  <a:srgbClr val="C7CCDA"/>
                </a:solidFill>
                <a:latin typeface="Calibri"/>
                <a:ea typeface="Calibri"/>
                <a:cs typeface="Calibri"/>
                <a:sym typeface="Calibri"/>
              </a:rPr>
              <a:t>Ethers.js · MetaMask · Circle Developer Wallets SDK</a:t>
            </a:r>
            <a:endParaRPr b="0" i="0" sz="1150" u="none" cap="none" strike="noStrike">
              <a:solidFill>
                <a:schemeClr val="dk1"/>
              </a:solidFill>
              <a:latin typeface="Calibri"/>
              <a:ea typeface="Calibri"/>
              <a:cs typeface="Calibri"/>
              <a:sym typeface="Calibri"/>
            </a:endParaRPr>
          </a:p>
        </p:txBody>
      </p:sp>
      <p:sp>
        <p:nvSpPr>
          <p:cNvPr id="434" name="Google Shape;434;p16"/>
          <p:cNvSpPr/>
          <p:nvPr/>
        </p:nvSpPr>
        <p:spPr>
          <a:xfrm>
            <a:off x="457200" y="6473952"/>
            <a:ext cx="18288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B93A7"/>
              </a:buClr>
              <a:buSzPts val="1000"/>
              <a:buFont typeface="Calibri"/>
              <a:buNone/>
            </a:pPr>
            <a:r>
              <a:rPr b="1" i="0" lang="en-US" sz="1000" u="none" cap="none" strike="noStrike">
                <a:solidFill>
                  <a:srgbClr val="8B93A7"/>
                </a:solidFill>
                <a:latin typeface="Calibri"/>
                <a:ea typeface="Calibri"/>
                <a:cs typeface="Calibri"/>
                <a:sym typeface="Calibri"/>
              </a:rPr>
              <a:t>QMA</a:t>
            </a:r>
            <a:endParaRPr b="0" i="0" sz="1000" u="none" cap="none" strike="noStrike">
              <a:solidFill>
                <a:schemeClr val="dk1"/>
              </a:solidFill>
              <a:latin typeface="Calibri"/>
              <a:ea typeface="Calibri"/>
              <a:cs typeface="Calibri"/>
              <a:sym typeface="Calibri"/>
            </a:endParaRPr>
          </a:p>
        </p:txBody>
      </p:sp>
      <p:sp>
        <p:nvSpPr>
          <p:cNvPr id="435" name="Google Shape;435;p16"/>
          <p:cNvSpPr/>
          <p:nvPr/>
        </p:nvSpPr>
        <p:spPr>
          <a:xfrm>
            <a:off x="1828800" y="6473952"/>
            <a:ext cx="45720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B93A7"/>
              </a:buClr>
              <a:buSzPts val="900"/>
              <a:buFont typeface="Calibri"/>
              <a:buNone/>
            </a:pPr>
            <a:r>
              <a:rPr b="0" i="0" lang="en-US" sz="900" u="none" cap="none" strike="noStrike">
                <a:solidFill>
                  <a:srgbClr val="8B93A7"/>
                </a:solidFill>
                <a:latin typeface="Calibri"/>
                <a:ea typeface="Calibri"/>
                <a:cs typeface="Calibri"/>
                <a:sym typeface="Calibri"/>
              </a:rPr>
              <a:t>Appendix — Stack</a:t>
            </a:r>
            <a:endParaRPr b="0" i="0" sz="900" u="none" cap="none" strike="noStrike">
              <a:solidFill>
                <a:schemeClr val="dk1"/>
              </a:solidFill>
              <a:latin typeface="Calibri"/>
              <a:ea typeface="Calibri"/>
              <a:cs typeface="Calibri"/>
              <a:sym typeface="Calibri"/>
            </a:endParaRPr>
          </a:p>
        </p:txBody>
      </p:sp>
      <p:sp>
        <p:nvSpPr>
          <p:cNvPr id="436" name="Google Shape;436;p16"/>
          <p:cNvSpPr/>
          <p:nvPr/>
        </p:nvSpPr>
        <p:spPr>
          <a:xfrm>
            <a:off x="10817352" y="6473952"/>
            <a:ext cx="914400" cy="27432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8B93A7"/>
              </a:buClr>
              <a:buSzPts val="1000"/>
              <a:buFont typeface="Calibri"/>
              <a:buNone/>
            </a:pPr>
            <a:r>
              <a:rPr b="0" i="0" lang="en-US" sz="1000" u="none" cap="none" strike="noStrike">
                <a:solidFill>
                  <a:srgbClr val="8B93A7"/>
                </a:solidFill>
                <a:latin typeface="Calibri"/>
                <a:ea typeface="Calibri"/>
                <a:cs typeface="Calibri"/>
                <a:sym typeface="Calibri"/>
              </a:rPr>
              <a:t>14 / 16</a:t>
            </a:r>
            <a:endParaRPr b="0" i="0" sz="1000" u="none" cap="none" strike="noStrike">
              <a:solidFill>
                <a:schemeClr val="dk1"/>
              </a:solidFill>
              <a:latin typeface="Calibri"/>
              <a:ea typeface="Calibri"/>
              <a:cs typeface="Calibri"/>
              <a:sym typeface="Calibri"/>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B0F1C"/>
        </a:solidFill>
      </p:bgPr>
    </p:bg>
    <p:spTree>
      <p:nvGrpSpPr>
        <p:cNvPr id="441" name="Shape 441"/>
        <p:cNvGrpSpPr/>
        <p:nvPr/>
      </p:nvGrpSpPr>
      <p:grpSpPr>
        <a:xfrm>
          <a:off x="0" y="0"/>
          <a:ext cx="0" cy="0"/>
          <a:chOff x="0" y="0"/>
          <a:chExt cx="0" cy="0"/>
        </a:xfrm>
      </p:grpSpPr>
      <p:sp>
        <p:nvSpPr>
          <p:cNvPr id="442" name="Google Shape;442;p17"/>
          <p:cNvSpPr/>
          <p:nvPr/>
        </p:nvSpPr>
        <p:spPr>
          <a:xfrm>
            <a:off x="640080" y="502920"/>
            <a:ext cx="7315200" cy="32004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B93A7"/>
              </a:buClr>
              <a:buSzPts val="1200"/>
              <a:buFont typeface="Calibri"/>
              <a:buNone/>
            </a:pPr>
            <a:r>
              <a:rPr b="1" i="0" lang="en-US" sz="1200" u="none" cap="none" strike="noStrike">
                <a:solidFill>
                  <a:srgbClr val="8B93A7"/>
                </a:solidFill>
                <a:latin typeface="Calibri"/>
                <a:ea typeface="Calibri"/>
                <a:cs typeface="Calibri"/>
                <a:sym typeface="Calibri"/>
              </a:rPr>
              <a:t>APPENDIX B</a:t>
            </a:r>
            <a:endParaRPr b="0" i="0" sz="1200" u="none" cap="none" strike="noStrike">
              <a:solidFill>
                <a:schemeClr val="dk1"/>
              </a:solidFill>
              <a:latin typeface="Calibri"/>
              <a:ea typeface="Calibri"/>
              <a:cs typeface="Calibri"/>
              <a:sym typeface="Calibri"/>
            </a:endParaRPr>
          </a:p>
        </p:txBody>
      </p:sp>
      <p:sp>
        <p:nvSpPr>
          <p:cNvPr id="443" name="Google Shape;443;p17"/>
          <p:cNvSpPr/>
          <p:nvPr/>
        </p:nvSpPr>
        <p:spPr>
          <a:xfrm>
            <a:off x="640080" y="804672"/>
            <a:ext cx="10789920" cy="7315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3400"/>
              <a:buFont typeface="Calibri"/>
              <a:buNone/>
            </a:pPr>
            <a:r>
              <a:rPr b="1" i="0" lang="en-US" sz="3400" u="none" cap="none" strike="noStrike">
                <a:solidFill>
                  <a:srgbClr val="FFFFFF"/>
                </a:solidFill>
                <a:latin typeface="Calibri"/>
                <a:ea typeface="Calibri"/>
                <a:cs typeface="Calibri"/>
                <a:sym typeface="Calibri"/>
              </a:rPr>
              <a:t>x402 Payment Protocol — Detail</a:t>
            </a:r>
            <a:endParaRPr b="0" i="0" sz="3400" u="none" cap="none" strike="noStrike">
              <a:solidFill>
                <a:schemeClr val="dk1"/>
              </a:solidFill>
              <a:latin typeface="Calibri"/>
              <a:ea typeface="Calibri"/>
              <a:cs typeface="Calibri"/>
              <a:sym typeface="Calibri"/>
            </a:endParaRPr>
          </a:p>
        </p:txBody>
      </p:sp>
      <p:sp>
        <p:nvSpPr>
          <p:cNvPr id="444" name="Google Shape;444;p17"/>
          <p:cNvSpPr/>
          <p:nvPr/>
        </p:nvSpPr>
        <p:spPr>
          <a:xfrm>
            <a:off x="640080" y="1417320"/>
            <a:ext cx="9875520" cy="457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C7CCDA"/>
              </a:buClr>
              <a:buSzPts val="1500"/>
              <a:buFont typeface="Calibri"/>
              <a:buNone/>
            </a:pPr>
            <a:r>
              <a:rPr b="0" i="1" lang="en-US" sz="1500" u="none" cap="none" strike="noStrike">
                <a:solidFill>
                  <a:srgbClr val="C7CCDA"/>
                </a:solidFill>
                <a:latin typeface="Calibri"/>
                <a:ea typeface="Calibri"/>
                <a:cs typeface="Calibri"/>
                <a:sym typeface="Calibri"/>
              </a:rPr>
              <a:t>Raw protocol behavior, for technical Q&amp;A only.</a:t>
            </a:r>
            <a:endParaRPr b="0" i="0" sz="1500" u="none" cap="none" strike="noStrike">
              <a:solidFill>
                <a:schemeClr val="dk1"/>
              </a:solidFill>
              <a:latin typeface="Calibri"/>
              <a:ea typeface="Calibri"/>
              <a:cs typeface="Calibri"/>
              <a:sym typeface="Calibri"/>
            </a:endParaRPr>
          </a:p>
        </p:txBody>
      </p:sp>
      <p:sp>
        <p:nvSpPr>
          <p:cNvPr id="445" name="Google Shape;445;p17"/>
          <p:cNvSpPr/>
          <p:nvPr/>
        </p:nvSpPr>
        <p:spPr>
          <a:xfrm>
            <a:off x="640080" y="2331720"/>
            <a:ext cx="5303520" cy="3291840"/>
          </a:xfrm>
          <a:prstGeom prst="roundRect">
            <a:avLst>
              <a:gd fmla="val 2500" name="adj"/>
            </a:avLst>
          </a:prstGeom>
          <a:solidFill>
            <a:srgbClr val="0A0E18"/>
          </a:solidFill>
          <a:ln cap="flat" cmpd="sng" w="12700">
            <a:solidFill>
              <a:srgbClr val="232C42"/>
            </a:solidFill>
            <a:prstDash val="solid"/>
            <a:round/>
            <a:headEnd len="sm" w="sm" type="none"/>
            <a:tailEnd len="sm" w="sm" type="none"/>
          </a:ln>
          <a:effectLst>
            <a:outerShdw blurRad="101600" rotWithShape="0" algn="bl" dir="5400000" dist="38100">
              <a:srgbClr val="000000">
                <a:alpha val="34902"/>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6" name="Google Shape;446;p17"/>
          <p:cNvSpPr/>
          <p:nvPr/>
        </p:nvSpPr>
        <p:spPr>
          <a:xfrm>
            <a:off x="914400" y="2560320"/>
            <a:ext cx="4846320" cy="2926080"/>
          </a:xfrm>
          <a:prstGeom prst="rect">
            <a:avLst/>
          </a:prstGeom>
          <a:noFill/>
          <a:ln>
            <a:noFill/>
          </a:ln>
        </p:spPr>
        <p:txBody>
          <a:bodyPr anchorCtr="0" anchor="ctr" bIns="45700" lIns="91425" spcFirstLastPara="1" rIns="91425" wrap="square" tIns="45700">
            <a:noAutofit/>
          </a:bodyPr>
          <a:lstStyle/>
          <a:p>
            <a:pPr indent="0" lvl="0" marL="0" marR="0" rtl="0" algn="l">
              <a:lnSpc>
                <a:spcPct val="145454"/>
              </a:lnSpc>
              <a:spcBef>
                <a:spcPts val="0"/>
              </a:spcBef>
              <a:spcAft>
                <a:spcPts val="0"/>
              </a:spcAft>
              <a:buClr>
                <a:srgbClr val="2DD4BF"/>
              </a:buClr>
              <a:buSzPts val="1100"/>
              <a:buFont typeface="Courier New"/>
              <a:buNone/>
            </a:pPr>
            <a:r>
              <a:rPr b="0" i="0" lang="en-US" sz="1100" u="none" cap="none" strike="noStrike">
                <a:solidFill>
                  <a:srgbClr val="2DD4BF"/>
                </a:solidFill>
                <a:latin typeface="Courier New"/>
                <a:ea typeface="Courier New"/>
                <a:cs typeface="Courier New"/>
                <a:sym typeface="Courier New"/>
              </a:rPr>
              <a:t>HTTP/1.1 402 Payment Required</a:t>
            </a:r>
            <a:endParaRPr b="0" i="0" sz="1100" u="none" cap="none" strike="noStrike">
              <a:solidFill>
                <a:schemeClr val="dk1"/>
              </a:solidFill>
              <a:latin typeface="Calibri"/>
              <a:ea typeface="Calibri"/>
              <a:cs typeface="Calibri"/>
              <a:sym typeface="Calibri"/>
            </a:endParaRPr>
          </a:p>
          <a:p>
            <a:pPr indent="0" lvl="0" marL="0" marR="0" rtl="0" algn="l">
              <a:lnSpc>
                <a:spcPct val="145454"/>
              </a:lnSpc>
              <a:spcBef>
                <a:spcPts val="0"/>
              </a:spcBef>
              <a:spcAft>
                <a:spcPts val="0"/>
              </a:spcAft>
              <a:buClr>
                <a:srgbClr val="2DD4BF"/>
              </a:buClr>
              <a:buSzPts val="1100"/>
              <a:buFont typeface="Courier New"/>
              <a:buNone/>
            </a:pPr>
            <a:r>
              <a:rPr b="0" i="0" lang="en-US" sz="1100" u="none" cap="none" strike="noStrike">
                <a:solidFill>
                  <a:srgbClr val="2DD4BF"/>
                </a:solidFill>
                <a:latin typeface="Courier New"/>
                <a:ea typeface="Courier New"/>
                <a:cs typeface="Courier New"/>
                <a:sym typeface="Courier New"/>
              </a:rPr>
              <a:t>Content-Type: application/json</a:t>
            </a:r>
            <a:endParaRPr b="0" i="0" sz="1100" u="none" cap="none" strike="noStrike">
              <a:solidFill>
                <a:schemeClr val="dk1"/>
              </a:solidFill>
              <a:latin typeface="Calibri"/>
              <a:ea typeface="Calibri"/>
              <a:cs typeface="Calibri"/>
              <a:sym typeface="Calibri"/>
            </a:endParaRPr>
          </a:p>
          <a:p>
            <a:pPr indent="0" lvl="0" marL="0" marR="0" rtl="0" algn="l">
              <a:lnSpc>
                <a:spcPct val="145454"/>
              </a:lnSpc>
              <a:spcBef>
                <a:spcPts val="0"/>
              </a:spcBef>
              <a:spcAft>
                <a:spcPts val="0"/>
              </a:spcAft>
              <a:buClr>
                <a:schemeClr val="dk1"/>
              </a:buClr>
              <a:buSzPts val="1100"/>
              <a:buFont typeface="Calibri"/>
              <a:buNone/>
            </a:pPr>
            <a:r>
              <a:t/>
            </a:r>
            <a:endParaRPr b="0" i="0" sz="1100" u="none" cap="none" strike="noStrike">
              <a:solidFill>
                <a:schemeClr val="dk1"/>
              </a:solidFill>
              <a:latin typeface="Calibri"/>
              <a:ea typeface="Calibri"/>
              <a:cs typeface="Calibri"/>
              <a:sym typeface="Calibri"/>
            </a:endParaRPr>
          </a:p>
          <a:p>
            <a:pPr indent="0" lvl="0" marL="0" marR="0" rtl="0" algn="l">
              <a:lnSpc>
                <a:spcPct val="145454"/>
              </a:lnSpc>
              <a:spcBef>
                <a:spcPts val="0"/>
              </a:spcBef>
              <a:spcAft>
                <a:spcPts val="0"/>
              </a:spcAft>
              <a:buClr>
                <a:srgbClr val="2DD4BF"/>
              </a:buClr>
              <a:buSzPts val="1100"/>
              <a:buFont typeface="Courier New"/>
              <a:buNone/>
            </a:pPr>
            <a:r>
              <a:rPr b="0" i="0" lang="en-US" sz="1100" u="none" cap="none" strike="noStrike">
                <a:solidFill>
                  <a:srgbClr val="2DD4BF"/>
                </a:solidFill>
                <a:latin typeface="Courier New"/>
                <a:ea typeface="Courier New"/>
                <a:cs typeface="Courier New"/>
                <a:sym typeface="Courier New"/>
              </a:rPr>
              <a:t>{</a:t>
            </a:r>
            <a:endParaRPr b="0" i="0" sz="1100" u="none" cap="none" strike="noStrike">
              <a:solidFill>
                <a:schemeClr val="dk1"/>
              </a:solidFill>
              <a:latin typeface="Calibri"/>
              <a:ea typeface="Calibri"/>
              <a:cs typeface="Calibri"/>
              <a:sym typeface="Calibri"/>
            </a:endParaRPr>
          </a:p>
          <a:p>
            <a:pPr indent="0" lvl="0" marL="0" marR="0" rtl="0" algn="l">
              <a:lnSpc>
                <a:spcPct val="145454"/>
              </a:lnSpc>
              <a:spcBef>
                <a:spcPts val="0"/>
              </a:spcBef>
              <a:spcAft>
                <a:spcPts val="0"/>
              </a:spcAft>
              <a:buClr>
                <a:srgbClr val="2DD4BF"/>
              </a:buClr>
              <a:buSzPts val="1100"/>
              <a:buFont typeface="Courier New"/>
              <a:buNone/>
            </a:pPr>
            <a:r>
              <a:rPr b="0" i="0" lang="en-US" sz="1100" u="none" cap="none" strike="noStrike">
                <a:solidFill>
                  <a:srgbClr val="2DD4BF"/>
                </a:solidFill>
                <a:latin typeface="Courier New"/>
                <a:ea typeface="Courier New"/>
                <a:cs typeface="Courier New"/>
                <a:sym typeface="Courier New"/>
              </a:rPr>
              <a:t>  "amount": "0.04",</a:t>
            </a:r>
            <a:endParaRPr b="0" i="0" sz="1100" u="none" cap="none" strike="noStrike">
              <a:solidFill>
                <a:schemeClr val="dk1"/>
              </a:solidFill>
              <a:latin typeface="Calibri"/>
              <a:ea typeface="Calibri"/>
              <a:cs typeface="Calibri"/>
              <a:sym typeface="Calibri"/>
            </a:endParaRPr>
          </a:p>
          <a:p>
            <a:pPr indent="0" lvl="0" marL="0" marR="0" rtl="0" algn="l">
              <a:lnSpc>
                <a:spcPct val="145454"/>
              </a:lnSpc>
              <a:spcBef>
                <a:spcPts val="0"/>
              </a:spcBef>
              <a:spcAft>
                <a:spcPts val="0"/>
              </a:spcAft>
              <a:buClr>
                <a:srgbClr val="2DD4BF"/>
              </a:buClr>
              <a:buSzPts val="1100"/>
              <a:buFont typeface="Courier New"/>
              <a:buNone/>
            </a:pPr>
            <a:r>
              <a:rPr b="0" i="0" lang="en-US" sz="1100" u="none" cap="none" strike="noStrike">
                <a:solidFill>
                  <a:srgbClr val="2DD4BF"/>
                </a:solidFill>
                <a:latin typeface="Courier New"/>
                <a:ea typeface="Courier New"/>
                <a:cs typeface="Courier New"/>
                <a:sym typeface="Courier New"/>
              </a:rPr>
              <a:t>  "currency": "USDC",</a:t>
            </a:r>
            <a:endParaRPr b="0" i="0" sz="1100" u="none" cap="none" strike="noStrike">
              <a:solidFill>
                <a:schemeClr val="dk1"/>
              </a:solidFill>
              <a:latin typeface="Calibri"/>
              <a:ea typeface="Calibri"/>
              <a:cs typeface="Calibri"/>
              <a:sym typeface="Calibri"/>
            </a:endParaRPr>
          </a:p>
          <a:p>
            <a:pPr indent="0" lvl="0" marL="0" marR="0" rtl="0" algn="l">
              <a:lnSpc>
                <a:spcPct val="145454"/>
              </a:lnSpc>
              <a:spcBef>
                <a:spcPts val="0"/>
              </a:spcBef>
              <a:spcAft>
                <a:spcPts val="0"/>
              </a:spcAft>
              <a:buClr>
                <a:srgbClr val="2DD4BF"/>
              </a:buClr>
              <a:buSzPts val="1100"/>
              <a:buFont typeface="Courier New"/>
              <a:buNone/>
            </a:pPr>
            <a:r>
              <a:rPr b="0" i="0" lang="en-US" sz="1100" u="none" cap="none" strike="noStrike">
                <a:solidFill>
                  <a:srgbClr val="2DD4BF"/>
                </a:solidFill>
                <a:latin typeface="Courier New"/>
                <a:ea typeface="Courier New"/>
                <a:cs typeface="Courier New"/>
                <a:sym typeface="Courier New"/>
              </a:rPr>
              <a:t>  "network": "arc",</a:t>
            </a:r>
            <a:endParaRPr b="0" i="0" sz="1100" u="none" cap="none" strike="noStrike">
              <a:solidFill>
                <a:schemeClr val="dk1"/>
              </a:solidFill>
              <a:latin typeface="Calibri"/>
              <a:ea typeface="Calibri"/>
              <a:cs typeface="Calibri"/>
              <a:sym typeface="Calibri"/>
            </a:endParaRPr>
          </a:p>
          <a:p>
            <a:pPr indent="0" lvl="0" marL="0" marR="0" rtl="0" algn="l">
              <a:lnSpc>
                <a:spcPct val="145454"/>
              </a:lnSpc>
              <a:spcBef>
                <a:spcPts val="0"/>
              </a:spcBef>
              <a:spcAft>
                <a:spcPts val="0"/>
              </a:spcAft>
              <a:buClr>
                <a:srgbClr val="2DD4BF"/>
              </a:buClr>
              <a:buSzPts val="1100"/>
              <a:buFont typeface="Courier New"/>
              <a:buNone/>
            </a:pPr>
            <a:r>
              <a:rPr b="0" i="0" lang="en-US" sz="1100" u="none" cap="none" strike="noStrike">
                <a:solidFill>
                  <a:srgbClr val="2DD4BF"/>
                </a:solidFill>
                <a:latin typeface="Courier New"/>
                <a:ea typeface="Courier New"/>
                <a:cs typeface="Courier New"/>
                <a:sym typeface="Courier New"/>
              </a:rPr>
              <a:t>  "recipient": "0x9F2...b71",</a:t>
            </a:r>
            <a:endParaRPr b="0" i="0" sz="1100" u="none" cap="none" strike="noStrike">
              <a:solidFill>
                <a:schemeClr val="dk1"/>
              </a:solidFill>
              <a:latin typeface="Calibri"/>
              <a:ea typeface="Calibri"/>
              <a:cs typeface="Calibri"/>
              <a:sym typeface="Calibri"/>
            </a:endParaRPr>
          </a:p>
          <a:p>
            <a:pPr indent="0" lvl="0" marL="0" marR="0" rtl="0" algn="l">
              <a:lnSpc>
                <a:spcPct val="145454"/>
              </a:lnSpc>
              <a:spcBef>
                <a:spcPts val="0"/>
              </a:spcBef>
              <a:spcAft>
                <a:spcPts val="0"/>
              </a:spcAft>
              <a:buClr>
                <a:srgbClr val="2DD4BF"/>
              </a:buClr>
              <a:buSzPts val="1100"/>
              <a:buFont typeface="Courier New"/>
              <a:buNone/>
            </a:pPr>
            <a:r>
              <a:rPr b="0" i="0" lang="en-US" sz="1100" u="none" cap="none" strike="noStrike">
                <a:solidFill>
                  <a:srgbClr val="2DD4BF"/>
                </a:solidFill>
                <a:latin typeface="Courier New"/>
                <a:ea typeface="Courier New"/>
                <a:cs typeface="Courier New"/>
                <a:sym typeface="Courier New"/>
              </a:rPr>
              <a:t>  "invoice_id": "qma_8x1c2"</a:t>
            </a:r>
            <a:endParaRPr b="0" i="0" sz="1100" u="none" cap="none" strike="noStrike">
              <a:solidFill>
                <a:schemeClr val="dk1"/>
              </a:solidFill>
              <a:latin typeface="Calibri"/>
              <a:ea typeface="Calibri"/>
              <a:cs typeface="Calibri"/>
              <a:sym typeface="Calibri"/>
            </a:endParaRPr>
          </a:p>
          <a:p>
            <a:pPr indent="0" lvl="0" marL="0" marR="0" rtl="0" algn="l">
              <a:lnSpc>
                <a:spcPct val="145454"/>
              </a:lnSpc>
              <a:spcBef>
                <a:spcPts val="0"/>
              </a:spcBef>
              <a:spcAft>
                <a:spcPts val="0"/>
              </a:spcAft>
              <a:buClr>
                <a:srgbClr val="2DD4BF"/>
              </a:buClr>
              <a:buSzPts val="1100"/>
              <a:buFont typeface="Courier New"/>
              <a:buNone/>
            </a:pPr>
            <a:r>
              <a:rPr b="0" i="0" lang="en-US" sz="1100" u="none" cap="none" strike="noStrike">
                <a:solidFill>
                  <a:srgbClr val="2DD4BF"/>
                </a:solidFill>
                <a:latin typeface="Courier New"/>
                <a:ea typeface="Courier New"/>
                <a:cs typeface="Courier New"/>
                <a:sym typeface="Courier New"/>
              </a:rPr>
              <a:t>}</a:t>
            </a:r>
            <a:endParaRPr b="0" i="0" sz="1100" u="none" cap="none" strike="noStrike">
              <a:solidFill>
                <a:schemeClr val="dk1"/>
              </a:solidFill>
              <a:latin typeface="Calibri"/>
              <a:ea typeface="Calibri"/>
              <a:cs typeface="Calibri"/>
              <a:sym typeface="Calibri"/>
            </a:endParaRPr>
          </a:p>
        </p:txBody>
      </p:sp>
      <p:sp>
        <p:nvSpPr>
          <p:cNvPr id="447" name="Google Shape;447;p17"/>
          <p:cNvSpPr/>
          <p:nvPr/>
        </p:nvSpPr>
        <p:spPr>
          <a:xfrm>
            <a:off x="6309360" y="2377440"/>
            <a:ext cx="5029200" cy="32004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1400"/>
              <a:buFont typeface="Calibri"/>
              <a:buNone/>
            </a:pPr>
            <a:r>
              <a:rPr b="1" i="0" lang="en-US" sz="1400" u="none" cap="none" strike="noStrike">
                <a:solidFill>
                  <a:srgbClr val="FFFFFF"/>
                </a:solidFill>
                <a:latin typeface="Calibri"/>
                <a:ea typeface="Calibri"/>
                <a:cs typeface="Calibri"/>
                <a:sym typeface="Calibri"/>
              </a:rPr>
              <a:t>Intercept</a:t>
            </a:r>
            <a:endParaRPr b="0" i="0" sz="1400" u="none" cap="none" strike="noStrike">
              <a:solidFill>
                <a:schemeClr val="dk1"/>
              </a:solidFill>
              <a:latin typeface="Calibri"/>
              <a:ea typeface="Calibri"/>
              <a:cs typeface="Calibri"/>
              <a:sym typeface="Calibri"/>
            </a:endParaRPr>
          </a:p>
        </p:txBody>
      </p:sp>
      <p:sp>
        <p:nvSpPr>
          <p:cNvPr id="448" name="Google Shape;448;p17"/>
          <p:cNvSpPr/>
          <p:nvPr/>
        </p:nvSpPr>
        <p:spPr>
          <a:xfrm>
            <a:off x="6309360" y="2724912"/>
            <a:ext cx="5029200" cy="548640"/>
          </a:xfrm>
          <a:prstGeom prst="rect">
            <a:avLst/>
          </a:prstGeom>
          <a:noFill/>
          <a:ln>
            <a:noFill/>
          </a:ln>
        </p:spPr>
        <p:txBody>
          <a:bodyPr anchorCtr="0" anchor="ctr" bIns="45700" lIns="91425" spcFirstLastPara="1" rIns="91425" wrap="square" tIns="45700">
            <a:noAutofit/>
          </a:bodyPr>
          <a:lstStyle/>
          <a:p>
            <a:pPr indent="0" lvl="0" marL="0" marR="0" rtl="0" algn="l">
              <a:lnSpc>
                <a:spcPct val="130434"/>
              </a:lnSpc>
              <a:spcBef>
                <a:spcPts val="0"/>
              </a:spcBef>
              <a:spcAft>
                <a:spcPts val="0"/>
              </a:spcAft>
              <a:buClr>
                <a:srgbClr val="C7CCDA"/>
              </a:buClr>
              <a:buSzPts val="1150"/>
              <a:buFont typeface="Calibri"/>
              <a:buNone/>
            </a:pPr>
            <a:r>
              <a:rPr b="0" i="0" lang="en-US" sz="1150" u="none" cap="none" strike="noStrike">
                <a:solidFill>
                  <a:srgbClr val="C7CCDA"/>
                </a:solidFill>
                <a:latin typeface="Calibri"/>
                <a:ea typeface="Calibri"/>
                <a:cs typeface="Calibri"/>
                <a:sym typeface="Calibri"/>
              </a:rPr>
              <a:t>Custom backend middleware intercepts restricted API endpoints.</a:t>
            </a:r>
            <a:endParaRPr b="0" i="0" sz="1150" u="none" cap="none" strike="noStrike">
              <a:solidFill>
                <a:schemeClr val="dk1"/>
              </a:solidFill>
              <a:latin typeface="Calibri"/>
              <a:ea typeface="Calibri"/>
              <a:cs typeface="Calibri"/>
              <a:sym typeface="Calibri"/>
            </a:endParaRPr>
          </a:p>
        </p:txBody>
      </p:sp>
      <p:sp>
        <p:nvSpPr>
          <p:cNvPr id="449" name="Google Shape;449;p17"/>
          <p:cNvSpPr/>
          <p:nvPr/>
        </p:nvSpPr>
        <p:spPr>
          <a:xfrm>
            <a:off x="6309360" y="3337560"/>
            <a:ext cx="5029200" cy="32004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1400"/>
              <a:buFont typeface="Calibri"/>
              <a:buNone/>
            </a:pPr>
            <a:r>
              <a:rPr b="1" i="0" lang="en-US" sz="1400" u="none" cap="none" strike="noStrike">
                <a:solidFill>
                  <a:srgbClr val="FFFFFF"/>
                </a:solidFill>
                <a:latin typeface="Calibri"/>
                <a:ea typeface="Calibri"/>
                <a:cs typeface="Calibri"/>
                <a:sym typeface="Calibri"/>
              </a:rPr>
              <a:t>Invoice</a:t>
            </a:r>
            <a:endParaRPr b="0" i="0" sz="1400" u="none" cap="none" strike="noStrike">
              <a:solidFill>
                <a:schemeClr val="dk1"/>
              </a:solidFill>
              <a:latin typeface="Calibri"/>
              <a:ea typeface="Calibri"/>
              <a:cs typeface="Calibri"/>
              <a:sym typeface="Calibri"/>
            </a:endParaRPr>
          </a:p>
        </p:txBody>
      </p:sp>
      <p:sp>
        <p:nvSpPr>
          <p:cNvPr id="450" name="Google Shape;450;p17"/>
          <p:cNvSpPr/>
          <p:nvPr/>
        </p:nvSpPr>
        <p:spPr>
          <a:xfrm>
            <a:off x="6309360" y="3685032"/>
            <a:ext cx="5029200" cy="548640"/>
          </a:xfrm>
          <a:prstGeom prst="rect">
            <a:avLst/>
          </a:prstGeom>
          <a:noFill/>
          <a:ln>
            <a:noFill/>
          </a:ln>
        </p:spPr>
        <p:txBody>
          <a:bodyPr anchorCtr="0" anchor="ctr" bIns="45700" lIns="91425" spcFirstLastPara="1" rIns="91425" wrap="square" tIns="45700">
            <a:noAutofit/>
          </a:bodyPr>
          <a:lstStyle/>
          <a:p>
            <a:pPr indent="0" lvl="0" marL="0" marR="0" rtl="0" algn="l">
              <a:lnSpc>
                <a:spcPct val="130434"/>
              </a:lnSpc>
              <a:spcBef>
                <a:spcPts val="0"/>
              </a:spcBef>
              <a:spcAft>
                <a:spcPts val="0"/>
              </a:spcAft>
              <a:buClr>
                <a:srgbClr val="C7CCDA"/>
              </a:buClr>
              <a:buSzPts val="1150"/>
              <a:buFont typeface="Calibri"/>
              <a:buNone/>
            </a:pPr>
            <a:r>
              <a:rPr b="0" i="0" lang="en-US" sz="1150" u="none" cap="none" strike="noStrike">
                <a:solidFill>
                  <a:srgbClr val="C7CCDA"/>
                </a:solidFill>
                <a:latin typeface="Calibri"/>
                <a:ea typeface="Calibri"/>
                <a:cs typeface="Calibri"/>
                <a:sym typeface="Calibri"/>
              </a:rPr>
              <a:t>Returns a signed invoice payload when payment is missing.</a:t>
            </a:r>
            <a:endParaRPr b="0" i="0" sz="1150" u="none" cap="none" strike="noStrike">
              <a:solidFill>
                <a:schemeClr val="dk1"/>
              </a:solidFill>
              <a:latin typeface="Calibri"/>
              <a:ea typeface="Calibri"/>
              <a:cs typeface="Calibri"/>
              <a:sym typeface="Calibri"/>
            </a:endParaRPr>
          </a:p>
        </p:txBody>
      </p:sp>
      <p:sp>
        <p:nvSpPr>
          <p:cNvPr id="451" name="Google Shape;451;p17"/>
          <p:cNvSpPr/>
          <p:nvPr/>
        </p:nvSpPr>
        <p:spPr>
          <a:xfrm>
            <a:off x="6309360" y="4297680"/>
            <a:ext cx="5029200" cy="32004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1400"/>
              <a:buFont typeface="Calibri"/>
              <a:buNone/>
            </a:pPr>
            <a:r>
              <a:rPr b="1" i="0" lang="en-US" sz="1400" u="none" cap="none" strike="noStrike">
                <a:solidFill>
                  <a:srgbClr val="FFFFFF"/>
                </a:solidFill>
                <a:latin typeface="Calibri"/>
                <a:ea typeface="Calibri"/>
                <a:cs typeface="Calibri"/>
                <a:sym typeface="Calibri"/>
              </a:rPr>
              <a:t>Retry &amp; Settle</a:t>
            </a:r>
            <a:endParaRPr b="0" i="0" sz="1400" u="none" cap="none" strike="noStrike">
              <a:solidFill>
                <a:schemeClr val="dk1"/>
              </a:solidFill>
              <a:latin typeface="Calibri"/>
              <a:ea typeface="Calibri"/>
              <a:cs typeface="Calibri"/>
              <a:sym typeface="Calibri"/>
            </a:endParaRPr>
          </a:p>
        </p:txBody>
      </p:sp>
      <p:sp>
        <p:nvSpPr>
          <p:cNvPr id="452" name="Google Shape;452;p17"/>
          <p:cNvSpPr/>
          <p:nvPr/>
        </p:nvSpPr>
        <p:spPr>
          <a:xfrm>
            <a:off x="6309360" y="4645152"/>
            <a:ext cx="5029200" cy="548640"/>
          </a:xfrm>
          <a:prstGeom prst="rect">
            <a:avLst/>
          </a:prstGeom>
          <a:noFill/>
          <a:ln>
            <a:noFill/>
          </a:ln>
        </p:spPr>
        <p:txBody>
          <a:bodyPr anchorCtr="0" anchor="ctr" bIns="45700" lIns="91425" spcFirstLastPara="1" rIns="91425" wrap="square" tIns="45700">
            <a:noAutofit/>
          </a:bodyPr>
          <a:lstStyle/>
          <a:p>
            <a:pPr indent="0" lvl="0" marL="0" marR="0" rtl="0" algn="l">
              <a:lnSpc>
                <a:spcPct val="130434"/>
              </a:lnSpc>
              <a:spcBef>
                <a:spcPts val="0"/>
              </a:spcBef>
              <a:spcAft>
                <a:spcPts val="0"/>
              </a:spcAft>
              <a:buClr>
                <a:srgbClr val="C7CCDA"/>
              </a:buClr>
              <a:buSzPts val="1150"/>
              <a:buFont typeface="Calibri"/>
              <a:buNone/>
            </a:pPr>
            <a:r>
              <a:rPr b="0" i="0" lang="en-US" sz="1150" u="none" cap="none" strike="noStrike">
                <a:solidFill>
                  <a:srgbClr val="C7CCDA"/>
                </a:solidFill>
                <a:latin typeface="Calibri"/>
                <a:ea typeface="Calibri"/>
                <a:cs typeface="Calibri"/>
                <a:sym typeface="Calibri"/>
              </a:rPr>
              <a:t>Client signs the payment intent and retries the call with the settled token.</a:t>
            </a:r>
            <a:endParaRPr b="0" i="0" sz="1150" u="none" cap="none" strike="noStrike">
              <a:solidFill>
                <a:schemeClr val="dk1"/>
              </a:solidFill>
              <a:latin typeface="Calibri"/>
              <a:ea typeface="Calibri"/>
              <a:cs typeface="Calibri"/>
              <a:sym typeface="Calibri"/>
            </a:endParaRPr>
          </a:p>
        </p:txBody>
      </p:sp>
      <p:sp>
        <p:nvSpPr>
          <p:cNvPr id="453" name="Google Shape;453;p17"/>
          <p:cNvSpPr/>
          <p:nvPr/>
        </p:nvSpPr>
        <p:spPr>
          <a:xfrm>
            <a:off x="457200" y="6473952"/>
            <a:ext cx="18288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B93A7"/>
              </a:buClr>
              <a:buSzPts val="1000"/>
              <a:buFont typeface="Calibri"/>
              <a:buNone/>
            </a:pPr>
            <a:r>
              <a:rPr b="1" i="0" lang="en-US" sz="1000" u="none" cap="none" strike="noStrike">
                <a:solidFill>
                  <a:srgbClr val="8B93A7"/>
                </a:solidFill>
                <a:latin typeface="Calibri"/>
                <a:ea typeface="Calibri"/>
                <a:cs typeface="Calibri"/>
                <a:sym typeface="Calibri"/>
              </a:rPr>
              <a:t>QMA</a:t>
            </a:r>
            <a:endParaRPr b="0" i="0" sz="1000" u="none" cap="none" strike="noStrike">
              <a:solidFill>
                <a:schemeClr val="dk1"/>
              </a:solidFill>
              <a:latin typeface="Calibri"/>
              <a:ea typeface="Calibri"/>
              <a:cs typeface="Calibri"/>
              <a:sym typeface="Calibri"/>
            </a:endParaRPr>
          </a:p>
        </p:txBody>
      </p:sp>
      <p:sp>
        <p:nvSpPr>
          <p:cNvPr id="454" name="Google Shape;454;p17"/>
          <p:cNvSpPr/>
          <p:nvPr/>
        </p:nvSpPr>
        <p:spPr>
          <a:xfrm>
            <a:off x="1828800" y="6473952"/>
            <a:ext cx="45720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B93A7"/>
              </a:buClr>
              <a:buSzPts val="900"/>
              <a:buFont typeface="Calibri"/>
              <a:buNone/>
            </a:pPr>
            <a:r>
              <a:rPr b="0" i="0" lang="en-US" sz="900" u="none" cap="none" strike="noStrike">
                <a:solidFill>
                  <a:srgbClr val="8B93A7"/>
                </a:solidFill>
                <a:latin typeface="Calibri"/>
                <a:ea typeface="Calibri"/>
                <a:cs typeface="Calibri"/>
                <a:sym typeface="Calibri"/>
              </a:rPr>
              <a:t>Appendix — x402</a:t>
            </a:r>
            <a:endParaRPr b="0" i="0" sz="900" u="none" cap="none" strike="noStrike">
              <a:solidFill>
                <a:schemeClr val="dk1"/>
              </a:solidFill>
              <a:latin typeface="Calibri"/>
              <a:ea typeface="Calibri"/>
              <a:cs typeface="Calibri"/>
              <a:sym typeface="Calibri"/>
            </a:endParaRPr>
          </a:p>
        </p:txBody>
      </p:sp>
      <p:sp>
        <p:nvSpPr>
          <p:cNvPr id="455" name="Google Shape;455;p17"/>
          <p:cNvSpPr/>
          <p:nvPr/>
        </p:nvSpPr>
        <p:spPr>
          <a:xfrm>
            <a:off x="10817352" y="6473952"/>
            <a:ext cx="914400" cy="27432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8B93A7"/>
              </a:buClr>
              <a:buSzPts val="1000"/>
              <a:buFont typeface="Calibri"/>
              <a:buNone/>
            </a:pPr>
            <a:r>
              <a:rPr b="0" i="0" lang="en-US" sz="1000" u="none" cap="none" strike="noStrike">
                <a:solidFill>
                  <a:srgbClr val="8B93A7"/>
                </a:solidFill>
                <a:latin typeface="Calibri"/>
                <a:ea typeface="Calibri"/>
                <a:cs typeface="Calibri"/>
                <a:sym typeface="Calibri"/>
              </a:rPr>
              <a:t>15 / 16</a:t>
            </a:r>
            <a:endParaRPr b="0" i="0" sz="1000" u="none" cap="none" strike="noStrike">
              <a:solidFill>
                <a:schemeClr val="dk1"/>
              </a:solidFill>
              <a:latin typeface="Calibri"/>
              <a:ea typeface="Calibri"/>
              <a:cs typeface="Calibri"/>
              <a:sym typeface="Calibri"/>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B0F1C"/>
        </a:solidFill>
      </p:bgPr>
    </p:bg>
    <p:spTree>
      <p:nvGrpSpPr>
        <p:cNvPr id="460" name="Shape 460"/>
        <p:cNvGrpSpPr/>
        <p:nvPr/>
      </p:nvGrpSpPr>
      <p:grpSpPr>
        <a:xfrm>
          <a:off x="0" y="0"/>
          <a:ext cx="0" cy="0"/>
          <a:chOff x="0" y="0"/>
          <a:chExt cx="0" cy="0"/>
        </a:xfrm>
      </p:grpSpPr>
      <p:sp>
        <p:nvSpPr>
          <p:cNvPr id="461" name="Google Shape;461;p18"/>
          <p:cNvSpPr/>
          <p:nvPr/>
        </p:nvSpPr>
        <p:spPr>
          <a:xfrm>
            <a:off x="640080" y="502920"/>
            <a:ext cx="7315200" cy="32004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B93A7"/>
              </a:buClr>
              <a:buSzPts val="1200"/>
              <a:buFont typeface="Calibri"/>
              <a:buNone/>
            </a:pPr>
            <a:r>
              <a:rPr b="1" i="0" lang="en-US" sz="1200" u="none" cap="none" strike="noStrike">
                <a:solidFill>
                  <a:srgbClr val="8B93A7"/>
                </a:solidFill>
                <a:latin typeface="Calibri"/>
                <a:ea typeface="Calibri"/>
                <a:cs typeface="Calibri"/>
                <a:sym typeface="Calibri"/>
              </a:rPr>
              <a:t>APPENDIX C</a:t>
            </a:r>
            <a:endParaRPr b="0" i="0" sz="1200" u="none" cap="none" strike="noStrike">
              <a:solidFill>
                <a:schemeClr val="dk1"/>
              </a:solidFill>
              <a:latin typeface="Calibri"/>
              <a:ea typeface="Calibri"/>
              <a:cs typeface="Calibri"/>
              <a:sym typeface="Calibri"/>
            </a:endParaRPr>
          </a:p>
        </p:txBody>
      </p:sp>
      <p:sp>
        <p:nvSpPr>
          <p:cNvPr id="462" name="Google Shape;462;p18"/>
          <p:cNvSpPr/>
          <p:nvPr/>
        </p:nvSpPr>
        <p:spPr>
          <a:xfrm>
            <a:off x="640080" y="804672"/>
            <a:ext cx="10789920" cy="7315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3400"/>
              <a:buFont typeface="Calibri"/>
              <a:buNone/>
            </a:pPr>
            <a:r>
              <a:rPr b="1" i="0" lang="en-US" sz="3400" u="none" cap="none" strike="noStrike">
                <a:solidFill>
                  <a:srgbClr val="FFFFFF"/>
                </a:solidFill>
                <a:latin typeface="Calibri"/>
                <a:ea typeface="Calibri"/>
                <a:cs typeface="Calibri"/>
                <a:sym typeface="Calibri"/>
              </a:rPr>
              <a:t>Signing, Custody &amp; Chain Detail</a:t>
            </a:r>
            <a:endParaRPr b="0" i="0" sz="3400" u="none" cap="none" strike="noStrike">
              <a:solidFill>
                <a:schemeClr val="dk1"/>
              </a:solidFill>
              <a:latin typeface="Calibri"/>
              <a:ea typeface="Calibri"/>
              <a:cs typeface="Calibri"/>
              <a:sym typeface="Calibri"/>
            </a:endParaRPr>
          </a:p>
        </p:txBody>
      </p:sp>
      <p:sp>
        <p:nvSpPr>
          <p:cNvPr id="463" name="Google Shape;463;p18"/>
          <p:cNvSpPr/>
          <p:nvPr/>
        </p:nvSpPr>
        <p:spPr>
          <a:xfrm>
            <a:off x="640080" y="2350008"/>
            <a:ext cx="100584" cy="100584"/>
          </a:xfrm>
          <a:prstGeom prst="ellipse">
            <a:avLst/>
          </a:prstGeom>
          <a:solidFill>
            <a:srgbClr val="2DD4B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4" name="Google Shape;464;p18"/>
          <p:cNvSpPr/>
          <p:nvPr/>
        </p:nvSpPr>
        <p:spPr>
          <a:xfrm>
            <a:off x="914400" y="2212848"/>
            <a:ext cx="3840480" cy="457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1300"/>
              <a:buFont typeface="Calibri"/>
              <a:buNone/>
            </a:pPr>
            <a:r>
              <a:rPr b="1" i="0" lang="en-US" sz="1300" u="none" cap="none" strike="noStrike">
                <a:solidFill>
                  <a:srgbClr val="FFFFFF"/>
                </a:solidFill>
                <a:latin typeface="Calibri"/>
                <a:ea typeface="Calibri"/>
                <a:cs typeface="Calibri"/>
                <a:sym typeface="Calibri"/>
              </a:rPr>
              <a:t>EIP-712 Typed Signing</a:t>
            </a:r>
            <a:endParaRPr b="0" i="0" sz="1300" u="none" cap="none" strike="noStrike">
              <a:solidFill>
                <a:schemeClr val="dk1"/>
              </a:solidFill>
              <a:latin typeface="Calibri"/>
              <a:ea typeface="Calibri"/>
              <a:cs typeface="Calibri"/>
              <a:sym typeface="Calibri"/>
            </a:endParaRPr>
          </a:p>
        </p:txBody>
      </p:sp>
      <p:sp>
        <p:nvSpPr>
          <p:cNvPr id="465" name="Google Shape;465;p18"/>
          <p:cNvSpPr/>
          <p:nvPr/>
        </p:nvSpPr>
        <p:spPr>
          <a:xfrm>
            <a:off x="4937760" y="2212848"/>
            <a:ext cx="6492240" cy="548640"/>
          </a:xfrm>
          <a:prstGeom prst="rect">
            <a:avLst/>
          </a:prstGeom>
          <a:noFill/>
          <a:ln>
            <a:noFill/>
          </a:ln>
        </p:spPr>
        <p:txBody>
          <a:bodyPr anchorCtr="0" anchor="ctr" bIns="45700" lIns="91425" spcFirstLastPara="1" rIns="91425" wrap="square" tIns="45700">
            <a:noAutofit/>
          </a:bodyPr>
          <a:lstStyle/>
          <a:p>
            <a:pPr indent="0" lvl="0" marL="0" marR="0" rtl="0" algn="l">
              <a:lnSpc>
                <a:spcPct val="121739"/>
              </a:lnSpc>
              <a:spcBef>
                <a:spcPts val="0"/>
              </a:spcBef>
              <a:spcAft>
                <a:spcPts val="0"/>
              </a:spcAft>
              <a:buClr>
                <a:srgbClr val="C7CCDA"/>
              </a:buClr>
              <a:buSzPts val="1150"/>
              <a:buFont typeface="Calibri"/>
              <a:buNone/>
            </a:pPr>
            <a:r>
              <a:rPr b="0" i="0" lang="en-US" sz="1150" u="none" cap="none" strike="noStrike">
                <a:solidFill>
                  <a:srgbClr val="C7CCDA"/>
                </a:solidFill>
                <a:latin typeface="Calibri"/>
                <a:ea typeface="Calibri"/>
                <a:cs typeface="Calibri"/>
                <a:sym typeface="Calibri"/>
              </a:rPr>
              <a:t>Users explicitly sign transaction intents before anything executes.</a:t>
            </a:r>
            <a:endParaRPr b="0" i="0" sz="1150" u="none" cap="none" strike="noStrike">
              <a:solidFill>
                <a:schemeClr val="dk1"/>
              </a:solidFill>
              <a:latin typeface="Calibri"/>
              <a:ea typeface="Calibri"/>
              <a:cs typeface="Calibri"/>
              <a:sym typeface="Calibri"/>
            </a:endParaRPr>
          </a:p>
        </p:txBody>
      </p:sp>
      <p:sp>
        <p:nvSpPr>
          <p:cNvPr id="466" name="Google Shape;466;p18"/>
          <p:cNvSpPr/>
          <p:nvPr/>
        </p:nvSpPr>
        <p:spPr>
          <a:xfrm>
            <a:off x="640080" y="3099816"/>
            <a:ext cx="100584" cy="100584"/>
          </a:xfrm>
          <a:prstGeom prst="ellipse">
            <a:avLst/>
          </a:prstGeom>
          <a:solidFill>
            <a:srgbClr val="2DD4B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7" name="Google Shape;467;p18"/>
          <p:cNvSpPr/>
          <p:nvPr/>
        </p:nvSpPr>
        <p:spPr>
          <a:xfrm>
            <a:off x="914400" y="2962656"/>
            <a:ext cx="3840480" cy="457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1300"/>
              <a:buFont typeface="Calibri"/>
              <a:buNone/>
            </a:pPr>
            <a:r>
              <a:rPr b="1" i="0" lang="en-US" sz="1300" u="none" cap="none" strike="noStrike">
                <a:solidFill>
                  <a:srgbClr val="FFFFFF"/>
                </a:solidFill>
                <a:latin typeface="Calibri"/>
                <a:ea typeface="Calibri"/>
                <a:cs typeface="Calibri"/>
                <a:sym typeface="Calibri"/>
              </a:rPr>
              <a:t>Circle Vault Security</a:t>
            </a:r>
            <a:endParaRPr b="0" i="0" sz="1300" u="none" cap="none" strike="noStrike">
              <a:solidFill>
                <a:schemeClr val="dk1"/>
              </a:solidFill>
              <a:latin typeface="Calibri"/>
              <a:ea typeface="Calibri"/>
              <a:cs typeface="Calibri"/>
              <a:sym typeface="Calibri"/>
            </a:endParaRPr>
          </a:p>
        </p:txBody>
      </p:sp>
      <p:sp>
        <p:nvSpPr>
          <p:cNvPr id="468" name="Google Shape;468;p18"/>
          <p:cNvSpPr/>
          <p:nvPr/>
        </p:nvSpPr>
        <p:spPr>
          <a:xfrm>
            <a:off x="4937760" y="2962656"/>
            <a:ext cx="6492240" cy="548640"/>
          </a:xfrm>
          <a:prstGeom prst="rect">
            <a:avLst/>
          </a:prstGeom>
          <a:noFill/>
          <a:ln>
            <a:noFill/>
          </a:ln>
        </p:spPr>
        <p:txBody>
          <a:bodyPr anchorCtr="0" anchor="ctr" bIns="45700" lIns="91425" spcFirstLastPara="1" rIns="91425" wrap="square" tIns="45700">
            <a:noAutofit/>
          </a:bodyPr>
          <a:lstStyle/>
          <a:p>
            <a:pPr indent="0" lvl="0" marL="0" marR="0" rtl="0" algn="l">
              <a:lnSpc>
                <a:spcPct val="121739"/>
              </a:lnSpc>
              <a:spcBef>
                <a:spcPts val="0"/>
              </a:spcBef>
              <a:spcAft>
                <a:spcPts val="0"/>
              </a:spcAft>
              <a:buClr>
                <a:srgbClr val="C7CCDA"/>
              </a:buClr>
              <a:buSzPts val="1150"/>
              <a:buFont typeface="Calibri"/>
              <a:buNone/>
            </a:pPr>
            <a:r>
              <a:rPr b="0" i="0" lang="en-US" sz="1150" u="none" cap="none" strike="noStrike">
                <a:solidFill>
                  <a:srgbClr val="C7CCDA"/>
                </a:solidFill>
                <a:latin typeface="Calibri"/>
                <a:ea typeface="Calibri"/>
                <a:cs typeface="Calibri"/>
                <a:sym typeface="Calibri"/>
              </a:rPr>
              <a:t>Developer-controlled wallets secured under Circle's enterprise-grade KMS.</a:t>
            </a:r>
            <a:endParaRPr b="0" i="0" sz="1150" u="none" cap="none" strike="noStrike">
              <a:solidFill>
                <a:schemeClr val="dk1"/>
              </a:solidFill>
              <a:latin typeface="Calibri"/>
              <a:ea typeface="Calibri"/>
              <a:cs typeface="Calibri"/>
              <a:sym typeface="Calibri"/>
            </a:endParaRPr>
          </a:p>
        </p:txBody>
      </p:sp>
      <p:sp>
        <p:nvSpPr>
          <p:cNvPr id="469" name="Google Shape;469;p18"/>
          <p:cNvSpPr/>
          <p:nvPr/>
        </p:nvSpPr>
        <p:spPr>
          <a:xfrm>
            <a:off x="640080" y="3849624"/>
            <a:ext cx="100584" cy="100584"/>
          </a:xfrm>
          <a:prstGeom prst="ellipse">
            <a:avLst/>
          </a:prstGeom>
          <a:solidFill>
            <a:srgbClr val="2DD4B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0" name="Google Shape;470;p18"/>
          <p:cNvSpPr/>
          <p:nvPr/>
        </p:nvSpPr>
        <p:spPr>
          <a:xfrm>
            <a:off x="914400" y="3712464"/>
            <a:ext cx="3840480" cy="457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1300"/>
              <a:buFont typeface="Calibri"/>
              <a:buNone/>
            </a:pPr>
            <a:r>
              <a:rPr b="1" i="0" lang="en-US" sz="1300" u="none" cap="none" strike="noStrike">
                <a:solidFill>
                  <a:srgbClr val="FFFFFF"/>
                </a:solidFill>
                <a:latin typeface="Calibri"/>
                <a:ea typeface="Calibri"/>
                <a:cs typeface="Calibri"/>
                <a:sym typeface="Calibri"/>
              </a:rPr>
              <a:t>Idempotency Keys</a:t>
            </a:r>
            <a:endParaRPr b="0" i="0" sz="1300" u="none" cap="none" strike="noStrike">
              <a:solidFill>
                <a:schemeClr val="dk1"/>
              </a:solidFill>
              <a:latin typeface="Calibri"/>
              <a:ea typeface="Calibri"/>
              <a:cs typeface="Calibri"/>
              <a:sym typeface="Calibri"/>
            </a:endParaRPr>
          </a:p>
        </p:txBody>
      </p:sp>
      <p:sp>
        <p:nvSpPr>
          <p:cNvPr id="471" name="Google Shape;471;p18"/>
          <p:cNvSpPr/>
          <p:nvPr/>
        </p:nvSpPr>
        <p:spPr>
          <a:xfrm>
            <a:off x="4937760" y="3712464"/>
            <a:ext cx="6492240" cy="548640"/>
          </a:xfrm>
          <a:prstGeom prst="rect">
            <a:avLst/>
          </a:prstGeom>
          <a:noFill/>
          <a:ln>
            <a:noFill/>
          </a:ln>
        </p:spPr>
        <p:txBody>
          <a:bodyPr anchorCtr="0" anchor="ctr" bIns="45700" lIns="91425" spcFirstLastPara="1" rIns="91425" wrap="square" tIns="45700">
            <a:noAutofit/>
          </a:bodyPr>
          <a:lstStyle/>
          <a:p>
            <a:pPr indent="0" lvl="0" marL="0" marR="0" rtl="0" algn="l">
              <a:lnSpc>
                <a:spcPct val="121739"/>
              </a:lnSpc>
              <a:spcBef>
                <a:spcPts val="0"/>
              </a:spcBef>
              <a:spcAft>
                <a:spcPts val="0"/>
              </a:spcAft>
              <a:buClr>
                <a:srgbClr val="C7CCDA"/>
              </a:buClr>
              <a:buSzPts val="1150"/>
              <a:buFont typeface="Calibri"/>
              <a:buNone/>
            </a:pPr>
            <a:r>
              <a:rPr b="0" i="0" lang="en-US" sz="1150" u="none" cap="none" strike="noStrike">
                <a:solidFill>
                  <a:srgbClr val="C7CCDA"/>
                </a:solidFill>
                <a:latin typeface="Calibri"/>
                <a:ea typeface="Calibri"/>
                <a:cs typeface="Calibri"/>
                <a:sym typeface="Calibri"/>
              </a:rPr>
              <a:t>Prevents double-spend and duplicate charges across every request.</a:t>
            </a:r>
            <a:endParaRPr b="0" i="0" sz="1150" u="none" cap="none" strike="noStrike">
              <a:solidFill>
                <a:schemeClr val="dk1"/>
              </a:solidFill>
              <a:latin typeface="Calibri"/>
              <a:ea typeface="Calibri"/>
              <a:cs typeface="Calibri"/>
              <a:sym typeface="Calibri"/>
            </a:endParaRPr>
          </a:p>
        </p:txBody>
      </p:sp>
      <p:sp>
        <p:nvSpPr>
          <p:cNvPr id="472" name="Google Shape;472;p18"/>
          <p:cNvSpPr/>
          <p:nvPr/>
        </p:nvSpPr>
        <p:spPr>
          <a:xfrm>
            <a:off x="640080" y="4599432"/>
            <a:ext cx="100584" cy="100584"/>
          </a:xfrm>
          <a:prstGeom prst="ellipse">
            <a:avLst/>
          </a:prstGeom>
          <a:solidFill>
            <a:srgbClr val="2DD4B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3" name="Google Shape;473;p18"/>
          <p:cNvSpPr/>
          <p:nvPr/>
        </p:nvSpPr>
        <p:spPr>
          <a:xfrm>
            <a:off x="914400" y="4462272"/>
            <a:ext cx="3840480" cy="457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1300"/>
              <a:buFont typeface="Calibri"/>
              <a:buNone/>
            </a:pPr>
            <a:r>
              <a:rPr b="1" i="0" lang="en-US" sz="1300" u="none" cap="none" strike="noStrike">
                <a:solidFill>
                  <a:srgbClr val="FFFFFF"/>
                </a:solidFill>
                <a:latin typeface="Calibri"/>
                <a:ea typeface="Calibri"/>
                <a:cs typeface="Calibri"/>
                <a:sym typeface="Calibri"/>
              </a:rPr>
              <a:t>Payment State Machine</a:t>
            </a:r>
            <a:endParaRPr b="0" i="0" sz="1300" u="none" cap="none" strike="noStrike">
              <a:solidFill>
                <a:schemeClr val="dk1"/>
              </a:solidFill>
              <a:latin typeface="Calibri"/>
              <a:ea typeface="Calibri"/>
              <a:cs typeface="Calibri"/>
              <a:sym typeface="Calibri"/>
            </a:endParaRPr>
          </a:p>
        </p:txBody>
      </p:sp>
      <p:sp>
        <p:nvSpPr>
          <p:cNvPr id="474" name="Google Shape;474;p18"/>
          <p:cNvSpPr/>
          <p:nvPr/>
        </p:nvSpPr>
        <p:spPr>
          <a:xfrm>
            <a:off x="4937760" y="4462272"/>
            <a:ext cx="6492240" cy="548640"/>
          </a:xfrm>
          <a:prstGeom prst="rect">
            <a:avLst/>
          </a:prstGeom>
          <a:noFill/>
          <a:ln>
            <a:noFill/>
          </a:ln>
        </p:spPr>
        <p:txBody>
          <a:bodyPr anchorCtr="0" anchor="ctr" bIns="45700" lIns="91425" spcFirstLastPara="1" rIns="91425" wrap="square" tIns="45700">
            <a:noAutofit/>
          </a:bodyPr>
          <a:lstStyle/>
          <a:p>
            <a:pPr indent="0" lvl="0" marL="0" marR="0" rtl="0" algn="l">
              <a:lnSpc>
                <a:spcPct val="121739"/>
              </a:lnSpc>
              <a:spcBef>
                <a:spcPts val="0"/>
              </a:spcBef>
              <a:spcAft>
                <a:spcPts val="0"/>
              </a:spcAft>
              <a:buClr>
                <a:srgbClr val="C7CCDA"/>
              </a:buClr>
              <a:buSzPts val="1150"/>
              <a:buFont typeface="Calibri"/>
              <a:buNone/>
            </a:pPr>
            <a:r>
              <a:rPr b="0" i="0" lang="en-US" sz="1150" u="none" cap="none" strike="noStrike">
                <a:solidFill>
                  <a:srgbClr val="C7CCDA"/>
                </a:solidFill>
                <a:latin typeface="Calibri"/>
                <a:ea typeface="Calibri"/>
                <a:cs typeface="Calibri"/>
                <a:sym typeface="Calibri"/>
              </a:rPr>
              <a:t>Created -&gt; Paid -&gt; Settling -&gt; Settled, with Refunded and Cancelled states.</a:t>
            </a:r>
            <a:endParaRPr b="0" i="0" sz="1150" u="none" cap="none" strike="noStrike">
              <a:solidFill>
                <a:schemeClr val="dk1"/>
              </a:solidFill>
              <a:latin typeface="Calibri"/>
              <a:ea typeface="Calibri"/>
              <a:cs typeface="Calibri"/>
              <a:sym typeface="Calibri"/>
            </a:endParaRPr>
          </a:p>
        </p:txBody>
      </p:sp>
      <p:sp>
        <p:nvSpPr>
          <p:cNvPr id="475" name="Google Shape;475;p18"/>
          <p:cNvSpPr/>
          <p:nvPr/>
        </p:nvSpPr>
        <p:spPr>
          <a:xfrm>
            <a:off x="640080" y="5349240"/>
            <a:ext cx="100584" cy="100584"/>
          </a:xfrm>
          <a:prstGeom prst="ellipse">
            <a:avLst/>
          </a:prstGeom>
          <a:solidFill>
            <a:srgbClr val="2DD4B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6" name="Google Shape;476;p18"/>
          <p:cNvSpPr/>
          <p:nvPr/>
        </p:nvSpPr>
        <p:spPr>
          <a:xfrm>
            <a:off x="914400" y="5212080"/>
            <a:ext cx="3840480" cy="457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1300"/>
              <a:buFont typeface="Calibri"/>
              <a:buNone/>
            </a:pPr>
            <a:r>
              <a:rPr b="1" i="0" lang="en-US" sz="1300" u="none" cap="none" strike="noStrike">
                <a:solidFill>
                  <a:srgbClr val="FFFFFF"/>
                </a:solidFill>
                <a:latin typeface="Calibri"/>
                <a:ea typeface="Calibri"/>
                <a:cs typeface="Calibri"/>
                <a:sym typeface="Calibri"/>
              </a:rPr>
              <a:t>Contract Addresses / Chain ID</a:t>
            </a:r>
            <a:endParaRPr b="0" i="0" sz="1300" u="none" cap="none" strike="noStrike">
              <a:solidFill>
                <a:schemeClr val="dk1"/>
              </a:solidFill>
              <a:latin typeface="Calibri"/>
              <a:ea typeface="Calibri"/>
              <a:cs typeface="Calibri"/>
              <a:sym typeface="Calibri"/>
            </a:endParaRPr>
          </a:p>
        </p:txBody>
      </p:sp>
      <p:sp>
        <p:nvSpPr>
          <p:cNvPr id="477" name="Google Shape;477;p18"/>
          <p:cNvSpPr/>
          <p:nvPr/>
        </p:nvSpPr>
        <p:spPr>
          <a:xfrm>
            <a:off x="4937760" y="5212080"/>
            <a:ext cx="6492240" cy="548640"/>
          </a:xfrm>
          <a:prstGeom prst="rect">
            <a:avLst/>
          </a:prstGeom>
          <a:noFill/>
          <a:ln>
            <a:noFill/>
          </a:ln>
        </p:spPr>
        <p:txBody>
          <a:bodyPr anchorCtr="0" anchor="ctr" bIns="45700" lIns="91425" spcFirstLastPara="1" rIns="91425" wrap="square" tIns="45700">
            <a:noAutofit/>
          </a:bodyPr>
          <a:lstStyle/>
          <a:p>
            <a:pPr indent="0" lvl="0" marL="0" marR="0" rtl="0" algn="l">
              <a:lnSpc>
                <a:spcPct val="121739"/>
              </a:lnSpc>
              <a:spcBef>
                <a:spcPts val="0"/>
              </a:spcBef>
              <a:spcAft>
                <a:spcPts val="0"/>
              </a:spcAft>
              <a:buClr>
                <a:srgbClr val="C7CCDA"/>
              </a:buClr>
              <a:buSzPts val="1150"/>
              <a:buFont typeface="Calibri"/>
              <a:buNone/>
            </a:pPr>
            <a:r>
              <a:rPr b="0" i="0" lang="en-US" sz="1150" u="none" cap="none" strike="noStrike">
                <a:solidFill>
                  <a:srgbClr val="C7CCDA"/>
                </a:solidFill>
                <a:latin typeface="Calibri"/>
                <a:ea typeface="Calibri"/>
                <a:cs typeface="Calibri"/>
                <a:sym typeface="Calibri"/>
              </a:rPr>
              <a:t>[NEEDS: Code Audit — insert verified deployed contract addresses and chain ID]</a:t>
            </a:r>
            <a:endParaRPr b="0" i="0" sz="1150" u="none" cap="none" strike="noStrike">
              <a:solidFill>
                <a:schemeClr val="dk1"/>
              </a:solidFill>
              <a:latin typeface="Calibri"/>
              <a:ea typeface="Calibri"/>
              <a:cs typeface="Calibri"/>
              <a:sym typeface="Calibri"/>
            </a:endParaRPr>
          </a:p>
        </p:txBody>
      </p:sp>
      <p:sp>
        <p:nvSpPr>
          <p:cNvPr id="478" name="Google Shape;478;p18"/>
          <p:cNvSpPr/>
          <p:nvPr/>
        </p:nvSpPr>
        <p:spPr>
          <a:xfrm>
            <a:off x="457200" y="6473952"/>
            <a:ext cx="18288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B93A7"/>
              </a:buClr>
              <a:buSzPts val="1000"/>
              <a:buFont typeface="Calibri"/>
              <a:buNone/>
            </a:pPr>
            <a:r>
              <a:rPr b="1" i="0" lang="en-US" sz="1000" u="none" cap="none" strike="noStrike">
                <a:solidFill>
                  <a:srgbClr val="8B93A7"/>
                </a:solidFill>
                <a:latin typeface="Calibri"/>
                <a:ea typeface="Calibri"/>
                <a:cs typeface="Calibri"/>
                <a:sym typeface="Calibri"/>
              </a:rPr>
              <a:t>QMA</a:t>
            </a:r>
            <a:endParaRPr b="0" i="0" sz="1000" u="none" cap="none" strike="noStrike">
              <a:solidFill>
                <a:schemeClr val="dk1"/>
              </a:solidFill>
              <a:latin typeface="Calibri"/>
              <a:ea typeface="Calibri"/>
              <a:cs typeface="Calibri"/>
              <a:sym typeface="Calibri"/>
            </a:endParaRPr>
          </a:p>
        </p:txBody>
      </p:sp>
      <p:sp>
        <p:nvSpPr>
          <p:cNvPr id="479" name="Google Shape;479;p18"/>
          <p:cNvSpPr/>
          <p:nvPr/>
        </p:nvSpPr>
        <p:spPr>
          <a:xfrm>
            <a:off x="1828800" y="6473952"/>
            <a:ext cx="45720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B93A7"/>
              </a:buClr>
              <a:buSzPts val="900"/>
              <a:buFont typeface="Calibri"/>
              <a:buNone/>
            </a:pPr>
            <a:r>
              <a:rPr b="0" i="0" lang="en-US" sz="900" u="none" cap="none" strike="noStrike">
                <a:solidFill>
                  <a:srgbClr val="8B93A7"/>
                </a:solidFill>
                <a:latin typeface="Calibri"/>
                <a:ea typeface="Calibri"/>
                <a:cs typeface="Calibri"/>
                <a:sym typeface="Calibri"/>
              </a:rPr>
              <a:t>Appendix — Security</a:t>
            </a:r>
            <a:endParaRPr b="0" i="0" sz="900" u="none" cap="none" strike="noStrike">
              <a:solidFill>
                <a:schemeClr val="dk1"/>
              </a:solidFill>
              <a:latin typeface="Calibri"/>
              <a:ea typeface="Calibri"/>
              <a:cs typeface="Calibri"/>
              <a:sym typeface="Calibri"/>
            </a:endParaRPr>
          </a:p>
        </p:txBody>
      </p:sp>
      <p:sp>
        <p:nvSpPr>
          <p:cNvPr id="480" name="Google Shape;480;p18"/>
          <p:cNvSpPr/>
          <p:nvPr/>
        </p:nvSpPr>
        <p:spPr>
          <a:xfrm>
            <a:off x="10817352" y="6473952"/>
            <a:ext cx="914400" cy="27432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8B93A7"/>
              </a:buClr>
              <a:buSzPts val="1000"/>
              <a:buFont typeface="Calibri"/>
              <a:buNone/>
            </a:pPr>
            <a:r>
              <a:rPr b="0" i="0" lang="en-US" sz="1000" u="none" cap="none" strike="noStrike">
                <a:solidFill>
                  <a:srgbClr val="8B93A7"/>
                </a:solidFill>
                <a:latin typeface="Calibri"/>
                <a:ea typeface="Calibri"/>
                <a:cs typeface="Calibri"/>
                <a:sym typeface="Calibri"/>
              </a:rPr>
              <a:t>16 / 16</a:t>
            </a:r>
            <a:endParaRPr b="0" i="0" sz="1000" u="none" cap="none" strike="noStrike">
              <a:solidFill>
                <a:schemeClr val="dk1"/>
              </a:solidFill>
              <a:latin typeface="Calibri"/>
              <a:ea typeface="Calibri"/>
              <a:cs typeface="Calibri"/>
              <a:sym typeface="Calibri"/>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