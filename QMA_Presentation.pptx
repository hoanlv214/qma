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</p:sldIdLst>
  <p:notesMasterIdLst>
    <p:notesMasterId r:id="rId18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notesMaster" Target="notesMasters/notesMaster1.xml"/><Relationship Id="rId19" Type="http://schemas.openxmlformats.org/officeDocument/2006/relationships/presProps" Target="presProps.xml"/><Relationship Id="rId20" Type="http://schemas.openxmlformats.org/officeDocument/2006/relationships/viewProps" Target="viewProps.xml"/><Relationship Id="rId21" Type="http://schemas.openxmlformats.org/officeDocument/2006/relationships/theme" Target="theme/theme1.xml"/><Relationship Id="rId22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1.png"/><Relationship Id="rId3" Type="http://schemas.openxmlformats.org/officeDocument/2006/relationships/image" Target="../media/image-2-1.png"/><Relationship Id="rId4" Type="http://schemas.openxmlformats.org/officeDocument/2006/relationships/image" Target="../media/image-2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image" Target="../media/image-3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png"/><Relationship Id="rId3" Type="http://schemas.openxmlformats.org/officeDocument/2006/relationships/image" Target="../media/image-4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png"/><Relationship Id="rId3" Type="http://schemas.openxmlformats.org/officeDocument/2006/relationships/image" Target="../media/image-5-3.png"/><Relationship Id="rId4" Type="http://schemas.openxmlformats.org/officeDocument/2006/relationships/image" Target="../media/image-5-4.png"/><Relationship Id="rId5" Type="http://schemas.openxmlformats.org/officeDocument/2006/relationships/image" Target="../media/image-5-3.png"/><Relationship Id="rId6" Type="http://schemas.openxmlformats.org/officeDocument/2006/relationships/image" Target="../media/image-5-6.png"/><Relationship Id="rId7" Type="http://schemas.openxmlformats.org/officeDocument/2006/relationships/image" Target="../media/image-5-3.png"/><Relationship Id="rId8" Type="http://schemas.openxmlformats.org/officeDocument/2006/relationships/image" Target="../media/image-5-8.png"/><Relationship Id="rId9" Type="http://schemas.openxmlformats.org/officeDocument/2006/relationships/slideLayout" Target="../slideLayouts/slideLayout1.xml"/><Relationship Id="rId10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image" Target="../media/image-6-2.png"/><Relationship Id="rId3" Type="http://schemas.openxmlformats.org/officeDocument/2006/relationships/image" Target="../media/image-6-3.png"/><Relationship Id="rId4" Type="http://schemas.openxmlformats.org/officeDocument/2006/relationships/image" Target="../media/image-6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image" Target="../media/image-7-2.png"/><Relationship Id="rId3" Type="http://schemas.openxmlformats.org/officeDocument/2006/relationships/image" Target="../media/image-7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image" Target="../media/image-8-2.png"/><Relationship Id="rId3" Type="http://schemas.openxmlformats.org/officeDocument/2006/relationships/image" Target="../media/image-8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image" Target="../media/image-9-2.png"/><Relationship Id="rId3" Type="http://schemas.openxmlformats.org/officeDocument/2006/relationships/image" Target="../media/image-9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image" Target="../media/image-10-1.png"/><Relationship Id="rId3" Type="http://schemas.openxmlformats.org/officeDocument/2006/relationships/image" Target="../media/image-10-1.png"/><Relationship Id="rId4" Type="http://schemas.openxmlformats.org/officeDocument/2006/relationships/image" Target="../media/image-10-1.png"/><Relationship Id="rId5" Type="http://schemas.openxmlformats.org/officeDocument/2006/relationships/image" Target="../media/image-10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image" Target="../media/image-11-2.png"/><Relationship Id="rId3" Type="http://schemas.openxmlformats.org/officeDocument/2006/relationships/image" Target="../media/image-11-3.png"/><Relationship Id="rId4" Type="http://schemas.openxmlformats.org/officeDocument/2006/relationships/image" Target="../media/image-11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png"/><Relationship Id="rId2" Type="http://schemas.openxmlformats.org/officeDocument/2006/relationships/image" Target="../media/image-12-2.png"/><Relationship Id="rId3" Type="http://schemas.openxmlformats.org/officeDocument/2006/relationships/image" Target="../media/image-12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3-1.png"/><Relationship Id="rId2" Type="http://schemas.openxmlformats.org/officeDocument/2006/relationships/image" Target="../media/image-13-2.png"/><Relationship Id="rId3" Type="http://schemas.openxmlformats.org/officeDocument/2006/relationships/image" Target="../media/image-13-3.png"/><Relationship Id="rId4" Type="http://schemas.openxmlformats.org/officeDocument/2006/relationships/image" Target="../media/image-13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4-1.png"/><Relationship Id="rId2" Type="http://schemas.openxmlformats.org/officeDocument/2006/relationships/image" Target="../media/image-14-2.png"/><Relationship Id="rId3" Type="http://schemas.openxmlformats.org/officeDocument/2006/relationships/image" Target="../media/image-14-2.png"/><Relationship Id="rId4" Type="http://schemas.openxmlformats.org/officeDocument/2006/relationships/image" Target="../media/image-14-2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5-1.png"/><Relationship Id="rId2" Type="http://schemas.openxmlformats.org/officeDocument/2006/relationships/image" Target="../media/image-15-2.png"/><Relationship Id="rId3" Type="http://schemas.openxmlformats.org/officeDocument/2006/relationships/image" Target="../media/image-15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6-1.png"/><Relationship Id="rId2" Type="http://schemas.openxmlformats.org/officeDocument/2006/relationships/image" Target="../media/image-16-2.png"/><Relationship Id="rId3" Type="http://schemas.openxmlformats.org/officeDocument/2006/relationships/image" Target="../media/image-16-2.png"/><Relationship Id="rId4" Type="http://schemas.openxmlformats.org/officeDocument/2006/relationships/image" Target="../media/image-16-2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1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90A1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168396" y="-91440"/>
            <a:ext cx="5852160" cy="5852160"/>
          </a:xfrm>
          <a:prstGeom prst="ellipse">
            <a:avLst/>
          </a:prstGeom>
          <a:solidFill>
            <a:srgbClr val="6366F1">
              <a:alpha val="8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3899916" y="640080"/>
            <a:ext cx="4389120" cy="4389120"/>
          </a:xfrm>
          <a:prstGeom prst="ellipse">
            <a:avLst/>
          </a:prstGeom>
          <a:solidFill>
            <a:srgbClr val="8B5CF6">
              <a:alpha val="14000"/>
            </a:srgbClr>
          </a:solidFill>
          <a:ln/>
        </p:spPr>
      </p:sp>
      <p:sp>
        <p:nvSpPr>
          <p:cNvPr id="4" name="Shape 2"/>
          <p:cNvSpPr/>
          <p:nvPr/>
        </p:nvSpPr>
        <p:spPr>
          <a:xfrm>
            <a:off x="4631436" y="1371600"/>
            <a:ext cx="2926080" cy="2926080"/>
          </a:xfrm>
          <a:prstGeom prst="ellipse">
            <a:avLst/>
          </a:prstGeom>
          <a:solidFill>
            <a:srgbClr val="3B82F6">
              <a:alpha val="20000"/>
            </a:srgbClr>
          </a:solidFill>
          <a:ln/>
        </p:spPr>
      </p:sp>
      <p:sp>
        <p:nvSpPr>
          <p:cNvPr id="5" name="Shape 3"/>
          <p:cNvSpPr/>
          <p:nvPr/>
        </p:nvSpPr>
        <p:spPr>
          <a:xfrm>
            <a:off x="4539996" y="1280160"/>
            <a:ext cx="3108960" cy="3108960"/>
          </a:xfrm>
          <a:prstGeom prst="ellipse">
            <a:avLst/>
          </a:prstGeom>
          <a:ln w="15875">
            <a:solidFill>
              <a:srgbClr val="6366F1">
                <a:alpha val="65000"/>
              </a:srgbClr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3945636" y="685800"/>
            <a:ext cx="4297680" cy="4297680"/>
          </a:xfrm>
          <a:prstGeom prst="ellipse">
            <a:avLst/>
          </a:prstGeom>
          <a:ln w="12700">
            <a:solidFill>
              <a:srgbClr val="8B5CF6">
                <a:alpha val="45000"/>
              </a:srgbClr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5408676" y="2148840"/>
            <a:ext cx="1371600" cy="1371600"/>
          </a:xfrm>
          <a:prstGeom prst="ellipse">
            <a:avLst/>
          </a:prstGeom>
          <a:solidFill>
            <a:srgbClr val="171833"/>
          </a:solidFill>
          <a:ln w="12700">
            <a:solidFill>
              <a:srgbClr val="2775CA"/>
            </a:solidFill>
            <a:prstDash val="solid"/>
          </a:ln>
        </p:spPr>
      </p:sp>
      <p:pic>
        <p:nvPicPr>
          <p:cNvPr id="8" name="Image 0" descr="/home/claude/qma_deck/assets/dollar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586984" y="2327148"/>
            <a:ext cx="1014984" cy="1014984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0" y="3794760"/>
            <a:ext cx="12188952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6000" b="1" spc="400" kern="0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QMA</a:t>
            </a:r>
            <a:endParaRPr lang="en-US" sz="6000" dirty="0"/>
          </a:p>
        </p:txBody>
      </p:sp>
      <p:sp>
        <p:nvSpPr>
          <p:cNvPr id="10" name="Text 7"/>
          <p:cNvSpPr/>
          <p:nvPr/>
        </p:nvSpPr>
        <p:spPr>
          <a:xfrm>
            <a:off x="0" y="4617720"/>
            <a:ext cx="12188952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spc="400" kern="0" dirty="0">
                <a:solidFill>
                  <a:srgbClr val="8B5C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QUANTUM MARKET ADVISOR</a:t>
            </a:r>
            <a:endParaRPr lang="en-US" sz="1400" dirty="0"/>
          </a:p>
        </p:txBody>
      </p:sp>
      <p:sp>
        <p:nvSpPr>
          <p:cNvPr id="11" name="Text 8"/>
          <p:cNvSpPr/>
          <p:nvPr/>
        </p:nvSpPr>
        <p:spPr>
          <a:xfrm>
            <a:off x="1979676" y="507492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rgbClr val="9CA0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Autonomous Agent Market Intelligence &amp; Frictionless Micro-Payments</a:t>
            </a:r>
            <a:endParaRPr lang="en-US" sz="1500" dirty="0"/>
          </a:p>
        </p:txBody>
      </p:sp>
      <p:sp>
        <p:nvSpPr>
          <p:cNvPr id="12" name="Text 9"/>
          <p:cNvSpPr/>
          <p:nvPr/>
        </p:nvSpPr>
        <p:spPr>
          <a:xfrm>
            <a:off x="0" y="6263640"/>
            <a:ext cx="12188952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6B70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Presented by the QMA Team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90A1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b="1" spc="300" kern="0" dirty="0">
                <a:solidFill>
                  <a:srgbClr val="8B5C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CORE PROBLEM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05156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The Paywall Friction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548640" y="1975104"/>
            <a:ext cx="219456" cy="219456"/>
          </a:xfrm>
          <a:prstGeom prst="ellipse">
            <a:avLst/>
          </a:prstGeom>
          <a:solidFill>
            <a:srgbClr val="2A1720"/>
          </a:solidFill>
          <a:ln w="12700">
            <a:solidFill>
              <a:srgbClr val="F87171"/>
            </a:solidFill>
            <a:prstDash val="solid"/>
          </a:ln>
        </p:spPr>
      </p:sp>
      <p:pic>
        <p:nvPicPr>
          <p:cNvPr id="5" name="Image 0" descr="/home/claude/qma_deck/assets/x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08076" y="2034540"/>
            <a:ext cx="100584" cy="100584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960120" y="1920240"/>
            <a:ext cx="51206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350" dirty="0">
                <a:solidFill>
                  <a:srgbClr val="9CA0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Traditional paywalls require manual account creation, credit cards, and long-term subscriptions.</a:t>
            </a:r>
            <a:endParaRPr lang="en-US" sz="1350" dirty="0"/>
          </a:p>
        </p:txBody>
      </p:sp>
      <p:sp>
        <p:nvSpPr>
          <p:cNvPr id="7" name="Shape 4"/>
          <p:cNvSpPr/>
          <p:nvPr/>
        </p:nvSpPr>
        <p:spPr>
          <a:xfrm>
            <a:off x="548640" y="3026664"/>
            <a:ext cx="219456" cy="219456"/>
          </a:xfrm>
          <a:prstGeom prst="ellipse">
            <a:avLst/>
          </a:prstGeom>
          <a:solidFill>
            <a:srgbClr val="2A1720"/>
          </a:solidFill>
          <a:ln w="12700">
            <a:solidFill>
              <a:srgbClr val="F87171"/>
            </a:solidFill>
            <a:prstDash val="solid"/>
          </a:ln>
        </p:spPr>
      </p:sp>
      <p:pic>
        <p:nvPicPr>
          <p:cNvPr id="8" name="Image 1" descr="/home/claude/qma_deck/assets/x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8076" y="3086100"/>
            <a:ext cx="100584" cy="100584"/>
          </a:xfrm>
          <a:prstGeom prst="rect">
            <a:avLst/>
          </a:prstGeom>
        </p:spPr>
      </p:pic>
      <p:sp>
        <p:nvSpPr>
          <p:cNvPr id="9" name="Text 5"/>
          <p:cNvSpPr/>
          <p:nvPr/>
        </p:nvSpPr>
        <p:spPr>
          <a:xfrm>
            <a:off x="960120" y="2971800"/>
            <a:ext cx="51206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350" dirty="0">
                <a:solidFill>
                  <a:srgbClr val="9CA0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agents and automated micro-services cannot easily bypass these barriers.</a:t>
            </a:r>
            <a:endParaRPr lang="en-US" sz="1350" dirty="0"/>
          </a:p>
        </p:txBody>
      </p:sp>
      <p:sp>
        <p:nvSpPr>
          <p:cNvPr id="10" name="Shape 6"/>
          <p:cNvSpPr/>
          <p:nvPr/>
        </p:nvSpPr>
        <p:spPr>
          <a:xfrm>
            <a:off x="548640" y="4078224"/>
            <a:ext cx="219456" cy="219456"/>
          </a:xfrm>
          <a:prstGeom prst="ellipse">
            <a:avLst/>
          </a:prstGeom>
          <a:solidFill>
            <a:srgbClr val="2A1720"/>
          </a:solidFill>
          <a:ln w="12700">
            <a:solidFill>
              <a:srgbClr val="F87171"/>
            </a:solidFill>
            <a:prstDash val="solid"/>
          </a:ln>
        </p:spPr>
      </p:sp>
      <p:pic>
        <p:nvPicPr>
          <p:cNvPr id="11" name="Image 2" descr="/home/claude/qma_deck/assets/x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8076" y="4137660"/>
            <a:ext cx="100584" cy="100584"/>
          </a:xfrm>
          <a:prstGeom prst="rect">
            <a:avLst/>
          </a:prstGeom>
        </p:spPr>
      </p:pic>
      <p:sp>
        <p:nvSpPr>
          <p:cNvPr id="12" name="Text 7"/>
          <p:cNvSpPr/>
          <p:nvPr/>
        </p:nvSpPr>
        <p:spPr>
          <a:xfrm>
            <a:off x="960120" y="4023360"/>
            <a:ext cx="51206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350" dirty="0">
                <a:solidFill>
                  <a:srgbClr val="9CA0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Quant traders face massive subscription fatigue just to access simple, segmented market data.</a:t>
            </a:r>
            <a:endParaRPr lang="en-US" sz="1350" dirty="0"/>
          </a:p>
        </p:txBody>
      </p:sp>
      <p:sp>
        <p:nvSpPr>
          <p:cNvPr id="13" name="Shape 8"/>
          <p:cNvSpPr/>
          <p:nvPr/>
        </p:nvSpPr>
        <p:spPr>
          <a:xfrm>
            <a:off x="6492240" y="1737360"/>
            <a:ext cx="5120640" cy="4206240"/>
          </a:xfrm>
          <a:prstGeom prst="roundRect">
            <a:avLst>
              <a:gd name="adj" fmla="val 2609"/>
            </a:avLst>
          </a:prstGeom>
          <a:solidFill>
            <a:srgbClr val="14151F"/>
          </a:solidFill>
          <a:ln w="12700">
            <a:solidFill>
              <a:srgbClr val="22243A"/>
            </a:solidFill>
            <a:prstDash val="solid"/>
          </a:ln>
          <a:effectLst>
            <a:outerShdw sx="100000" sy="100000" kx="0" ky="0" algn="bl" rotWithShape="0" blurRad="152400" dist="38100" dir="5400000">
              <a:srgbClr val="000000">
                <a:alpha val="35000"/>
              </a:srgbClr>
            </a:outerShdw>
          </a:effectLst>
        </p:spPr>
      </p:sp>
      <p:sp>
        <p:nvSpPr>
          <p:cNvPr id="14" name="Shape 9"/>
          <p:cNvSpPr/>
          <p:nvPr/>
        </p:nvSpPr>
        <p:spPr>
          <a:xfrm>
            <a:off x="8458200" y="2697480"/>
            <a:ext cx="1188720" cy="1188720"/>
          </a:xfrm>
          <a:prstGeom prst="ellipse">
            <a:avLst/>
          </a:prstGeom>
          <a:solidFill>
            <a:srgbClr val="1D1420"/>
          </a:solidFill>
          <a:ln w="12700">
            <a:solidFill>
              <a:srgbClr val="F87171"/>
            </a:solidFill>
            <a:prstDash val="solid"/>
          </a:ln>
        </p:spPr>
      </p:sp>
      <p:pic>
        <p:nvPicPr>
          <p:cNvPr id="15" name="Image 3" descr="/home/claude/qma_deck/assets/lock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612734" y="2852014"/>
            <a:ext cx="879653" cy="879653"/>
          </a:xfrm>
          <a:prstGeom prst="rect">
            <a:avLst/>
          </a:prstGeom>
        </p:spPr>
      </p:pic>
      <p:sp>
        <p:nvSpPr>
          <p:cNvPr id="16" name="Text 10"/>
          <p:cNvSpPr/>
          <p:nvPr/>
        </p:nvSpPr>
        <p:spPr>
          <a:xfrm>
            <a:off x="6492240" y="3246120"/>
            <a:ext cx="51206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spc="200" kern="0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REPORT LOCKED</a:t>
            </a:r>
            <a:endParaRPr lang="en-US" sz="1600" dirty="0"/>
          </a:p>
        </p:txBody>
      </p:sp>
      <p:sp>
        <p:nvSpPr>
          <p:cNvPr id="17" name="Text 11"/>
          <p:cNvSpPr/>
          <p:nvPr/>
        </p:nvSpPr>
        <p:spPr>
          <a:xfrm>
            <a:off x="6492240" y="3639312"/>
            <a:ext cx="51206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6B70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Sign up  ·  Add card  ·  Subscribe monthly</a:t>
            </a:r>
            <a:endParaRPr lang="en-US" sz="1150" dirty="0"/>
          </a:p>
        </p:txBody>
      </p:sp>
      <p:sp>
        <p:nvSpPr>
          <p:cNvPr id="18" name="Shape 12"/>
          <p:cNvSpPr/>
          <p:nvPr/>
        </p:nvSpPr>
        <p:spPr>
          <a:xfrm>
            <a:off x="7818120" y="4160520"/>
            <a:ext cx="2468880" cy="502920"/>
          </a:xfrm>
          <a:prstGeom prst="roundRect">
            <a:avLst>
              <a:gd name="adj" fmla="val 14545"/>
            </a:avLst>
          </a:prstGeom>
          <a:solidFill>
            <a:srgbClr val="1B1B27"/>
          </a:solidFill>
          <a:ln w="12700">
            <a:solidFill>
              <a:srgbClr val="2A2C45"/>
            </a:solidFill>
            <a:prstDash val="solid"/>
          </a:ln>
        </p:spPr>
      </p:sp>
      <p:sp>
        <p:nvSpPr>
          <p:cNvPr id="19" name="Text 13"/>
          <p:cNvSpPr/>
          <p:nvPr/>
        </p:nvSpPr>
        <p:spPr>
          <a:xfrm>
            <a:off x="7818120" y="4160520"/>
            <a:ext cx="24688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spc="150" kern="0" dirty="0">
                <a:solidFill>
                  <a:srgbClr val="F871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ACCESS DENIED</a:t>
            </a:r>
            <a:endParaRPr lang="en-US" sz="1100" dirty="0"/>
          </a:p>
        </p:txBody>
      </p:sp>
      <p:sp>
        <p:nvSpPr>
          <p:cNvPr id="20" name="Text 14"/>
          <p:cNvSpPr/>
          <p:nvPr/>
        </p:nvSpPr>
        <p:spPr>
          <a:xfrm>
            <a:off x="457200" y="6473952"/>
            <a:ext cx="1371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spc="200" kern="0" dirty="0">
                <a:solidFill>
                  <a:srgbClr val="6B70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QMA</a:t>
            </a:r>
            <a:endParaRPr lang="en-US" sz="900" dirty="0"/>
          </a:p>
        </p:txBody>
      </p:sp>
      <p:sp>
        <p:nvSpPr>
          <p:cNvPr id="21" name="Text 15"/>
          <p:cNvSpPr/>
          <p:nvPr/>
        </p:nvSpPr>
        <p:spPr>
          <a:xfrm>
            <a:off x="10725912" y="6473952"/>
            <a:ext cx="10058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0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 / 16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90A1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b="1" spc="300" kern="0" dirty="0">
                <a:solidFill>
                  <a:srgbClr val="8B5C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SOLUTION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05156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On-Demand Agentic Intelligence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548640" y="1737360"/>
            <a:ext cx="5212080" cy="4206240"/>
          </a:xfrm>
          <a:prstGeom prst="roundRect">
            <a:avLst>
              <a:gd name="adj" fmla="val 2609"/>
            </a:avLst>
          </a:prstGeom>
          <a:solidFill>
            <a:srgbClr val="14151F"/>
          </a:solidFill>
          <a:ln w="12700">
            <a:solidFill>
              <a:srgbClr val="22243A"/>
            </a:solidFill>
            <a:prstDash val="solid"/>
          </a:ln>
          <a:effectLst>
            <a:outerShdw sx="100000" sy="100000" kx="0" ky="0" algn="bl" rotWithShape="0" blurRad="152400" dist="38100" dir="5400000">
              <a:srgbClr val="000000">
                <a:alpha val="35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868680" y="201168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150" kern="0" dirty="0">
                <a:solidFill>
                  <a:srgbClr val="9CA0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QMA · Live Query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868680" y="2468880"/>
            <a:ext cx="4572000" cy="1371600"/>
          </a:xfrm>
          <a:prstGeom prst="roundRect">
            <a:avLst>
              <a:gd name="adj" fmla="val 6667"/>
            </a:avLst>
          </a:prstGeom>
          <a:solidFill>
            <a:srgbClr val="191A28"/>
          </a:solidFill>
          <a:ln w="12700">
            <a:solidFill>
              <a:srgbClr val="262842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097280" y="2633472"/>
            <a:ext cx="4114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BTC-USDT Order Flow Signal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1097280" y="2944368"/>
            <a:ext cx="4114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CA0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Aggregated depth + momentum report, updated 30s ago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1097280" y="3337560"/>
            <a:ext cx="1828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0B981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$0.04</a:t>
            </a:r>
            <a:endParaRPr lang="en-US" sz="2000" dirty="0"/>
          </a:p>
        </p:txBody>
      </p:sp>
      <p:sp>
        <p:nvSpPr>
          <p:cNvPr id="10" name="Shape 8"/>
          <p:cNvSpPr/>
          <p:nvPr/>
        </p:nvSpPr>
        <p:spPr>
          <a:xfrm>
            <a:off x="3657600" y="4206240"/>
            <a:ext cx="1783080" cy="502920"/>
          </a:xfrm>
          <a:prstGeom prst="roundRect">
            <a:avLst>
              <a:gd name="adj" fmla="val 50909"/>
            </a:avLst>
          </a:prstGeom>
          <a:solidFill>
            <a:srgbClr val="6366F1"/>
          </a:solidFill>
          <a:ln/>
        </p:spPr>
      </p:sp>
      <p:sp>
        <p:nvSpPr>
          <p:cNvPr id="11" name="Text 9"/>
          <p:cNvSpPr/>
          <p:nvPr/>
        </p:nvSpPr>
        <p:spPr>
          <a:xfrm>
            <a:off x="3657600" y="4206240"/>
            <a:ext cx="17830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Unlock Report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868680" y="5120640"/>
            <a:ext cx="4572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B70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signup  ·  No card on file  ·  Pay-per-call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868680" y="5532120"/>
            <a:ext cx="4572000" cy="0"/>
          </a:xfrm>
          <a:prstGeom prst="line">
            <a:avLst/>
          </a:prstGeom>
          <a:noFill/>
          <a:ln w="12700">
            <a:solidFill>
              <a:srgbClr val="22243A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868680" y="562356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Settled on Arc in 0.4s</a:t>
            </a:r>
            <a:endParaRPr lang="en-US" sz="1050" dirty="0"/>
          </a:p>
        </p:txBody>
      </p:sp>
      <p:sp>
        <p:nvSpPr>
          <p:cNvPr id="15" name="Shape 13"/>
          <p:cNvSpPr/>
          <p:nvPr/>
        </p:nvSpPr>
        <p:spPr>
          <a:xfrm>
            <a:off x="6263640" y="1874520"/>
            <a:ext cx="457200" cy="457200"/>
          </a:xfrm>
          <a:prstGeom prst="ellipse">
            <a:avLst/>
          </a:prstGeom>
          <a:solidFill>
            <a:srgbClr val="1D1E30"/>
          </a:solidFill>
          <a:ln w="12700">
            <a:solidFill>
              <a:srgbClr val="2775CA"/>
            </a:solidFill>
            <a:prstDash val="solid"/>
          </a:ln>
        </p:spPr>
      </p:sp>
      <p:pic>
        <p:nvPicPr>
          <p:cNvPr id="16" name="Image 0" descr="/home/claude/qma_deck/assets/dollar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323076" y="1933956"/>
            <a:ext cx="338328" cy="338328"/>
          </a:xfrm>
          <a:prstGeom prst="rect">
            <a:avLst/>
          </a:prstGeom>
        </p:spPr>
      </p:pic>
      <p:sp>
        <p:nvSpPr>
          <p:cNvPr id="17" name="Text 14"/>
          <p:cNvSpPr/>
          <p:nvPr/>
        </p:nvSpPr>
        <p:spPr>
          <a:xfrm>
            <a:off x="6922008" y="1847088"/>
            <a:ext cx="4690872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Paid Queries</a:t>
            </a:r>
            <a:endParaRPr lang="en-US" sz="1500" dirty="0"/>
          </a:p>
        </p:txBody>
      </p:sp>
      <p:sp>
        <p:nvSpPr>
          <p:cNvPr id="18" name="Text 15"/>
          <p:cNvSpPr/>
          <p:nvPr/>
        </p:nvSpPr>
        <p:spPr>
          <a:xfrm>
            <a:off x="6922008" y="2130552"/>
            <a:ext cx="4690872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9CA0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Buy only the single report you need for a fraction of a cent.</a:t>
            </a:r>
            <a:endParaRPr lang="en-US" sz="1200" dirty="0"/>
          </a:p>
        </p:txBody>
      </p:sp>
      <p:sp>
        <p:nvSpPr>
          <p:cNvPr id="19" name="Shape 16"/>
          <p:cNvSpPr/>
          <p:nvPr/>
        </p:nvSpPr>
        <p:spPr>
          <a:xfrm>
            <a:off x="6263640" y="2971800"/>
            <a:ext cx="457200" cy="457200"/>
          </a:xfrm>
          <a:prstGeom prst="ellipse">
            <a:avLst/>
          </a:prstGeom>
          <a:solidFill>
            <a:srgbClr val="1D1E30"/>
          </a:solidFill>
          <a:ln w="12700">
            <a:solidFill>
              <a:srgbClr val="6366F1"/>
            </a:solidFill>
            <a:prstDash val="solid"/>
          </a:ln>
        </p:spPr>
      </p:sp>
      <p:pic>
        <p:nvPicPr>
          <p:cNvPr id="20" name="Image 1" descr="/home/claude/qma_deck/assets/zap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323076" y="3031236"/>
            <a:ext cx="338328" cy="338328"/>
          </a:xfrm>
          <a:prstGeom prst="rect">
            <a:avLst/>
          </a:prstGeom>
        </p:spPr>
      </p:pic>
      <p:sp>
        <p:nvSpPr>
          <p:cNvPr id="21" name="Text 17"/>
          <p:cNvSpPr/>
          <p:nvPr/>
        </p:nvSpPr>
        <p:spPr>
          <a:xfrm>
            <a:off x="6922008" y="2944368"/>
            <a:ext cx="4690872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Zero Friction</a:t>
            </a:r>
            <a:endParaRPr lang="en-US" sz="1500" dirty="0"/>
          </a:p>
        </p:txBody>
      </p:sp>
      <p:sp>
        <p:nvSpPr>
          <p:cNvPr id="22" name="Text 18"/>
          <p:cNvSpPr/>
          <p:nvPr/>
        </p:nvSpPr>
        <p:spPr>
          <a:xfrm>
            <a:off x="6922008" y="3227832"/>
            <a:ext cx="4690872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9CA0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accounts, no signups — directly pay-per-call.</a:t>
            </a:r>
            <a:endParaRPr lang="en-US" sz="1200" dirty="0"/>
          </a:p>
        </p:txBody>
      </p:sp>
      <p:sp>
        <p:nvSpPr>
          <p:cNvPr id="23" name="Shape 19"/>
          <p:cNvSpPr/>
          <p:nvPr/>
        </p:nvSpPr>
        <p:spPr>
          <a:xfrm>
            <a:off x="6263640" y="4069080"/>
            <a:ext cx="457200" cy="457200"/>
          </a:xfrm>
          <a:prstGeom prst="ellipse">
            <a:avLst/>
          </a:prstGeom>
          <a:solidFill>
            <a:srgbClr val="1D1E30"/>
          </a:solidFill>
          <a:ln w="12700">
            <a:solidFill>
              <a:srgbClr val="8B5CF6"/>
            </a:solidFill>
            <a:prstDash val="solid"/>
          </a:ln>
        </p:spPr>
      </p:sp>
      <p:pic>
        <p:nvPicPr>
          <p:cNvPr id="24" name="Image 2" descr="/home/claude/qma_deck/assets/cpu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23076" y="4128516"/>
            <a:ext cx="338328" cy="338328"/>
          </a:xfrm>
          <a:prstGeom prst="rect">
            <a:avLst/>
          </a:prstGeom>
        </p:spPr>
      </p:pic>
      <p:sp>
        <p:nvSpPr>
          <p:cNvPr id="25" name="Text 20"/>
          <p:cNvSpPr/>
          <p:nvPr/>
        </p:nvSpPr>
        <p:spPr>
          <a:xfrm>
            <a:off x="6922008" y="4041648"/>
            <a:ext cx="4690872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Agent-First</a:t>
            </a:r>
            <a:endParaRPr lang="en-US" sz="1500" dirty="0"/>
          </a:p>
        </p:txBody>
      </p:sp>
      <p:sp>
        <p:nvSpPr>
          <p:cNvPr id="26" name="Text 21"/>
          <p:cNvSpPr/>
          <p:nvPr/>
        </p:nvSpPr>
        <p:spPr>
          <a:xfrm>
            <a:off x="6922008" y="4325112"/>
            <a:ext cx="4690872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9CA0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Built for humans and autonomous agents to purchase intelligence programmatically.</a:t>
            </a:r>
            <a:endParaRPr lang="en-US" sz="1200" dirty="0"/>
          </a:p>
        </p:txBody>
      </p:sp>
      <p:sp>
        <p:nvSpPr>
          <p:cNvPr id="27" name="Text 22"/>
          <p:cNvSpPr/>
          <p:nvPr/>
        </p:nvSpPr>
        <p:spPr>
          <a:xfrm>
            <a:off x="457200" y="6473952"/>
            <a:ext cx="1371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spc="200" kern="0" dirty="0">
                <a:solidFill>
                  <a:srgbClr val="6B70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QMA</a:t>
            </a:r>
            <a:endParaRPr lang="en-US" sz="900" dirty="0"/>
          </a:p>
        </p:txBody>
      </p:sp>
      <p:sp>
        <p:nvSpPr>
          <p:cNvPr id="28" name="Text 23"/>
          <p:cNvSpPr/>
          <p:nvPr/>
        </p:nvSpPr>
        <p:spPr>
          <a:xfrm>
            <a:off x="10725912" y="6473952"/>
            <a:ext cx="10058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0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 / 16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90A1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b="1" spc="300" kern="0" dirty="0">
                <a:solidFill>
                  <a:srgbClr val="8B5C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TARGET MARKET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05156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Who QMA Serves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548640" y="1965960"/>
            <a:ext cx="3453384" cy="3931920"/>
          </a:xfrm>
          <a:prstGeom prst="roundRect">
            <a:avLst>
              <a:gd name="adj" fmla="val 3177"/>
            </a:avLst>
          </a:prstGeom>
          <a:solidFill>
            <a:srgbClr val="14151F"/>
          </a:solidFill>
          <a:ln w="12700">
            <a:solidFill>
              <a:srgbClr val="22243A"/>
            </a:solidFill>
            <a:prstDash val="solid"/>
          </a:ln>
          <a:effectLst>
            <a:outerShdw sx="100000" sy="100000" kx="0" ky="0" algn="bl" rotWithShape="0" blurRad="152400" dist="38100" dir="5400000">
              <a:srgbClr val="000000">
                <a:alpha val="35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1818132" y="2377440"/>
            <a:ext cx="914400" cy="914400"/>
          </a:xfrm>
          <a:prstGeom prst="ellipse">
            <a:avLst/>
          </a:prstGeom>
          <a:solidFill>
            <a:srgbClr val="1D1E30"/>
          </a:solidFill>
          <a:ln w="12700">
            <a:solidFill>
              <a:srgbClr val="8B5CF6"/>
            </a:solidFill>
            <a:prstDash val="solid"/>
          </a:ln>
        </p:spPr>
      </p:sp>
      <p:pic>
        <p:nvPicPr>
          <p:cNvPr id="6" name="Image 0" descr="/home/claude/qma_deck/assets/trending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937004" y="2496312"/>
            <a:ext cx="676656" cy="676656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822960" y="2194560"/>
            <a:ext cx="914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6B7085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01</a:t>
            </a:r>
            <a:endParaRPr lang="en-US" sz="1400" dirty="0"/>
          </a:p>
        </p:txBody>
      </p:sp>
      <p:sp>
        <p:nvSpPr>
          <p:cNvPr id="8" name="Text 5"/>
          <p:cNvSpPr/>
          <p:nvPr/>
        </p:nvSpPr>
        <p:spPr>
          <a:xfrm>
            <a:off x="868680" y="3566160"/>
            <a:ext cx="2813304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Quant &amp; DeFi Traders</a:t>
            </a:r>
            <a:endParaRPr lang="en-US" sz="1600" dirty="0"/>
          </a:p>
        </p:txBody>
      </p:sp>
      <p:sp>
        <p:nvSpPr>
          <p:cNvPr id="9" name="Text 6"/>
          <p:cNvSpPr/>
          <p:nvPr/>
        </p:nvSpPr>
        <p:spPr>
          <a:xfrm>
            <a:off x="914400" y="4251960"/>
            <a:ext cx="2721864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25000"/>
              </a:lnSpc>
              <a:buNone/>
            </a:pPr>
            <a:r>
              <a:rPr lang="en-US" sz="1250" dirty="0">
                <a:solidFill>
                  <a:srgbClr val="9CA0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Need quick, programmatically accessible data feeds and market signals without overhead.</a:t>
            </a:r>
            <a:endParaRPr lang="en-US" sz="1250" dirty="0"/>
          </a:p>
        </p:txBody>
      </p:sp>
      <p:sp>
        <p:nvSpPr>
          <p:cNvPr id="10" name="Shape 7"/>
          <p:cNvSpPr/>
          <p:nvPr/>
        </p:nvSpPr>
        <p:spPr>
          <a:xfrm>
            <a:off x="4367784" y="1965960"/>
            <a:ext cx="3453384" cy="3931920"/>
          </a:xfrm>
          <a:prstGeom prst="roundRect">
            <a:avLst>
              <a:gd name="adj" fmla="val 3177"/>
            </a:avLst>
          </a:prstGeom>
          <a:solidFill>
            <a:srgbClr val="14151F"/>
          </a:solidFill>
          <a:ln w="12700">
            <a:solidFill>
              <a:srgbClr val="22243A"/>
            </a:solidFill>
            <a:prstDash val="solid"/>
          </a:ln>
          <a:effectLst>
            <a:outerShdw sx="100000" sy="100000" kx="0" ky="0" algn="bl" rotWithShape="0" blurRad="152400" dist="38100" dir="5400000">
              <a:srgbClr val="000000">
                <a:alpha val="35000"/>
              </a:srgbClr>
            </a:outerShdw>
          </a:effectLst>
        </p:spPr>
      </p:sp>
      <p:sp>
        <p:nvSpPr>
          <p:cNvPr id="11" name="Shape 8"/>
          <p:cNvSpPr/>
          <p:nvPr/>
        </p:nvSpPr>
        <p:spPr>
          <a:xfrm>
            <a:off x="5637276" y="2377440"/>
            <a:ext cx="914400" cy="914400"/>
          </a:xfrm>
          <a:prstGeom prst="ellipse">
            <a:avLst/>
          </a:prstGeom>
          <a:solidFill>
            <a:srgbClr val="1D1E30"/>
          </a:solidFill>
          <a:ln w="12700">
            <a:solidFill>
              <a:srgbClr val="6366F1"/>
            </a:solidFill>
            <a:prstDash val="solid"/>
          </a:ln>
        </p:spPr>
      </p:sp>
      <p:pic>
        <p:nvPicPr>
          <p:cNvPr id="12" name="Image 1" descr="/home/claude/qma_deck/assets/cpu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756148" y="2496312"/>
            <a:ext cx="676656" cy="676656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4642104" y="2194560"/>
            <a:ext cx="914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6B7085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02</a:t>
            </a:r>
            <a:endParaRPr lang="en-US" sz="1400" dirty="0"/>
          </a:p>
        </p:txBody>
      </p:sp>
      <p:sp>
        <p:nvSpPr>
          <p:cNvPr id="14" name="Text 10"/>
          <p:cNvSpPr/>
          <p:nvPr/>
        </p:nvSpPr>
        <p:spPr>
          <a:xfrm>
            <a:off x="4687824" y="3566160"/>
            <a:ext cx="2813304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Autonomous AI Agents</a:t>
            </a:r>
            <a:endParaRPr lang="en-US" sz="1600" dirty="0"/>
          </a:p>
        </p:txBody>
      </p:sp>
      <p:sp>
        <p:nvSpPr>
          <p:cNvPr id="15" name="Text 11"/>
          <p:cNvSpPr/>
          <p:nvPr/>
        </p:nvSpPr>
        <p:spPr>
          <a:xfrm>
            <a:off x="4733544" y="4251960"/>
            <a:ext cx="2721864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25000"/>
              </a:lnSpc>
              <a:buNone/>
            </a:pPr>
            <a:r>
              <a:rPr lang="en-US" sz="1250" dirty="0">
                <a:solidFill>
                  <a:srgbClr val="9CA0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Systems that need to buy datasets or reports from other agents dynamically.</a:t>
            </a:r>
            <a:endParaRPr lang="en-US" sz="1250" dirty="0"/>
          </a:p>
        </p:txBody>
      </p:sp>
      <p:sp>
        <p:nvSpPr>
          <p:cNvPr id="16" name="Shape 12"/>
          <p:cNvSpPr/>
          <p:nvPr/>
        </p:nvSpPr>
        <p:spPr>
          <a:xfrm>
            <a:off x="8186928" y="1965960"/>
            <a:ext cx="3453384" cy="3931920"/>
          </a:xfrm>
          <a:prstGeom prst="roundRect">
            <a:avLst>
              <a:gd name="adj" fmla="val 3177"/>
            </a:avLst>
          </a:prstGeom>
          <a:solidFill>
            <a:srgbClr val="14151F"/>
          </a:solidFill>
          <a:ln w="12700">
            <a:solidFill>
              <a:srgbClr val="22243A"/>
            </a:solidFill>
            <a:prstDash val="solid"/>
          </a:ln>
          <a:effectLst>
            <a:outerShdw sx="100000" sy="100000" kx="0" ky="0" algn="bl" rotWithShape="0" blurRad="152400" dist="38100" dir="5400000">
              <a:srgbClr val="000000">
                <a:alpha val="35000"/>
              </a:srgbClr>
            </a:outerShdw>
          </a:effectLst>
        </p:spPr>
      </p:sp>
      <p:sp>
        <p:nvSpPr>
          <p:cNvPr id="17" name="Shape 13"/>
          <p:cNvSpPr/>
          <p:nvPr/>
        </p:nvSpPr>
        <p:spPr>
          <a:xfrm>
            <a:off x="9456420" y="2377440"/>
            <a:ext cx="914400" cy="914400"/>
          </a:xfrm>
          <a:prstGeom prst="ellipse">
            <a:avLst/>
          </a:prstGeom>
          <a:solidFill>
            <a:srgbClr val="1D1E30"/>
          </a:solidFill>
          <a:ln w="12700">
            <a:solidFill>
              <a:srgbClr val="2775CA"/>
            </a:solidFill>
            <a:prstDash val="solid"/>
          </a:ln>
        </p:spPr>
      </p:sp>
      <p:pic>
        <p:nvPicPr>
          <p:cNvPr id="18" name="Image 2" descr="/home/claude/qma_deck/assets/users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575292" y="2496312"/>
            <a:ext cx="676656" cy="676656"/>
          </a:xfrm>
          <a:prstGeom prst="rect">
            <a:avLst/>
          </a:prstGeom>
        </p:spPr>
      </p:pic>
      <p:sp>
        <p:nvSpPr>
          <p:cNvPr id="19" name="Text 14"/>
          <p:cNvSpPr/>
          <p:nvPr/>
        </p:nvSpPr>
        <p:spPr>
          <a:xfrm>
            <a:off x="8461248" y="2194560"/>
            <a:ext cx="914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6B7085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03</a:t>
            </a:r>
            <a:endParaRPr lang="en-US" sz="1400" dirty="0"/>
          </a:p>
        </p:txBody>
      </p:sp>
      <p:sp>
        <p:nvSpPr>
          <p:cNvPr id="20" name="Text 15"/>
          <p:cNvSpPr/>
          <p:nvPr/>
        </p:nvSpPr>
        <p:spPr>
          <a:xfrm>
            <a:off x="8506968" y="3566160"/>
            <a:ext cx="2813304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Market Creators &amp; Providers</a:t>
            </a:r>
            <a:endParaRPr lang="en-US" sz="1600" dirty="0"/>
          </a:p>
        </p:txBody>
      </p:sp>
      <p:sp>
        <p:nvSpPr>
          <p:cNvPr id="21" name="Text 16"/>
          <p:cNvSpPr/>
          <p:nvPr/>
        </p:nvSpPr>
        <p:spPr>
          <a:xfrm>
            <a:off x="8552688" y="4251960"/>
            <a:ext cx="2721864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25000"/>
              </a:lnSpc>
              <a:buNone/>
            </a:pPr>
            <a:r>
              <a:rPr lang="en-US" sz="1250" dirty="0">
                <a:solidFill>
                  <a:srgbClr val="9CA0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Financial analysts who want to instantly monetize their indicators via APIs.</a:t>
            </a:r>
            <a:endParaRPr lang="en-US" sz="1250" dirty="0"/>
          </a:p>
        </p:txBody>
      </p:sp>
      <p:sp>
        <p:nvSpPr>
          <p:cNvPr id="22" name="Text 17"/>
          <p:cNvSpPr/>
          <p:nvPr/>
        </p:nvSpPr>
        <p:spPr>
          <a:xfrm>
            <a:off x="457200" y="6473952"/>
            <a:ext cx="1371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spc="200" kern="0" dirty="0">
                <a:solidFill>
                  <a:srgbClr val="6B70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QMA</a:t>
            </a:r>
            <a:endParaRPr lang="en-US" sz="900" dirty="0"/>
          </a:p>
        </p:txBody>
      </p:sp>
      <p:sp>
        <p:nvSpPr>
          <p:cNvPr id="23" name="Text 18"/>
          <p:cNvSpPr/>
          <p:nvPr/>
        </p:nvSpPr>
        <p:spPr>
          <a:xfrm>
            <a:off x="10725912" y="6473952"/>
            <a:ext cx="10058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0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 / 16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90A1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b="1" spc="300" kern="0" dirty="0">
                <a:solidFill>
                  <a:srgbClr val="8B5C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ARCHITECTURE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05156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The QMA Ecosystem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548640" y="1965960"/>
            <a:ext cx="2331720" cy="868680"/>
          </a:xfrm>
          <a:prstGeom prst="roundRect">
            <a:avLst>
              <a:gd name="adj" fmla="val 12632"/>
            </a:avLst>
          </a:prstGeom>
          <a:solidFill>
            <a:srgbClr val="191A28"/>
          </a:solidFill>
          <a:ln w="12700">
            <a:solidFill>
              <a:srgbClr val="22243A"/>
            </a:solidFill>
            <a:prstDash val="solid"/>
          </a:ln>
          <a:effectLst>
            <a:outerShdw sx="100000" sy="100000" kx="0" ky="0" algn="bl" rotWithShape="0" blurRad="152400" dist="38100" dir="5400000">
              <a:srgbClr val="000000">
                <a:alpha val="35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731520" y="2125980"/>
            <a:ext cx="548640" cy="548640"/>
          </a:xfrm>
          <a:prstGeom prst="ellipse">
            <a:avLst/>
          </a:prstGeom>
          <a:solidFill>
            <a:srgbClr val="1D1E30"/>
          </a:solidFill>
          <a:ln w="12700">
            <a:solidFill>
              <a:srgbClr val="2775CA"/>
            </a:solidFill>
            <a:prstDash val="solid"/>
          </a:ln>
        </p:spPr>
      </p:sp>
      <p:pic>
        <p:nvPicPr>
          <p:cNvPr id="6" name="Image 0" descr="/home/claude/qma_deck/assets/wallet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02843" y="2197303"/>
            <a:ext cx="405994" cy="405994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371600" y="2084832"/>
            <a:ext cx="1371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MetaMask Wallet</a:t>
            </a:r>
            <a:endParaRPr lang="en-US" sz="1250" dirty="0"/>
          </a:p>
        </p:txBody>
      </p:sp>
      <p:sp>
        <p:nvSpPr>
          <p:cNvPr id="8" name="Text 5"/>
          <p:cNvSpPr/>
          <p:nvPr/>
        </p:nvSpPr>
        <p:spPr>
          <a:xfrm>
            <a:off x="1371600" y="2386584"/>
            <a:ext cx="1371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9CA0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User-funded, non-custodial</a:t>
            </a:r>
            <a:endParaRPr lang="en-US" sz="950" dirty="0"/>
          </a:p>
        </p:txBody>
      </p:sp>
      <p:sp>
        <p:nvSpPr>
          <p:cNvPr id="9" name="Shape 6"/>
          <p:cNvSpPr/>
          <p:nvPr/>
        </p:nvSpPr>
        <p:spPr>
          <a:xfrm>
            <a:off x="548640" y="3154680"/>
            <a:ext cx="2331720" cy="868680"/>
          </a:xfrm>
          <a:prstGeom prst="roundRect">
            <a:avLst>
              <a:gd name="adj" fmla="val 12632"/>
            </a:avLst>
          </a:prstGeom>
          <a:solidFill>
            <a:srgbClr val="191A28"/>
          </a:solidFill>
          <a:ln w="12700">
            <a:solidFill>
              <a:srgbClr val="22243A"/>
            </a:solidFill>
            <a:prstDash val="solid"/>
          </a:ln>
          <a:effectLst>
            <a:outerShdw sx="100000" sy="100000" kx="0" ky="0" algn="bl" rotWithShape="0" blurRad="152400" dist="38100" dir="5400000">
              <a:srgbClr val="000000">
                <a:alpha val="35000"/>
              </a:srgbClr>
            </a:outerShdw>
          </a:effectLst>
        </p:spPr>
      </p:sp>
      <p:sp>
        <p:nvSpPr>
          <p:cNvPr id="10" name="Shape 7"/>
          <p:cNvSpPr/>
          <p:nvPr/>
        </p:nvSpPr>
        <p:spPr>
          <a:xfrm>
            <a:off x="731520" y="3314700"/>
            <a:ext cx="548640" cy="548640"/>
          </a:xfrm>
          <a:prstGeom prst="ellipse">
            <a:avLst/>
          </a:prstGeom>
          <a:solidFill>
            <a:srgbClr val="1D1E30"/>
          </a:solidFill>
          <a:ln w="12700">
            <a:solidFill>
              <a:srgbClr val="8B5CF6"/>
            </a:solidFill>
            <a:prstDash val="solid"/>
          </a:ln>
        </p:spPr>
      </p:sp>
      <p:pic>
        <p:nvPicPr>
          <p:cNvPr id="11" name="Image 1" descr="/home/claude/qma_deck/assets/cpu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02843" y="3386023"/>
            <a:ext cx="405994" cy="405994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1371600" y="3273552"/>
            <a:ext cx="1371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Autonomous Agent</a:t>
            </a:r>
            <a:endParaRPr lang="en-US" sz="1250" dirty="0"/>
          </a:p>
        </p:txBody>
      </p:sp>
      <p:sp>
        <p:nvSpPr>
          <p:cNvPr id="13" name="Text 9"/>
          <p:cNvSpPr/>
          <p:nvPr/>
        </p:nvSpPr>
        <p:spPr>
          <a:xfrm>
            <a:off x="1371600" y="3575304"/>
            <a:ext cx="1371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9CA0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Agent-owned smart wallet</a:t>
            </a:r>
            <a:endParaRPr lang="en-US" sz="950" dirty="0"/>
          </a:p>
        </p:txBody>
      </p:sp>
      <p:pic>
        <p:nvPicPr>
          <p:cNvPr id="14" name="Image 2" descr="/home/claude/qma_deck/assets/arrowright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990088" y="2857500"/>
            <a:ext cx="365760" cy="274320"/>
          </a:xfrm>
          <a:prstGeom prst="rect">
            <a:avLst/>
          </a:prstGeom>
        </p:spPr>
      </p:pic>
      <p:sp>
        <p:nvSpPr>
          <p:cNvPr id="15" name="Shape 10"/>
          <p:cNvSpPr/>
          <p:nvPr/>
        </p:nvSpPr>
        <p:spPr>
          <a:xfrm>
            <a:off x="3474720" y="2560320"/>
            <a:ext cx="2514600" cy="868680"/>
          </a:xfrm>
          <a:prstGeom prst="roundRect">
            <a:avLst>
              <a:gd name="adj" fmla="val 12632"/>
            </a:avLst>
          </a:prstGeom>
          <a:solidFill>
            <a:srgbClr val="191A28"/>
          </a:solidFill>
          <a:ln w="12700">
            <a:solidFill>
              <a:srgbClr val="22243A"/>
            </a:solidFill>
            <a:prstDash val="solid"/>
          </a:ln>
          <a:effectLst>
            <a:outerShdw sx="100000" sy="100000" kx="0" ky="0" algn="bl" rotWithShape="0" blurRad="152400" dist="38100" dir="5400000">
              <a:srgbClr val="000000">
                <a:alpha val="35000"/>
              </a:srgbClr>
            </a:outerShdw>
          </a:effectLst>
        </p:spPr>
      </p:sp>
      <p:sp>
        <p:nvSpPr>
          <p:cNvPr id="16" name="Shape 11"/>
          <p:cNvSpPr/>
          <p:nvPr/>
        </p:nvSpPr>
        <p:spPr>
          <a:xfrm>
            <a:off x="3657600" y="2720340"/>
            <a:ext cx="548640" cy="548640"/>
          </a:xfrm>
          <a:prstGeom prst="ellipse">
            <a:avLst/>
          </a:prstGeom>
          <a:solidFill>
            <a:srgbClr val="1D1E30"/>
          </a:solidFill>
          <a:ln w="12700">
            <a:solidFill>
              <a:srgbClr val="3B82F6"/>
            </a:solidFill>
            <a:prstDash val="solid"/>
          </a:ln>
        </p:spPr>
      </p:sp>
      <p:pic>
        <p:nvPicPr>
          <p:cNvPr id="17" name="Image 3" descr="/home/claude/qma_deck/assets/link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728923" y="2791663"/>
            <a:ext cx="405994" cy="405994"/>
          </a:xfrm>
          <a:prstGeom prst="rect">
            <a:avLst/>
          </a:prstGeom>
        </p:spPr>
      </p:pic>
      <p:sp>
        <p:nvSpPr>
          <p:cNvPr id="18" name="Text 12"/>
          <p:cNvSpPr/>
          <p:nvPr/>
        </p:nvSpPr>
        <p:spPr>
          <a:xfrm>
            <a:off x="4297680" y="2679192"/>
            <a:ext cx="16459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Arc Gateway</a:t>
            </a:r>
            <a:endParaRPr lang="en-US" sz="1250" dirty="0"/>
          </a:p>
        </p:txBody>
      </p:sp>
      <p:sp>
        <p:nvSpPr>
          <p:cNvPr id="19" name="Text 13"/>
          <p:cNvSpPr/>
          <p:nvPr/>
        </p:nvSpPr>
        <p:spPr>
          <a:xfrm>
            <a:off x="4297680" y="2980944"/>
            <a:ext cx="16459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9CA0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USDC settlement rail</a:t>
            </a:r>
            <a:endParaRPr lang="en-US" sz="950" dirty="0"/>
          </a:p>
        </p:txBody>
      </p:sp>
      <p:pic>
        <p:nvPicPr>
          <p:cNvPr id="20" name="Image 4" descr="/home/claude/qma_deck/assets/arrowright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099048" y="2857500"/>
            <a:ext cx="365760" cy="274320"/>
          </a:xfrm>
          <a:prstGeom prst="rect">
            <a:avLst/>
          </a:prstGeom>
        </p:spPr>
      </p:pic>
      <p:sp>
        <p:nvSpPr>
          <p:cNvPr id="21" name="Shape 14"/>
          <p:cNvSpPr/>
          <p:nvPr/>
        </p:nvSpPr>
        <p:spPr>
          <a:xfrm>
            <a:off x="6583680" y="2560320"/>
            <a:ext cx="2377440" cy="868680"/>
          </a:xfrm>
          <a:prstGeom prst="roundRect">
            <a:avLst>
              <a:gd name="adj" fmla="val 12632"/>
            </a:avLst>
          </a:prstGeom>
          <a:solidFill>
            <a:srgbClr val="1B1830"/>
          </a:solidFill>
          <a:ln w="12700">
            <a:solidFill>
              <a:srgbClr val="6366F1"/>
            </a:solidFill>
            <a:prstDash val="solid"/>
          </a:ln>
          <a:effectLst>
            <a:outerShdw sx="100000" sy="100000" kx="0" ky="0" algn="bl" rotWithShape="0" blurRad="152400" dist="38100" dir="5400000">
              <a:srgbClr val="000000">
                <a:alpha val="35000"/>
              </a:srgbClr>
            </a:outerShdw>
          </a:effectLst>
        </p:spPr>
      </p:sp>
      <p:sp>
        <p:nvSpPr>
          <p:cNvPr id="22" name="Shape 15"/>
          <p:cNvSpPr/>
          <p:nvPr/>
        </p:nvSpPr>
        <p:spPr>
          <a:xfrm>
            <a:off x="6766560" y="2720340"/>
            <a:ext cx="548640" cy="548640"/>
          </a:xfrm>
          <a:prstGeom prst="ellipse">
            <a:avLst/>
          </a:prstGeom>
          <a:solidFill>
            <a:srgbClr val="24204A"/>
          </a:solidFill>
          <a:ln w="12700">
            <a:solidFill>
              <a:srgbClr val="6366F1"/>
            </a:solidFill>
            <a:prstDash val="solid"/>
          </a:ln>
        </p:spPr>
      </p:sp>
      <p:pic>
        <p:nvPicPr>
          <p:cNvPr id="23" name="Image 5" descr="/home/claude/qma_deck/assets/database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837883" y="2791663"/>
            <a:ext cx="405994" cy="405994"/>
          </a:xfrm>
          <a:prstGeom prst="rect">
            <a:avLst/>
          </a:prstGeom>
        </p:spPr>
      </p:pic>
      <p:sp>
        <p:nvSpPr>
          <p:cNvPr id="24" name="Text 16"/>
          <p:cNvSpPr/>
          <p:nvPr/>
        </p:nvSpPr>
        <p:spPr>
          <a:xfrm>
            <a:off x="7406640" y="2651760"/>
            <a:ext cx="15087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QMA Ledger</a:t>
            </a:r>
            <a:endParaRPr lang="en-US" sz="1250" dirty="0"/>
          </a:p>
        </p:txBody>
      </p:sp>
      <p:sp>
        <p:nvSpPr>
          <p:cNvPr id="25" name="Text 17"/>
          <p:cNvSpPr/>
          <p:nvPr/>
        </p:nvSpPr>
        <p:spPr>
          <a:xfrm>
            <a:off x="7406640" y="2953512"/>
            <a:ext cx="1508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8B5C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HTTP 402 trigger</a:t>
            </a:r>
            <a:endParaRPr lang="en-US" sz="950" dirty="0"/>
          </a:p>
        </p:txBody>
      </p:sp>
      <p:pic>
        <p:nvPicPr>
          <p:cNvPr id="26" name="Image 6" descr="/home/claude/qma_deck/assets/arrowright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9070848" y="2857500"/>
            <a:ext cx="365760" cy="274320"/>
          </a:xfrm>
          <a:prstGeom prst="rect">
            <a:avLst/>
          </a:prstGeom>
        </p:spPr>
      </p:pic>
      <p:sp>
        <p:nvSpPr>
          <p:cNvPr id="27" name="Shape 18"/>
          <p:cNvSpPr/>
          <p:nvPr/>
        </p:nvSpPr>
        <p:spPr>
          <a:xfrm>
            <a:off x="9555480" y="2560320"/>
            <a:ext cx="2084832" cy="868680"/>
          </a:xfrm>
          <a:prstGeom prst="roundRect">
            <a:avLst>
              <a:gd name="adj" fmla="val 12632"/>
            </a:avLst>
          </a:prstGeom>
          <a:solidFill>
            <a:srgbClr val="191A28"/>
          </a:solidFill>
          <a:ln w="12700">
            <a:solidFill>
              <a:srgbClr val="22243A"/>
            </a:solidFill>
            <a:prstDash val="solid"/>
          </a:ln>
          <a:effectLst>
            <a:outerShdw sx="100000" sy="100000" kx="0" ky="0" algn="bl" rotWithShape="0" blurRad="152400" dist="38100" dir="5400000">
              <a:srgbClr val="000000">
                <a:alpha val="35000"/>
              </a:srgbClr>
            </a:outerShdw>
          </a:effectLst>
        </p:spPr>
      </p:sp>
      <p:sp>
        <p:nvSpPr>
          <p:cNvPr id="28" name="Shape 19"/>
          <p:cNvSpPr/>
          <p:nvPr/>
        </p:nvSpPr>
        <p:spPr>
          <a:xfrm>
            <a:off x="9738360" y="2720340"/>
            <a:ext cx="548640" cy="548640"/>
          </a:xfrm>
          <a:prstGeom prst="ellipse">
            <a:avLst/>
          </a:prstGeom>
          <a:solidFill>
            <a:srgbClr val="1D1E30"/>
          </a:solidFill>
          <a:ln w="12700">
            <a:solidFill>
              <a:srgbClr val="10B981"/>
            </a:solidFill>
            <a:prstDash val="solid"/>
          </a:ln>
        </p:spPr>
      </p:sp>
      <p:pic>
        <p:nvPicPr>
          <p:cNvPr id="29" name="Image 7" descr="/home/claude/qma_deck/assets/check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9809683" y="2791663"/>
            <a:ext cx="405994" cy="405994"/>
          </a:xfrm>
          <a:prstGeom prst="rect">
            <a:avLst/>
          </a:prstGeom>
        </p:spPr>
      </p:pic>
      <p:sp>
        <p:nvSpPr>
          <p:cNvPr id="30" name="Text 20"/>
          <p:cNvSpPr/>
          <p:nvPr/>
        </p:nvSpPr>
        <p:spPr>
          <a:xfrm>
            <a:off x="10378440" y="2651760"/>
            <a:ext cx="1124712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Paid Report</a:t>
            </a:r>
            <a:endParaRPr lang="en-US" sz="1250" dirty="0"/>
          </a:p>
        </p:txBody>
      </p:sp>
      <p:sp>
        <p:nvSpPr>
          <p:cNvPr id="31" name="Text 21"/>
          <p:cNvSpPr/>
          <p:nvPr/>
        </p:nvSpPr>
        <p:spPr>
          <a:xfrm>
            <a:off x="10378440" y="2953512"/>
            <a:ext cx="1124712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9CA0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Instantly decrypted</a:t>
            </a:r>
            <a:endParaRPr lang="en-US" sz="950" dirty="0"/>
          </a:p>
        </p:txBody>
      </p:sp>
      <p:sp>
        <p:nvSpPr>
          <p:cNvPr id="32" name="Text 22"/>
          <p:cNvSpPr/>
          <p:nvPr/>
        </p:nvSpPr>
        <p:spPr>
          <a:xfrm>
            <a:off x="548640" y="5074920"/>
            <a:ext cx="11091672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9CA0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User-funded MetaMask payments (via the Arc Gateway) and fully autonomous agent wallets converge on one settlement ledger — both trigger the same HTTP 402 paid-access flow before instant report decryption.</a:t>
            </a:r>
            <a:endParaRPr lang="en-US" sz="1300" dirty="0"/>
          </a:p>
        </p:txBody>
      </p:sp>
      <p:sp>
        <p:nvSpPr>
          <p:cNvPr id="33" name="Text 23"/>
          <p:cNvSpPr/>
          <p:nvPr/>
        </p:nvSpPr>
        <p:spPr>
          <a:xfrm>
            <a:off x="457200" y="6473952"/>
            <a:ext cx="1371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spc="200" kern="0" dirty="0">
                <a:solidFill>
                  <a:srgbClr val="6B70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QMA</a:t>
            </a:r>
            <a:endParaRPr lang="en-US" sz="900" dirty="0"/>
          </a:p>
        </p:txBody>
      </p:sp>
      <p:sp>
        <p:nvSpPr>
          <p:cNvPr id="34" name="Text 24"/>
          <p:cNvSpPr/>
          <p:nvPr/>
        </p:nvSpPr>
        <p:spPr>
          <a:xfrm>
            <a:off x="10725912" y="6473952"/>
            <a:ext cx="10058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0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 / 16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90A1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b="1" spc="300" kern="0" dirty="0">
                <a:solidFill>
                  <a:srgbClr val="3B82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INFRASTRUCTURE PARTNER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05156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Powered by Circle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548640" y="1874520"/>
            <a:ext cx="4480560" cy="4069080"/>
          </a:xfrm>
          <a:prstGeom prst="roundRect">
            <a:avLst>
              <a:gd name="adj" fmla="val 2697"/>
            </a:avLst>
          </a:prstGeom>
          <a:solidFill>
            <a:srgbClr val="10192B"/>
          </a:solidFill>
          <a:ln w="12700">
            <a:solidFill>
              <a:srgbClr val="22243A"/>
            </a:solidFill>
            <a:prstDash val="solid"/>
          </a:ln>
          <a:effectLst>
            <a:outerShdw sx="100000" sy="100000" kx="0" ky="0" algn="bl" rotWithShape="0" blurRad="152400" dist="38100" dir="5400000">
              <a:srgbClr val="000000">
                <a:alpha val="35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2148840" y="2606040"/>
            <a:ext cx="1280160" cy="1280160"/>
          </a:xfrm>
          <a:prstGeom prst="ellipse">
            <a:avLst/>
          </a:prstGeom>
          <a:solidFill>
            <a:srgbClr val="0E2340"/>
          </a:solidFill>
          <a:ln w="12700">
            <a:solidFill>
              <a:srgbClr val="2775CA"/>
            </a:solidFill>
            <a:prstDash val="solid"/>
          </a:ln>
        </p:spPr>
      </p:sp>
      <p:pic>
        <p:nvPicPr>
          <p:cNvPr id="6" name="Image 0" descr="/home/claude/qma_deck/assets/wallet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315261" y="2772461"/>
            <a:ext cx="947318" cy="947318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548640" y="4114800"/>
            <a:ext cx="44805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spc="300" kern="0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CIRCLE</a:t>
            </a:r>
            <a:endParaRPr lang="en-US" sz="2400" dirty="0"/>
          </a:p>
        </p:txBody>
      </p:sp>
      <p:sp>
        <p:nvSpPr>
          <p:cNvPr id="8" name="Text 5"/>
          <p:cNvSpPr/>
          <p:nvPr/>
        </p:nvSpPr>
        <p:spPr>
          <a:xfrm>
            <a:off x="548640" y="4572000"/>
            <a:ext cx="44805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3B82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Programmable USDC Infrastructure</a:t>
            </a:r>
            <a:endParaRPr lang="en-US" sz="1200" dirty="0"/>
          </a:p>
        </p:txBody>
      </p:sp>
      <p:sp>
        <p:nvSpPr>
          <p:cNvPr id="9" name="Shape 6"/>
          <p:cNvSpPr/>
          <p:nvPr/>
        </p:nvSpPr>
        <p:spPr>
          <a:xfrm>
            <a:off x="5486400" y="1965960"/>
            <a:ext cx="457200" cy="457200"/>
          </a:xfrm>
          <a:prstGeom prst="ellipse">
            <a:avLst/>
          </a:prstGeom>
          <a:solidFill>
            <a:srgbClr val="1D1E30"/>
          </a:solidFill>
          <a:ln w="12700">
            <a:solidFill>
              <a:srgbClr val="2775CA"/>
            </a:solidFill>
            <a:prstDash val="solid"/>
          </a:ln>
        </p:spPr>
      </p:sp>
      <p:pic>
        <p:nvPicPr>
          <p:cNvPr id="10" name="Image 1" descr="/home/claude/qma_deck/assets/shiel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545836" y="2025396"/>
            <a:ext cx="338328" cy="338328"/>
          </a:xfrm>
          <a:prstGeom prst="rect">
            <a:avLst/>
          </a:prstGeom>
        </p:spPr>
      </p:pic>
      <p:sp>
        <p:nvSpPr>
          <p:cNvPr id="11" name="Text 7"/>
          <p:cNvSpPr/>
          <p:nvPr/>
        </p:nvSpPr>
        <p:spPr>
          <a:xfrm>
            <a:off x="6144768" y="1938528"/>
            <a:ext cx="5513832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Programmable Wallets</a:t>
            </a:r>
            <a:endParaRPr lang="en-US" sz="1500" dirty="0"/>
          </a:p>
        </p:txBody>
      </p:sp>
      <p:sp>
        <p:nvSpPr>
          <p:cNvPr id="12" name="Text 8"/>
          <p:cNvSpPr/>
          <p:nvPr/>
        </p:nvSpPr>
        <p:spPr>
          <a:xfrm>
            <a:off x="6144768" y="2221992"/>
            <a:ext cx="5513832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9CA0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Smart Contract Accounts (SCA) handle credentials securely.</a:t>
            </a:r>
            <a:endParaRPr lang="en-US" sz="1200" dirty="0"/>
          </a:p>
        </p:txBody>
      </p:sp>
      <p:sp>
        <p:nvSpPr>
          <p:cNvPr id="13" name="Shape 9"/>
          <p:cNvSpPr/>
          <p:nvPr/>
        </p:nvSpPr>
        <p:spPr>
          <a:xfrm>
            <a:off x="5486400" y="3246120"/>
            <a:ext cx="457200" cy="457200"/>
          </a:xfrm>
          <a:prstGeom prst="ellipse">
            <a:avLst/>
          </a:prstGeom>
          <a:solidFill>
            <a:srgbClr val="1D1E30"/>
          </a:solidFill>
          <a:ln w="12700">
            <a:solidFill>
              <a:srgbClr val="2775CA"/>
            </a:solidFill>
            <a:prstDash val="solid"/>
          </a:ln>
        </p:spPr>
      </p:sp>
      <p:pic>
        <p:nvPicPr>
          <p:cNvPr id="14" name="Image 2" descr="/home/claude/qma_deck/assets/dollar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545836" y="3305556"/>
            <a:ext cx="338328" cy="338328"/>
          </a:xfrm>
          <a:prstGeom prst="rect">
            <a:avLst/>
          </a:prstGeom>
        </p:spPr>
      </p:pic>
      <p:sp>
        <p:nvSpPr>
          <p:cNvPr id="15" name="Text 10"/>
          <p:cNvSpPr/>
          <p:nvPr/>
        </p:nvSpPr>
        <p:spPr>
          <a:xfrm>
            <a:off x="6144768" y="3218688"/>
            <a:ext cx="5513832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USDC as Native Utility</a:t>
            </a:r>
            <a:endParaRPr lang="en-US" sz="1500" dirty="0"/>
          </a:p>
        </p:txBody>
      </p:sp>
      <p:sp>
        <p:nvSpPr>
          <p:cNvPr id="16" name="Text 11"/>
          <p:cNvSpPr/>
          <p:nvPr/>
        </p:nvSpPr>
        <p:spPr>
          <a:xfrm>
            <a:off x="6144768" y="3502152"/>
            <a:ext cx="5513832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9CA0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reports and services are priced and paid in USDC.</a:t>
            </a:r>
            <a:endParaRPr lang="en-US" sz="1200" dirty="0"/>
          </a:p>
        </p:txBody>
      </p:sp>
      <p:sp>
        <p:nvSpPr>
          <p:cNvPr id="17" name="Shape 12"/>
          <p:cNvSpPr/>
          <p:nvPr/>
        </p:nvSpPr>
        <p:spPr>
          <a:xfrm>
            <a:off x="5486400" y="4526280"/>
            <a:ext cx="457200" cy="457200"/>
          </a:xfrm>
          <a:prstGeom prst="ellipse">
            <a:avLst/>
          </a:prstGeom>
          <a:solidFill>
            <a:srgbClr val="1D1E30"/>
          </a:solidFill>
          <a:ln w="12700">
            <a:solidFill>
              <a:srgbClr val="2775CA"/>
            </a:solidFill>
            <a:prstDash val="solid"/>
          </a:ln>
        </p:spPr>
      </p:sp>
      <p:pic>
        <p:nvPicPr>
          <p:cNvPr id="18" name="Image 3" descr="/home/claude/qma_deck/assets/key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545836" y="4585716"/>
            <a:ext cx="338328" cy="338328"/>
          </a:xfrm>
          <a:prstGeom prst="rect">
            <a:avLst/>
          </a:prstGeom>
        </p:spPr>
      </p:pic>
      <p:sp>
        <p:nvSpPr>
          <p:cNvPr id="19" name="Text 13"/>
          <p:cNvSpPr/>
          <p:nvPr/>
        </p:nvSpPr>
        <p:spPr>
          <a:xfrm>
            <a:off x="6144768" y="4498848"/>
            <a:ext cx="5513832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Developer-Controlled Wallets</a:t>
            </a:r>
            <a:endParaRPr lang="en-US" sz="1500" dirty="0"/>
          </a:p>
        </p:txBody>
      </p:sp>
      <p:sp>
        <p:nvSpPr>
          <p:cNvPr id="20" name="Text 14"/>
          <p:cNvSpPr/>
          <p:nvPr/>
        </p:nvSpPr>
        <p:spPr>
          <a:xfrm>
            <a:off x="6144768" y="4782312"/>
            <a:ext cx="5513832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9CA0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Lets QMA agents autonomously store and spend funds.</a:t>
            </a:r>
            <a:endParaRPr lang="en-US" sz="1200" dirty="0"/>
          </a:p>
        </p:txBody>
      </p:sp>
      <p:sp>
        <p:nvSpPr>
          <p:cNvPr id="21" name="Text 15"/>
          <p:cNvSpPr/>
          <p:nvPr/>
        </p:nvSpPr>
        <p:spPr>
          <a:xfrm>
            <a:off x="457200" y="6473952"/>
            <a:ext cx="1371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spc="200" kern="0" dirty="0">
                <a:solidFill>
                  <a:srgbClr val="6B70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QMA</a:t>
            </a:r>
            <a:endParaRPr lang="en-US" sz="900" dirty="0"/>
          </a:p>
        </p:txBody>
      </p:sp>
      <p:sp>
        <p:nvSpPr>
          <p:cNvPr id="22" name="Text 16"/>
          <p:cNvSpPr/>
          <p:nvPr/>
        </p:nvSpPr>
        <p:spPr>
          <a:xfrm>
            <a:off x="10725912" y="6473952"/>
            <a:ext cx="10058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0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06 / 16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90A1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b="1" spc="300" kern="0" dirty="0">
                <a:solidFill>
                  <a:srgbClr val="6366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SETTLEMENT LAYER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05156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Powered by Arc Blockchain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548640" y="1874520"/>
            <a:ext cx="4480560" cy="4069080"/>
          </a:xfrm>
          <a:prstGeom prst="roundRect">
            <a:avLst>
              <a:gd name="adj" fmla="val 2697"/>
            </a:avLst>
          </a:prstGeom>
          <a:solidFill>
            <a:srgbClr val="141230"/>
          </a:solidFill>
          <a:ln w="12700">
            <a:solidFill>
              <a:srgbClr val="22243A"/>
            </a:solidFill>
            <a:prstDash val="solid"/>
          </a:ln>
          <a:effectLst>
            <a:outerShdw sx="100000" sy="100000" kx="0" ky="0" algn="bl" rotWithShape="0" blurRad="152400" dist="38100" dir="5400000">
              <a:srgbClr val="000000">
                <a:alpha val="35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2194560" y="2468880"/>
            <a:ext cx="1188720" cy="1188720"/>
          </a:xfrm>
          <a:prstGeom prst="ellipse">
            <a:avLst/>
          </a:prstGeom>
          <a:solidFill>
            <a:srgbClr val="201B45"/>
          </a:solidFill>
          <a:ln w="12700">
            <a:solidFill>
              <a:srgbClr val="6366F1"/>
            </a:solidFill>
            <a:prstDash val="solid"/>
          </a:ln>
        </p:spPr>
      </p:sp>
      <p:pic>
        <p:nvPicPr>
          <p:cNvPr id="6" name="Image 0" descr="/home/claude/qma_deck/assets/glob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349094" y="2623414"/>
            <a:ext cx="879653" cy="879653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548640" y="3794760"/>
            <a:ext cx="44805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spc="200" kern="0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ARC NETWORK</a:t>
            </a:r>
            <a:endParaRPr lang="en-US" sz="2200" dirty="0"/>
          </a:p>
        </p:txBody>
      </p:sp>
      <p:sp>
        <p:nvSpPr>
          <p:cNvPr id="8" name="Text 5"/>
          <p:cNvSpPr/>
          <p:nvPr/>
        </p:nvSpPr>
        <p:spPr>
          <a:xfrm>
            <a:off x="548640" y="4224528"/>
            <a:ext cx="44805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8B5C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blockchain built for USDC</a:t>
            </a:r>
            <a:endParaRPr lang="en-US" sz="1200" dirty="0"/>
          </a:p>
        </p:txBody>
      </p:sp>
      <p:sp>
        <p:nvSpPr>
          <p:cNvPr id="9" name="Text 6"/>
          <p:cNvSpPr/>
          <p:nvPr/>
        </p:nvSpPr>
        <p:spPr>
          <a:xfrm>
            <a:off x="1005840" y="4846320"/>
            <a:ext cx="35661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4400" b="1" dirty="0">
                <a:solidFill>
                  <a:srgbClr val="10B981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&lt; 500ms</a:t>
            </a:r>
            <a:endParaRPr lang="en-US" sz="4400" dirty="0"/>
          </a:p>
        </p:txBody>
      </p:sp>
      <p:sp>
        <p:nvSpPr>
          <p:cNvPr id="10" name="Text 7"/>
          <p:cNvSpPr/>
          <p:nvPr/>
        </p:nvSpPr>
        <p:spPr>
          <a:xfrm>
            <a:off x="1005840" y="5559552"/>
            <a:ext cx="35661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9CA0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SETTLEMENT FINALITY</a:t>
            </a:r>
            <a:endParaRPr lang="en-US" sz="1100" dirty="0"/>
          </a:p>
        </p:txBody>
      </p:sp>
      <p:sp>
        <p:nvSpPr>
          <p:cNvPr id="11" name="Text 8"/>
          <p:cNvSpPr/>
          <p:nvPr/>
        </p:nvSpPr>
        <p:spPr>
          <a:xfrm>
            <a:off x="5486400" y="1874520"/>
            <a:ext cx="6172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9CA0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SETTLEMENT SPEED COMPARISON</a:t>
            </a:r>
            <a:endParaRPr lang="en-US" sz="1100" dirty="0"/>
          </a:p>
        </p:txBody>
      </p:sp>
      <p:sp>
        <p:nvSpPr>
          <p:cNvPr id="12" name="Shape 9"/>
          <p:cNvSpPr/>
          <p:nvPr/>
        </p:nvSpPr>
        <p:spPr>
          <a:xfrm>
            <a:off x="5486400" y="2240280"/>
            <a:ext cx="2971800" cy="1600200"/>
          </a:xfrm>
          <a:prstGeom prst="roundRect">
            <a:avLst>
              <a:gd name="adj" fmla="val 6857"/>
            </a:avLst>
          </a:prstGeom>
          <a:solidFill>
            <a:srgbClr val="191A28"/>
          </a:solidFill>
          <a:ln w="12700">
            <a:solidFill>
              <a:srgbClr val="22243A"/>
            </a:solidFill>
            <a:prstDash val="solid"/>
          </a:ln>
          <a:effectLst>
            <a:outerShdw sx="100000" sy="100000" kx="0" ky="0" algn="bl" rotWithShape="0" blurRad="152400" dist="38100" dir="5400000">
              <a:srgbClr val="000000">
                <a:alpha val="35000"/>
              </a:srgbClr>
            </a:outerShdw>
          </a:effectLst>
        </p:spPr>
      </p:sp>
      <p:sp>
        <p:nvSpPr>
          <p:cNvPr id="13" name="Text 10"/>
          <p:cNvSpPr/>
          <p:nvPr/>
        </p:nvSpPr>
        <p:spPr>
          <a:xfrm>
            <a:off x="5486400" y="2423160"/>
            <a:ext cx="2971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b="1" spc="100" kern="0" dirty="0">
                <a:solidFill>
                  <a:srgbClr val="9CA0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TRADITIONAL L1</a:t>
            </a:r>
            <a:endParaRPr lang="en-US" sz="1050" dirty="0"/>
          </a:p>
        </p:txBody>
      </p:sp>
      <p:sp>
        <p:nvSpPr>
          <p:cNvPr id="14" name="Text 11"/>
          <p:cNvSpPr/>
          <p:nvPr/>
        </p:nvSpPr>
        <p:spPr>
          <a:xfrm>
            <a:off x="5486400" y="2697480"/>
            <a:ext cx="29718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9CA0B5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~12s</a:t>
            </a:r>
            <a:endParaRPr lang="en-US" sz="3600" dirty="0"/>
          </a:p>
        </p:txBody>
      </p:sp>
      <p:sp>
        <p:nvSpPr>
          <p:cNvPr id="15" name="Text 12"/>
          <p:cNvSpPr/>
          <p:nvPr/>
        </p:nvSpPr>
        <p:spPr>
          <a:xfrm>
            <a:off x="5486400" y="3456432"/>
            <a:ext cx="2971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B70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 final settlement</a:t>
            </a:r>
            <a:endParaRPr lang="en-US" sz="1000" dirty="0"/>
          </a:p>
        </p:txBody>
      </p:sp>
      <p:sp>
        <p:nvSpPr>
          <p:cNvPr id="16" name="Shape 13"/>
          <p:cNvSpPr/>
          <p:nvPr/>
        </p:nvSpPr>
        <p:spPr>
          <a:xfrm>
            <a:off x="8686800" y="2240280"/>
            <a:ext cx="2971800" cy="1600200"/>
          </a:xfrm>
          <a:prstGeom prst="roundRect">
            <a:avLst>
              <a:gd name="adj" fmla="val 6857"/>
            </a:avLst>
          </a:prstGeom>
          <a:solidFill>
            <a:srgbClr val="121A2C"/>
          </a:solidFill>
          <a:ln w="12700">
            <a:solidFill>
              <a:srgbClr val="2775CA"/>
            </a:solidFill>
            <a:prstDash val="solid"/>
          </a:ln>
          <a:effectLst>
            <a:outerShdw sx="100000" sy="100000" kx="0" ky="0" algn="bl" rotWithShape="0" blurRad="152400" dist="38100" dir="5400000">
              <a:srgbClr val="000000">
                <a:alpha val="35000"/>
              </a:srgbClr>
            </a:outerShdw>
          </a:effectLst>
        </p:spPr>
      </p:sp>
      <p:sp>
        <p:nvSpPr>
          <p:cNvPr id="17" name="Text 14"/>
          <p:cNvSpPr/>
          <p:nvPr/>
        </p:nvSpPr>
        <p:spPr>
          <a:xfrm>
            <a:off x="8686800" y="2423160"/>
            <a:ext cx="2971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b="1" spc="100" kern="0" dirty="0">
                <a:solidFill>
                  <a:srgbClr val="3B82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ARC</a:t>
            </a:r>
            <a:endParaRPr lang="en-US" sz="1050" dirty="0"/>
          </a:p>
        </p:txBody>
      </p:sp>
      <p:sp>
        <p:nvSpPr>
          <p:cNvPr id="18" name="Text 15"/>
          <p:cNvSpPr/>
          <p:nvPr/>
        </p:nvSpPr>
        <p:spPr>
          <a:xfrm>
            <a:off x="8686800" y="2697480"/>
            <a:ext cx="29718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10B981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&lt; 0.5s</a:t>
            </a:r>
            <a:endParaRPr lang="en-US" sz="3600" dirty="0"/>
          </a:p>
        </p:txBody>
      </p:sp>
      <p:sp>
        <p:nvSpPr>
          <p:cNvPr id="19" name="Text 16"/>
          <p:cNvSpPr/>
          <p:nvPr/>
        </p:nvSpPr>
        <p:spPr>
          <a:xfrm>
            <a:off x="8686800" y="3456432"/>
            <a:ext cx="2971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B70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 final settlement</a:t>
            </a:r>
            <a:endParaRPr lang="en-US" sz="1000" dirty="0"/>
          </a:p>
        </p:txBody>
      </p:sp>
      <p:sp>
        <p:nvSpPr>
          <p:cNvPr id="20" name="Shape 17"/>
          <p:cNvSpPr/>
          <p:nvPr/>
        </p:nvSpPr>
        <p:spPr>
          <a:xfrm>
            <a:off x="5486400" y="4160520"/>
            <a:ext cx="457200" cy="457200"/>
          </a:xfrm>
          <a:prstGeom prst="ellipse">
            <a:avLst/>
          </a:prstGeom>
          <a:solidFill>
            <a:srgbClr val="1D1E30"/>
          </a:solidFill>
          <a:ln w="12700">
            <a:solidFill>
              <a:srgbClr val="6366F1"/>
            </a:solidFill>
            <a:prstDash val="solid"/>
          </a:ln>
        </p:spPr>
      </p:sp>
      <p:pic>
        <p:nvPicPr>
          <p:cNvPr id="21" name="Image 1" descr="/home/claude/qma_deck/assets/dollar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545836" y="4219956"/>
            <a:ext cx="338328" cy="338328"/>
          </a:xfrm>
          <a:prstGeom prst="rect">
            <a:avLst/>
          </a:prstGeom>
        </p:spPr>
      </p:pic>
      <p:sp>
        <p:nvSpPr>
          <p:cNvPr id="22" name="Text 18"/>
          <p:cNvSpPr/>
          <p:nvPr/>
        </p:nvSpPr>
        <p:spPr>
          <a:xfrm>
            <a:off x="6144768" y="4133088"/>
            <a:ext cx="5513832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USDC as Gas</a:t>
            </a:r>
            <a:endParaRPr lang="en-US" sz="1500" dirty="0"/>
          </a:p>
        </p:txBody>
      </p:sp>
      <p:sp>
        <p:nvSpPr>
          <p:cNvPr id="23" name="Text 19"/>
          <p:cNvSpPr/>
          <p:nvPr/>
        </p:nvSpPr>
        <p:spPr>
          <a:xfrm>
            <a:off x="6144768" y="4416552"/>
            <a:ext cx="5513832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9CA0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need for ETH or MATIC — USDC is the native gas token.</a:t>
            </a:r>
            <a:endParaRPr lang="en-US" sz="1150" dirty="0"/>
          </a:p>
        </p:txBody>
      </p:sp>
      <p:sp>
        <p:nvSpPr>
          <p:cNvPr id="24" name="Shape 20"/>
          <p:cNvSpPr/>
          <p:nvPr/>
        </p:nvSpPr>
        <p:spPr>
          <a:xfrm>
            <a:off x="5486400" y="5257800"/>
            <a:ext cx="457200" cy="457200"/>
          </a:xfrm>
          <a:prstGeom prst="ellipse">
            <a:avLst/>
          </a:prstGeom>
          <a:solidFill>
            <a:srgbClr val="1D1E30"/>
          </a:solidFill>
          <a:ln w="12700">
            <a:solidFill>
              <a:srgbClr val="6366F1"/>
            </a:solidFill>
            <a:prstDash val="solid"/>
          </a:ln>
        </p:spPr>
      </p:sp>
      <p:pic>
        <p:nvPicPr>
          <p:cNvPr id="25" name="Image 2" descr="/home/claude/qma_deck/assets/zap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545836" y="5317236"/>
            <a:ext cx="338328" cy="338328"/>
          </a:xfrm>
          <a:prstGeom prst="rect">
            <a:avLst/>
          </a:prstGeom>
        </p:spPr>
      </p:pic>
      <p:sp>
        <p:nvSpPr>
          <p:cNvPr id="26" name="Text 21"/>
          <p:cNvSpPr/>
          <p:nvPr/>
        </p:nvSpPr>
        <p:spPr>
          <a:xfrm>
            <a:off x="6144768" y="5230368"/>
            <a:ext cx="5513832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Predictable Fees</a:t>
            </a:r>
            <a:endParaRPr lang="en-US" sz="1500" dirty="0"/>
          </a:p>
        </p:txBody>
      </p:sp>
      <p:sp>
        <p:nvSpPr>
          <p:cNvPr id="27" name="Text 22"/>
          <p:cNvSpPr/>
          <p:nvPr/>
        </p:nvSpPr>
        <p:spPr>
          <a:xfrm>
            <a:off x="6144768" y="5513832"/>
            <a:ext cx="5513832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9CA0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Micro-cent transaction fees enable sustainable nanopayments.</a:t>
            </a:r>
            <a:endParaRPr lang="en-US" sz="1150" dirty="0"/>
          </a:p>
        </p:txBody>
      </p:sp>
      <p:sp>
        <p:nvSpPr>
          <p:cNvPr id="28" name="Text 23"/>
          <p:cNvSpPr/>
          <p:nvPr/>
        </p:nvSpPr>
        <p:spPr>
          <a:xfrm>
            <a:off x="457200" y="6473952"/>
            <a:ext cx="1371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spc="200" kern="0" dirty="0">
                <a:solidFill>
                  <a:srgbClr val="6B70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QMA</a:t>
            </a:r>
            <a:endParaRPr lang="en-US" sz="900" dirty="0"/>
          </a:p>
        </p:txBody>
      </p:sp>
      <p:sp>
        <p:nvSpPr>
          <p:cNvPr id="29" name="Text 24"/>
          <p:cNvSpPr/>
          <p:nvPr/>
        </p:nvSpPr>
        <p:spPr>
          <a:xfrm>
            <a:off x="10725912" y="6473952"/>
            <a:ext cx="10058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0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07 / 16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90A1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b="1" spc="300" kern="0" dirty="0">
                <a:solidFill>
                  <a:srgbClr val="8B5C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PAYMENT PROTOCOL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05156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The x402 Payment Protocol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548640" y="1874520"/>
            <a:ext cx="5394960" cy="4069080"/>
          </a:xfrm>
          <a:prstGeom prst="roundRect">
            <a:avLst>
              <a:gd name="adj" fmla="val 2697"/>
            </a:avLst>
          </a:prstGeom>
          <a:solidFill>
            <a:srgbClr val="0C0D14"/>
          </a:solidFill>
          <a:ln w="12700">
            <a:solidFill>
              <a:srgbClr val="1E2030"/>
            </a:solidFill>
            <a:prstDash val="solid"/>
          </a:ln>
          <a:effectLst>
            <a:outerShdw sx="100000" sy="100000" kx="0" ky="0" algn="bl" rotWithShape="0" blurRad="152400" dist="38100" dir="5400000">
              <a:srgbClr val="000000">
                <a:alpha val="35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822960" y="2148840"/>
            <a:ext cx="128016" cy="128016"/>
          </a:xfrm>
          <a:prstGeom prst="ellipse">
            <a:avLst/>
          </a:prstGeom>
          <a:solidFill>
            <a:srgbClr val="F87171"/>
          </a:solidFill>
          <a:ln/>
        </p:spPr>
      </p:sp>
      <p:sp>
        <p:nvSpPr>
          <p:cNvPr id="6" name="Shape 4"/>
          <p:cNvSpPr/>
          <p:nvPr/>
        </p:nvSpPr>
        <p:spPr>
          <a:xfrm>
            <a:off x="1051560" y="2148840"/>
            <a:ext cx="128016" cy="128016"/>
          </a:xfrm>
          <a:prstGeom prst="ellipse">
            <a:avLst/>
          </a:prstGeom>
          <a:solidFill>
            <a:srgbClr val="FBBF24"/>
          </a:solidFill>
          <a:ln/>
        </p:spPr>
      </p:sp>
      <p:sp>
        <p:nvSpPr>
          <p:cNvPr id="7" name="Shape 5"/>
          <p:cNvSpPr/>
          <p:nvPr/>
        </p:nvSpPr>
        <p:spPr>
          <a:xfrm>
            <a:off x="1280160" y="2148840"/>
            <a:ext cx="128016" cy="128016"/>
          </a:xfrm>
          <a:prstGeom prst="ellipse">
            <a:avLst/>
          </a:prstGeom>
          <a:solidFill>
            <a:srgbClr val="10B981"/>
          </a:solidFill>
          <a:ln/>
        </p:spPr>
      </p:sp>
      <p:sp>
        <p:nvSpPr>
          <p:cNvPr id="8" name="Text 6"/>
          <p:cNvSpPr/>
          <p:nvPr/>
        </p:nvSpPr>
        <p:spPr>
          <a:xfrm>
            <a:off x="868680" y="2514600"/>
            <a:ext cx="4754880" cy="31546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35000"/>
              </a:lnSpc>
              <a:buNone/>
            </a:pPr>
            <a:r>
              <a:rPr lang="en-US" sz="1250" dirty="0">
                <a:solidFill>
                  <a:srgbClr val="8B5CF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HTTP/1.1 402 Payment Required</a:t>
            </a:r>
            <a:endParaRPr lang="en-US" sz="1250" dirty="0"/>
          </a:p>
          <a:p>
            <a:pPr indent="0" marL="0">
              <a:lnSpc>
                <a:spcPct val="135000"/>
              </a:lnSpc>
              <a:buNone/>
            </a:pPr>
            <a:r>
              <a:rPr lang="en-US" sz="1250" dirty="0">
                <a:solidFill>
                  <a:srgbClr val="6B708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Content-Type: application/json</a:t>
            </a:r>
            <a:endParaRPr lang="en-US" sz="1250" dirty="0"/>
          </a:p>
          <a:p>
            <a:pPr indent="0" marL="0">
              <a:lnSpc>
                <a:spcPct val="135000"/>
              </a:lnSpc>
              <a:buNone/>
            </a:pPr>
            <a:r>
              <a:rPr lang="en-US" sz="1250" dirty="0">
                <a:solidFill>
                  <a:srgbClr val="6B708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1250" dirty="0"/>
          </a:p>
          <a:p>
            <a:pPr indent="0" marL="0">
              <a:lnSpc>
                <a:spcPct val="135000"/>
              </a:lnSpc>
              <a:buNone/>
            </a:pPr>
            <a:r>
              <a:rPr lang="en-US" sz="125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{</a:t>
            </a:r>
            <a:endParaRPr lang="en-US" sz="1250" dirty="0"/>
          </a:p>
          <a:p>
            <a:pPr indent="0" marL="0">
              <a:lnSpc>
                <a:spcPct val="135000"/>
              </a:lnSpc>
              <a:buNone/>
            </a:pPr>
            <a:r>
              <a:rPr lang="en-US" sz="1250" dirty="0">
                <a:solidFill>
                  <a:srgbClr val="3B82F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"amount": "0.04",</a:t>
            </a:r>
            <a:endParaRPr lang="en-US" sz="1250" dirty="0"/>
          </a:p>
          <a:p>
            <a:pPr indent="0" marL="0">
              <a:lnSpc>
                <a:spcPct val="135000"/>
              </a:lnSpc>
              <a:buNone/>
            </a:pPr>
            <a:r>
              <a:rPr lang="en-US" sz="1250" dirty="0">
                <a:solidFill>
                  <a:srgbClr val="3B82F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"currency": "USDC",</a:t>
            </a:r>
            <a:endParaRPr lang="en-US" sz="1250" dirty="0"/>
          </a:p>
          <a:p>
            <a:pPr indent="0" marL="0">
              <a:lnSpc>
                <a:spcPct val="135000"/>
              </a:lnSpc>
              <a:buNone/>
            </a:pPr>
            <a:r>
              <a:rPr lang="en-US" sz="1250" dirty="0">
                <a:solidFill>
                  <a:srgbClr val="3B82F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"network": "arc",</a:t>
            </a:r>
            <a:endParaRPr lang="en-US" sz="1250" dirty="0"/>
          </a:p>
          <a:p>
            <a:pPr indent="0" marL="0">
              <a:lnSpc>
                <a:spcPct val="135000"/>
              </a:lnSpc>
              <a:buNone/>
            </a:pPr>
            <a:r>
              <a:rPr lang="en-US" sz="1250" dirty="0">
                <a:solidFill>
                  <a:srgbClr val="3B82F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"recipient": "0x9F2...b71",</a:t>
            </a:r>
            <a:endParaRPr lang="en-US" sz="1250" dirty="0"/>
          </a:p>
          <a:p>
            <a:pPr indent="0" marL="0">
              <a:lnSpc>
                <a:spcPct val="135000"/>
              </a:lnSpc>
              <a:buNone/>
            </a:pPr>
            <a:r>
              <a:rPr lang="en-US" sz="1250" dirty="0">
                <a:solidFill>
                  <a:srgbClr val="3B82F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"invoice_id": "qma_8x1c2"</a:t>
            </a:r>
            <a:endParaRPr lang="en-US" sz="1250" dirty="0"/>
          </a:p>
          <a:p>
            <a:pPr indent="0" marL="0">
              <a:lnSpc>
                <a:spcPct val="135000"/>
              </a:lnSpc>
              <a:buNone/>
            </a:pPr>
            <a:r>
              <a:rPr lang="en-US" sz="125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1250" dirty="0"/>
          </a:p>
        </p:txBody>
      </p:sp>
      <p:sp>
        <p:nvSpPr>
          <p:cNvPr id="9" name="Shape 7"/>
          <p:cNvSpPr/>
          <p:nvPr/>
        </p:nvSpPr>
        <p:spPr>
          <a:xfrm>
            <a:off x="6263640" y="1965960"/>
            <a:ext cx="457200" cy="457200"/>
          </a:xfrm>
          <a:prstGeom prst="ellipse">
            <a:avLst/>
          </a:prstGeom>
          <a:solidFill>
            <a:srgbClr val="1D1E30"/>
          </a:solidFill>
          <a:ln w="12700">
            <a:solidFill>
              <a:srgbClr val="8B5CF6"/>
            </a:solidFill>
            <a:prstDash val="solid"/>
          </a:ln>
        </p:spPr>
      </p:sp>
      <p:pic>
        <p:nvPicPr>
          <p:cNvPr id="10" name="Image 0" descr="/home/claude/qma_deck/assets/shiel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323076" y="2025396"/>
            <a:ext cx="338328" cy="338328"/>
          </a:xfrm>
          <a:prstGeom prst="rect">
            <a:avLst/>
          </a:prstGeom>
        </p:spPr>
      </p:pic>
      <p:sp>
        <p:nvSpPr>
          <p:cNvPr id="11" name="Text 8"/>
          <p:cNvSpPr/>
          <p:nvPr/>
        </p:nvSpPr>
        <p:spPr>
          <a:xfrm>
            <a:off x="6922008" y="1938528"/>
            <a:ext cx="4690872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Intercept</a:t>
            </a:r>
            <a:endParaRPr lang="en-US" sz="1500" dirty="0"/>
          </a:p>
        </p:txBody>
      </p:sp>
      <p:sp>
        <p:nvSpPr>
          <p:cNvPr id="12" name="Text 9"/>
          <p:cNvSpPr/>
          <p:nvPr/>
        </p:nvSpPr>
        <p:spPr>
          <a:xfrm>
            <a:off x="6922008" y="2221992"/>
            <a:ext cx="4690872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9CA0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 backend middleware intercepts restricted API endpoints.</a:t>
            </a:r>
            <a:endParaRPr lang="en-US" sz="1200" dirty="0"/>
          </a:p>
        </p:txBody>
      </p:sp>
      <p:sp>
        <p:nvSpPr>
          <p:cNvPr id="13" name="Shape 10"/>
          <p:cNvSpPr/>
          <p:nvPr/>
        </p:nvSpPr>
        <p:spPr>
          <a:xfrm>
            <a:off x="6263640" y="3246120"/>
            <a:ext cx="457200" cy="457200"/>
          </a:xfrm>
          <a:prstGeom prst="ellipse">
            <a:avLst/>
          </a:prstGeom>
          <a:solidFill>
            <a:srgbClr val="1D1E30"/>
          </a:solidFill>
          <a:ln w="12700">
            <a:solidFill>
              <a:srgbClr val="8B5CF6"/>
            </a:solidFill>
            <a:prstDash val="solid"/>
          </a:ln>
        </p:spPr>
      </p:sp>
      <p:pic>
        <p:nvPicPr>
          <p:cNvPr id="14" name="Image 1" descr="/home/claude/qma_deck/assets/file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323076" y="3305556"/>
            <a:ext cx="338328" cy="338328"/>
          </a:xfrm>
          <a:prstGeom prst="rect">
            <a:avLst/>
          </a:prstGeom>
        </p:spPr>
      </p:pic>
      <p:sp>
        <p:nvSpPr>
          <p:cNvPr id="15" name="Text 11"/>
          <p:cNvSpPr/>
          <p:nvPr/>
        </p:nvSpPr>
        <p:spPr>
          <a:xfrm>
            <a:off x="6922008" y="3218688"/>
            <a:ext cx="4690872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Invoice</a:t>
            </a:r>
            <a:endParaRPr lang="en-US" sz="1500" dirty="0"/>
          </a:p>
        </p:txBody>
      </p:sp>
      <p:sp>
        <p:nvSpPr>
          <p:cNvPr id="16" name="Text 12"/>
          <p:cNvSpPr/>
          <p:nvPr/>
        </p:nvSpPr>
        <p:spPr>
          <a:xfrm>
            <a:off x="6922008" y="3502152"/>
            <a:ext cx="4690872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9CA0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Returns a signed invoice payload when payment is missing.</a:t>
            </a:r>
            <a:endParaRPr lang="en-US" sz="1200" dirty="0"/>
          </a:p>
        </p:txBody>
      </p:sp>
      <p:sp>
        <p:nvSpPr>
          <p:cNvPr id="17" name="Shape 13"/>
          <p:cNvSpPr/>
          <p:nvPr/>
        </p:nvSpPr>
        <p:spPr>
          <a:xfrm>
            <a:off x="6263640" y="4526280"/>
            <a:ext cx="457200" cy="457200"/>
          </a:xfrm>
          <a:prstGeom prst="ellipse">
            <a:avLst/>
          </a:prstGeom>
          <a:solidFill>
            <a:srgbClr val="1D1E30"/>
          </a:solidFill>
          <a:ln w="12700">
            <a:solidFill>
              <a:srgbClr val="8B5CF6"/>
            </a:solidFill>
            <a:prstDash val="solid"/>
          </a:ln>
        </p:spPr>
      </p:sp>
      <p:pic>
        <p:nvPicPr>
          <p:cNvPr id="18" name="Image 2" descr="/home/claude/qma_deck/assets/refresh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23076" y="4585716"/>
            <a:ext cx="338328" cy="338328"/>
          </a:xfrm>
          <a:prstGeom prst="rect">
            <a:avLst/>
          </a:prstGeom>
        </p:spPr>
      </p:pic>
      <p:sp>
        <p:nvSpPr>
          <p:cNvPr id="19" name="Text 14"/>
          <p:cNvSpPr/>
          <p:nvPr/>
        </p:nvSpPr>
        <p:spPr>
          <a:xfrm>
            <a:off x="6922008" y="4498848"/>
            <a:ext cx="4690872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Retry &amp; Settle</a:t>
            </a:r>
            <a:endParaRPr lang="en-US" sz="1500" dirty="0"/>
          </a:p>
        </p:txBody>
      </p:sp>
      <p:sp>
        <p:nvSpPr>
          <p:cNvPr id="20" name="Text 15"/>
          <p:cNvSpPr/>
          <p:nvPr/>
        </p:nvSpPr>
        <p:spPr>
          <a:xfrm>
            <a:off x="6922008" y="4782312"/>
            <a:ext cx="4690872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9CA0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Client signs the payment intent and retries the call with the settled token.</a:t>
            </a:r>
            <a:endParaRPr lang="en-US" sz="1200" dirty="0"/>
          </a:p>
        </p:txBody>
      </p:sp>
      <p:sp>
        <p:nvSpPr>
          <p:cNvPr id="21" name="Text 16"/>
          <p:cNvSpPr/>
          <p:nvPr/>
        </p:nvSpPr>
        <p:spPr>
          <a:xfrm>
            <a:off x="457200" y="6473952"/>
            <a:ext cx="1371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spc="200" kern="0" dirty="0">
                <a:solidFill>
                  <a:srgbClr val="6B70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QMA</a:t>
            </a:r>
            <a:endParaRPr lang="en-US" sz="900" dirty="0"/>
          </a:p>
        </p:txBody>
      </p:sp>
      <p:sp>
        <p:nvSpPr>
          <p:cNvPr id="22" name="Text 17"/>
          <p:cNvSpPr/>
          <p:nvPr/>
        </p:nvSpPr>
        <p:spPr>
          <a:xfrm>
            <a:off x="10725912" y="6473952"/>
            <a:ext cx="10058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0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08 / 16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90A1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b="1" spc="300" kern="0" dirty="0">
                <a:solidFill>
                  <a:srgbClr val="8B5C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PRODUCT EXPERIENCE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05156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Unified Deposit / Withdraw Flow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548640" y="1783080"/>
            <a:ext cx="5212080" cy="4206240"/>
          </a:xfrm>
          <a:prstGeom prst="roundRect">
            <a:avLst>
              <a:gd name="adj" fmla="val 2609"/>
            </a:avLst>
          </a:prstGeom>
          <a:solidFill>
            <a:srgbClr val="14151F"/>
          </a:solidFill>
          <a:ln w="12700">
            <a:solidFill>
              <a:srgbClr val="22243A"/>
            </a:solidFill>
            <a:prstDash val="solid"/>
          </a:ln>
          <a:effectLst>
            <a:outerShdw sx="100000" sy="100000" kx="0" ky="0" algn="bl" rotWithShape="0" blurRad="152400" dist="38100" dir="5400000">
              <a:srgbClr val="000000">
                <a:alpha val="35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868680" y="2057400"/>
            <a:ext cx="4572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Add / Withdraw Funds</a:t>
            </a:r>
            <a:endParaRPr lang="en-US" sz="1500" dirty="0"/>
          </a:p>
        </p:txBody>
      </p:sp>
      <p:sp>
        <p:nvSpPr>
          <p:cNvPr id="6" name="Shape 4"/>
          <p:cNvSpPr/>
          <p:nvPr/>
        </p:nvSpPr>
        <p:spPr>
          <a:xfrm>
            <a:off x="868680" y="2514600"/>
            <a:ext cx="2240280" cy="457200"/>
          </a:xfrm>
          <a:prstGeom prst="roundRect">
            <a:avLst>
              <a:gd name="adj" fmla="val 16000"/>
            </a:avLst>
          </a:prstGeom>
          <a:solidFill>
            <a:srgbClr val="6366F1"/>
          </a:solidFill>
          <a:ln/>
        </p:spPr>
      </p:sp>
      <p:sp>
        <p:nvSpPr>
          <p:cNvPr id="7" name="Text 5"/>
          <p:cNvSpPr/>
          <p:nvPr/>
        </p:nvSpPr>
        <p:spPr>
          <a:xfrm>
            <a:off x="868680" y="2514600"/>
            <a:ext cx="22402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Deposit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3182112" y="2514600"/>
            <a:ext cx="2240280" cy="457200"/>
          </a:xfrm>
          <a:prstGeom prst="roundRect">
            <a:avLst>
              <a:gd name="adj" fmla="val 16000"/>
            </a:avLst>
          </a:prstGeom>
          <a:solidFill>
            <a:srgbClr val="191A28"/>
          </a:solidFill>
          <a:ln w="12700">
            <a:solidFill>
              <a:srgbClr val="262842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3182112" y="2514600"/>
            <a:ext cx="22402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9CA0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Withdraw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868680" y="3200400"/>
            <a:ext cx="1074420" cy="502920"/>
          </a:xfrm>
          <a:prstGeom prst="roundRect">
            <a:avLst>
              <a:gd name="adj" fmla="val 14545"/>
            </a:avLst>
          </a:prstGeom>
          <a:solidFill>
            <a:srgbClr val="191A28"/>
          </a:solidFill>
          <a:ln w="12700">
            <a:solidFill>
              <a:srgbClr val="262842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868680" y="3200400"/>
            <a:ext cx="10744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$10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2034540" y="3200400"/>
            <a:ext cx="1074420" cy="502920"/>
          </a:xfrm>
          <a:prstGeom prst="roundRect">
            <a:avLst>
              <a:gd name="adj" fmla="val 14545"/>
            </a:avLst>
          </a:prstGeom>
          <a:solidFill>
            <a:srgbClr val="191A28"/>
          </a:solidFill>
          <a:ln w="12700">
            <a:solidFill>
              <a:srgbClr val="262842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2034540" y="3200400"/>
            <a:ext cx="10744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$25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3200400" y="3200400"/>
            <a:ext cx="1074420" cy="502920"/>
          </a:xfrm>
          <a:prstGeom prst="roundRect">
            <a:avLst>
              <a:gd name="adj" fmla="val 14545"/>
            </a:avLst>
          </a:prstGeom>
          <a:solidFill>
            <a:srgbClr val="191A28"/>
          </a:solidFill>
          <a:ln w="12700">
            <a:solidFill>
              <a:srgbClr val="262842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200400" y="3200400"/>
            <a:ext cx="10744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$50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4366260" y="3200400"/>
            <a:ext cx="1074420" cy="502920"/>
          </a:xfrm>
          <a:prstGeom prst="roundRect">
            <a:avLst>
              <a:gd name="adj" fmla="val 14545"/>
            </a:avLst>
          </a:prstGeom>
          <a:solidFill>
            <a:srgbClr val="191A28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4366260" y="3200400"/>
            <a:ext cx="10744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Max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868680" y="3931920"/>
            <a:ext cx="4572000" cy="548640"/>
          </a:xfrm>
          <a:prstGeom prst="roundRect">
            <a:avLst>
              <a:gd name="adj" fmla="val 16667"/>
            </a:avLst>
          </a:prstGeom>
          <a:solidFill>
            <a:srgbClr val="0F1019"/>
          </a:solidFill>
          <a:ln w="12700">
            <a:solidFill>
              <a:srgbClr val="262842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1051560" y="3931920"/>
            <a:ext cx="42062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9CA0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Balance: 128.40 USDC available</a:t>
            </a:r>
            <a:endParaRPr lang="en-US" sz="1150" dirty="0"/>
          </a:p>
        </p:txBody>
      </p:sp>
      <p:sp>
        <p:nvSpPr>
          <p:cNvPr id="20" name="Shape 18"/>
          <p:cNvSpPr/>
          <p:nvPr/>
        </p:nvSpPr>
        <p:spPr>
          <a:xfrm>
            <a:off x="868680" y="4709160"/>
            <a:ext cx="4572000" cy="548640"/>
          </a:xfrm>
          <a:prstGeom prst="roundRect">
            <a:avLst>
              <a:gd name="adj" fmla="val 50000"/>
            </a:avLst>
          </a:prstGeom>
          <a:solidFill>
            <a:srgbClr val="10B981"/>
          </a:solidFill>
          <a:ln/>
        </p:spPr>
      </p:sp>
      <p:sp>
        <p:nvSpPr>
          <p:cNvPr id="21" name="Text 19"/>
          <p:cNvSpPr/>
          <p:nvPr/>
        </p:nvSpPr>
        <p:spPr>
          <a:xfrm>
            <a:off x="868680" y="4709160"/>
            <a:ext cx="45720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7110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Confirm &amp; Sign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868680" y="5422392"/>
            <a:ext cx="4572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6B70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Non-custodial · MetaMask signature required</a:t>
            </a:r>
            <a:endParaRPr lang="en-US" sz="1050" dirty="0"/>
          </a:p>
        </p:txBody>
      </p:sp>
      <p:sp>
        <p:nvSpPr>
          <p:cNvPr id="23" name="Shape 21"/>
          <p:cNvSpPr/>
          <p:nvPr/>
        </p:nvSpPr>
        <p:spPr>
          <a:xfrm>
            <a:off x="6263640" y="1965960"/>
            <a:ext cx="457200" cy="457200"/>
          </a:xfrm>
          <a:prstGeom prst="ellipse">
            <a:avLst/>
          </a:prstGeom>
          <a:solidFill>
            <a:srgbClr val="1D1E30"/>
          </a:solidFill>
          <a:ln w="12700">
            <a:solidFill>
              <a:srgbClr val="10B981"/>
            </a:solidFill>
            <a:prstDash val="solid"/>
          </a:ln>
        </p:spPr>
      </p:sp>
      <p:pic>
        <p:nvPicPr>
          <p:cNvPr id="24" name="Image 0" descr="/home/claude/qma_deck/assets/layers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323076" y="2025396"/>
            <a:ext cx="338328" cy="338328"/>
          </a:xfrm>
          <a:prstGeom prst="rect">
            <a:avLst/>
          </a:prstGeom>
        </p:spPr>
      </p:pic>
      <p:sp>
        <p:nvSpPr>
          <p:cNvPr id="25" name="Text 22"/>
          <p:cNvSpPr/>
          <p:nvPr/>
        </p:nvSpPr>
        <p:spPr>
          <a:xfrm>
            <a:off x="6922008" y="1938528"/>
            <a:ext cx="4690872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Single Modal</a:t>
            </a:r>
            <a:endParaRPr lang="en-US" sz="1500" dirty="0"/>
          </a:p>
        </p:txBody>
      </p:sp>
      <p:sp>
        <p:nvSpPr>
          <p:cNvPr id="26" name="Text 23"/>
          <p:cNvSpPr/>
          <p:nvPr/>
        </p:nvSpPr>
        <p:spPr>
          <a:xfrm>
            <a:off x="6922008" y="2221992"/>
            <a:ext cx="4690872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9CA0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Deposit into your Circle Gateway pre-funded balance or your Agent Smart Wallet.</a:t>
            </a:r>
            <a:endParaRPr lang="en-US" sz="1200" dirty="0"/>
          </a:p>
        </p:txBody>
      </p:sp>
      <p:sp>
        <p:nvSpPr>
          <p:cNvPr id="27" name="Shape 24"/>
          <p:cNvSpPr/>
          <p:nvPr/>
        </p:nvSpPr>
        <p:spPr>
          <a:xfrm>
            <a:off x="6263640" y="3246120"/>
            <a:ext cx="457200" cy="457200"/>
          </a:xfrm>
          <a:prstGeom prst="ellipse">
            <a:avLst/>
          </a:prstGeom>
          <a:solidFill>
            <a:srgbClr val="1D1E30"/>
          </a:solidFill>
          <a:ln w="12700">
            <a:solidFill>
              <a:srgbClr val="10B981"/>
            </a:solidFill>
            <a:prstDash val="solid"/>
          </a:ln>
        </p:spPr>
      </p:sp>
      <p:pic>
        <p:nvPicPr>
          <p:cNvPr id="28" name="Image 1" descr="/home/claude/qma_deck/assets/zap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323076" y="3305556"/>
            <a:ext cx="338328" cy="338328"/>
          </a:xfrm>
          <a:prstGeom prst="rect">
            <a:avLst/>
          </a:prstGeom>
        </p:spPr>
      </p:pic>
      <p:sp>
        <p:nvSpPr>
          <p:cNvPr id="29" name="Text 25"/>
          <p:cNvSpPr/>
          <p:nvPr/>
        </p:nvSpPr>
        <p:spPr>
          <a:xfrm>
            <a:off x="6922008" y="3218688"/>
            <a:ext cx="4690872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Smart Presets</a:t>
            </a:r>
            <a:endParaRPr lang="en-US" sz="1500" dirty="0"/>
          </a:p>
        </p:txBody>
      </p:sp>
      <p:sp>
        <p:nvSpPr>
          <p:cNvPr id="30" name="Text 26"/>
          <p:cNvSpPr/>
          <p:nvPr/>
        </p:nvSpPr>
        <p:spPr>
          <a:xfrm>
            <a:off x="6922008" y="3502152"/>
            <a:ext cx="4690872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9CA0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Preset amounts ($10, $25, $50) plus a Max automatic balance parser.</a:t>
            </a:r>
            <a:endParaRPr lang="en-US" sz="1200" dirty="0"/>
          </a:p>
        </p:txBody>
      </p:sp>
      <p:sp>
        <p:nvSpPr>
          <p:cNvPr id="31" name="Shape 27"/>
          <p:cNvSpPr/>
          <p:nvPr/>
        </p:nvSpPr>
        <p:spPr>
          <a:xfrm>
            <a:off x="6263640" y="4526280"/>
            <a:ext cx="457200" cy="457200"/>
          </a:xfrm>
          <a:prstGeom prst="ellipse">
            <a:avLst/>
          </a:prstGeom>
          <a:solidFill>
            <a:srgbClr val="1D1E30"/>
          </a:solidFill>
          <a:ln w="12700">
            <a:solidFill>
              <a:srgbClr val="10B981"/>
            </a:solidFill>
            <a:prstDash val="solid"/>
          </a:ln>
        </p:spPr>
      </p:sp>
      <p:pic>
        <p:nvPicPr>
          <p:cNvPr id="32" name="Image 2" descr="/home/claude/qma_deck/assets/shiel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23076" y="4585716"/>
            <a:ext cx="338328" cy="338328"/>
          </a:xfrm>
          <a:prstGeom prst="rect">
            <a:avLst/>
          </a:prstGeom>
        </p:spPr>
      </p:pic>
      <p:sp>
        <p:nvSpPr>
          <p:cNvPr id="33" name="Text 28"/>
          <p:cNvSpPr/>
          <p:nvPr/>
        </p:nvSpPr>
        <p:spPr>
          <a:xfrm>
            <a:off x="6922008" y="4498848"/>
            <a:ext cx="4690872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Safe Custody</a:t>
            </a:r>
            <a:endParaRPr lang="en-US" sz="1500" dirty="0"/>
          </a:p>
        </p:txBody>
      </p:sp>
      <p:sp>
        <p:nvSpPr>
          <p:cNvPr id="34" name="Text 29"/>
          <p:cNvSpPr/>
          <p:nvPr/>
        </p:nvSpPr>
        <p:spPr>
          <a:xfrm>
            <a:off x="6922008" y="4782312"/>
            <a:ext cx="4690872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9CA0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Fully non-custodial via MetaMask, with direct on-chain refund options.</a:t>
            </a:r>
            <a:endParaRPr lang="en-US" sz="1200" dirty="0"/>
          </a:p>
        </p:txBody>
      </p:sp>
      <p:sp>
        <p:nvSpPr>
          <p:cNvPr id="35" name="Text 30"/>
          <p:cNvSpPr/>
          <p:nvPr/>
        </p:nvSpPr>
        <p:spPr>
          <a:xfrm>
            <a:off x="457200" y="6473952"/>
            <a:ext cx="1371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spc="200" kern="0" dirty="0">
                <a:solidFill>
                  <a:srgbClr val="6B70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QMA</a:t>
            </a:r>
            <a:endParaRPr lang="en-US" sz="900" dirty="0"/>
          </a:p>
        </p:txBody>
      </p:sp>
      <p:sp>
        <p:nvSpPr>
          <p:cNvPr id="36" name="Text 31"/>
          <p:cNvSpPr/>
          <p:nvPr/>
        </p:nvSpPr>
        <p:spPr>
          <a:xfrm>
            <a:off x="10725912" y="6473952"/>
            <a:ext cx="10058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0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09 / 16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90A1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b="1" spc="300" kern="0" dirty="0">
                <a:solidFill>
                  <a:srgbClr val="8B5C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PAYMENT LIFECYCLE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05156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Payment State Machine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777240" y="2377440"/>
            <a:ext cx="2148840" cy="822960"/>
          </a:xfrm>
          <a:prstGeom prst="roundRect">
            <a:avLst>
              <a:gd name="adj" fmla="val 50000"/>
            </a:avLst>
          </a:prstGeom>
          <a:solidFill>
            <a:srgbClr val="14151F"/>
          </a:solidFill>
          <a:ln w="19050">
            <a:solidFill>
              <a:srgbClr val="6B7085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77240" y="2377440"/>
            <a:ext cx="21488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6B7085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Created</a:t>
            </a:r>
            <a:endParaRPr lang="en-US" sz="1500" dirty="0"/>
          </a:p>
        </p:txBody>
      </p:sp>
      <p:pic>
        <p:nvPicPr>
          <p:cNvPr id="6" name="Image 0" descr="/home/claude/qma_deck/assets/arrowright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999232" y="2651760"/>
            <a:ext cx="365760" cy="274320"/>
          </a:xfrm>
          <a:prstGeom prst="rect">
            <a:avLst/>
          </a:prstGeom>
        </p:spPr>
      </p:pic>
      <p:sp>
        <p:nvSpPr>
          <p:cNvPr id="7" name="Shape 4"/>
          <p:cNvSpPr/>
          <p:nvPr/>
        </p:nvSpPr>
        <p:spPr>
          <a:xfrm>
            <a:off x="3429000" y="2377440"/>
            <a:ext cx="2148840" cy="822960"/>
          </a:xfrm>
          <a:prstGeom prst="roundRect">
            <a:avLst>
              <a:gd name="adj" fmla="val 50000"/>
            </a:avLst>
          </a:prstGeom>
          <a:solidFill>
            <a:srgbClr val="14151F"/>
          </a:solidFill>
          <a:ln w="19050">
            <a:solidFill>
              <a:srgbClr val="2775CA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3429000" y="2377440"/>
            <a:ext cx="21488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2775C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Paid</a:t>
            </a:r>
            <a:endParaRPr lang="en-US" sz="1500" dirty="0"/>
          </a:p>
        </p:txBody>
      </p:sp>
      <p:pic>
        <p:nvPicPr>
          <p:cNvPr id="9" name="Image 1" descr="/home/claude/qma_deck/assets/arrowright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650992" y="2651760"/>
            <a:ext cx="365760" cy="274320"/>
          </a:xfrm>
          <a:prstGeom prst="rect">
            <a:avLst/>
          </a:prstGeom>
        </p:spPr>
      </p:pic>
      <p:sp>
        <p:nvSpPr>
          <p:cNvPr id="10" name="Shape 6"/>
          <p:cNvSpPr/>
          <p:nvPr/>
        </p:nvSpPr>
        <p:spPr>
          <a:xfrm>
            <a:off x="6080760" y="2377440"/>
            <a:ext cx="2148840" cy="822960"/>
          </a:xfrm>
          <a:prstGeom prst="roundRect">
            <a:avLst>
              <a:gd name="adj" fmla="val 50000"/>
            </a:avLst>
          </a:prstGeom>
          <a:solidFill>
            <a:srgbClr val="14151F"/>
          </a:solidFill>
          <a:ln w="19050">
            <a:solidFill>
              <a:srgbClr val="6366F1"/>
            </a:solidFill>
            <a:prstDash val="solid"/>
          </a:ln>
        </p:spPr>
      </p:sp>
      <p:sp>
        <p:nvSpPr>
          <p:cNvPr id="11" name="Text 7"/>
          <p:cNvSpPr/>
          <p:nvPr/>
        </p:nvSpPr>
        <p:spPr>
          <a:xfrm>
            <a:off x="6080760" y="2377440"/>
            <a:ext cx="21488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6366F1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Settling</a:t>
            </a:r>
            <a:endParaRPr lang="en-US" sz="1500" dirty="0"/>
          </a:p>
        </p:txBody>
      </p:sp>
      <p:pic>
        <p:nvPicPr>
          <p:cNvPr id="12" name="Image 2" descr="/home/claude/qma_deck/assets/arrowright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302752" y="2651760"/>
            <a:ext cx="365760" cy="274320"/>
          </a:xfrm>
          <a:prstGeom prst="rect">
            <a:avLst/>
          </a:prstGeom>
        </p:spPr>
      </p:pic>
      <p:sp>
        <p:nvSpPr>
          <p:cNvPr id="13" name="Shape 8"/>
          <p:cNvSpPr/>
          <p:nvPr/>
        </p:nvSpPr>
        <p:spPr>
          <a:xfrm>
            <a:off x="8732520" y="2377440"/>
            <a:ext cx="2148840" cy="822960"/>
          </a:xfrm>
          <a:prstGeom prst="roundRect">
            <a:avLst>
              <a:gd name="adj" fmla="val 50000"/>
            </a:avLst>
          </a:prstGeom>
          <a:solidFill>
            <a:srgbClr val="14151F"/>
          </a:solidFill>
          <a:ln w="19050">
            <a:solidFill>
              <a:srgbClr val="10B981"/>
            </a:solidFill>
            <a:prstDash val="solid"/>
          </a:ln>
        </p:spPr>
      </p:sp>
      <p:sp>
        <p:nvSpPr>
          <p:cNvPr id="14" name="Text 9"/>
          <p:cNvSpPr/>
          <p:nvPr/>
        </p:nvSpPr>
        <p:spPr>
          <a:xfrm>
            <a:off x="8732520" y="2377440"/>
            <a:ext cx="21488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0B981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Settled</a:t>
            </a:r>
            <a:endParaRPr lang="en-US" sz="1500" dirty="0"/>
          </a:p>
        </p:txBody>
      </p:sp>
      <p:pic>
        <p:nvPicPr>
          <p:cNvPr id="15" name="Image 3" descr="/home/claude/qma_deck/assets/arrowright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 rot="5400000">
            <a:off x="4366260" y="3291840"/>
            <a:ext cx="274320" cy="219456"/>
          </a:xfrm>
          <a:prstGeom prst="rect">
            <a:avLst/>
          </a:prstGeom>
        </p:spPr>
      </p:pic>
      <p:sp>
        <p:nvSpPr>
          <p:cNvPr id="16" name="Shape 10"/>
          <p:cNvSpPr/>
          <p:nvPr/>
        </p:nvSpPr>
        <p:spPr>
          <a:xfrm>
            <a:off x="1234440" y="3794760"/>
            <a:ext cx="2148840" cy="594360"/>
          </a:xfrm>
          <a:prstGeom prst="roundRect">
            <a:avLst>
              <a:gd name="adj" fmla="val 50769"/>
            </a:avLst>
          </a:prstGeom>
          <a:solidFill>
            <a:srgbClr val="1B1418"/>
          </a:solidFill>
          <a:ln w="12700">
            <a:solidFill>
              <a:srgbClr val="F87171"/>
            </a:solidFill>
            <a:prstDash val="dash"/>
          </a:ln>
        </p:spPr>
      </p:sp>
      <p:sp>
        <p:nvSpPr>
          <p:cNvPr id="17" name="Text 11"/>
          <p:cNvSpPr/>
          <p:nvPr/>
        </p:nvSpPr>
        <p:spPr>
          <a:xfrm>
            <a:off x="1234440" y="3794760"/>
            <a:ext cx="214884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F871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Refunded</a:t>
            </a:r>
            <a:endParaRPr lang="en-US" sz="1250" dirty="0"/>
          </a:p>
        </p:txBody>
      </p:sp>
      <p:sp>
        <p:nvSpPr>
          <p:cNvPr id="18" name="Shape 12"/>
          <p:cNvSpPr/>
          <p:nvPr/>
        </p:nvSpPr>
        <p:spPr>
          <a:xfrm>
            <a:off x="3840480" y="3794760"/>
            <a:ext cx="2148840" cy="594360"/>
          </a:xfrm>
          <a:prstGeom prst="roundRect">
            <a:avLst>
              <a:gd name="adj" fmla="val 50769"/>
            </a:avLst>
          </a:prstGeom>
          <a:solidFill>
            <a:srgbClr val="1B1418"/>
          </a:solidFill>
          <a:ln w="12700">
            <a:solidFill>
              <a:srgbClr val="F87171"/>
            </a:solidFill>
            <a:prstDash val="dash"/>
          </a:ln>
        </p:spPr>
      </p:sp>
      <p:sp>
        <p:nvSpPr>
          <p:cNvPr id="19" name="Text 13"/>
          <p:cNvSpPr/>
          <p:nvPr/>
        </p:nvSpPr>
        <p:spPr>
          <a:xfrm>
            <a:off x="3840480" y="3794760"/>
            <a:ext cx="214884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F871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Cancelled</a:t>
            </a:r>
            <a:endParaRPr lang="en-US" sz="1250" dirty="0"/>
          </a:p>
        </p:txBody>
      </p:sp>
      <p:sp>
        <p:nvSpPr>
          <p:cNvPr id="20" name="Shape 14"/>
          <p:cNvSpPr/>
          <p:nvPr/>
        </p:nvSpPr>
        <p:spPr>
          <a:xfrm>
            <a:off x="548640" y="4709160"/>
            <a:ext cx="11091672" cy="1371600"/>
          </a:xfrm>
          <a:prstGeom prst="roundRect">
            <a:avLst>
              <a:gd name="adj" fmla="val 8000"/>
            </a:avLst>
          </a:prstGeom>
          <a:solidFill>
            <a:srgbClr val="14151F"/>
          </a:solidFill>
          <a:ln w="12700">
            <a:solidFill>
              <a:srgbClr val="22243A"/>
            </a:solidFill>
            <a:prstDash val="solid"/>
          </a:ln>
          <a:effectLst>
            <a:outerShdw sx="100000" sy="100000" kx="0" ky="0" algn="bl" rotWithShape="0" blurRad="152400" dist="38100" dir="5400000">
              <a:srgbClr val="000000">
                <a:alpha val="35000"/>
              </a:srgbClr>
            </a:outerShdw>
          </a:effectLst>
        </p:spPr>
      </p:sp>
      <p:sp>
        <p:nvSpPr>
          <p:cNvPr id="21" name="Shape 15"/>
          <p:cNvSpPr/>
          <p:nvPr/>
        </p:nvSpPr>
        <p:spPr>
          <a:xfrm>
            <a:off x="914400" y="5074920"/>
            <a:ext cx="640080" cy="640080"/>
          </a:xfrm>
          <a:prstGeom prst="ellipse">
            <a:avLst/>
          </a:prstGeom>
          <a:solidFill>
            <a:srgbClr val="1D1E30"/>
          </a:solidFill>
          <a:ln w="12700">
            <a:solidFill>
              <a:srgbClr val="10B981"/>
            </a:solidFill>
            <a:prstDash val="solid"/>
          </a:ln>
        </p:spPr>
      </p:sp>
      <p:pic>
        <p:nvPicPr>
          <p:cNvPr id="22" name="Image 4" descr="/home/claude/qma_deck/assets/shiel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97610" y="5158130"/>
            <a:ext cx="473659" cy="473659"/>
          </a:xfrm>
          <a:prstGeom prst="rect">
            <a:avLst/>
          </a:prstGeom>
        </p:spPr>
      </p:pic>
      <p:sp>
        <p:nvSpPr>
          <p:cNvPr id="23" name="Text 16"/>
          <p:cNvSpPr/>
          <p:nvPr/>
        </p:nvSpPr>
        <p:spPr>
          <a:xfrm>
            <a:off x="1783080" y="493776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Idempotency &amp; Lifecycle Security</a:t>
            </a:r>
            <a:endParaRPr lang="en-US" sz="1450" dirty="0"/>
          </a:p>
        </p:txBody>
      </p:sp>
      <p:sp>
        <p:nvSpPr>
          <p:cNvPr id="24" name="Text 17"/>
          <p:cNvSpPr/>
          <p:nvPr/>
        </p:nvSpPr>
        <p:spPr>
          <a:xfrm>
            <a:off x="1783080" y="5285232"/>
            <a:ext cx="9079992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250" dirty="0">
                <a:solidFill>
                  <a:srgbClr val="9CA0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 immutable state machine supports Refunded and Cancelled states and enforces secure double-spend protection, so access is granted only once payment is confirmed in the ledger database.</a:t>
            </a:r>
            <a:endParaRPr lang="en-US" sz="1250" dirty="0"/>
          </a:p>
        </p:txBody>
      </p:sp>
      <p:sp>
        <p:nvSpPr>
          <p:cNvPr id="25" name="Text 18"/>
          <p:cNvSpPr/>
          <p:nvPr/>
        </p:nvSpPr>
        <p:spPr>
          <a:xfrm>
            <a:off x="457200" y="6473952"/>
            <a:ext cx="1371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spc="200" kern="0" dirty="0">
                <a:solidFill>
                  <a:srgbClr val="6B70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QMA</a:t>
            </a:r>
            <a:endParaRPr lang="en-US" sz="900" dirty="0"/>
          </a:p>
        </p:txBody>
      </p:sp>
      <p:sp>
        <p:nvSpPr>
          <p:cNvPr id="26" name="Text 19"/>
          <p:cNvSpPr/>
          <p:nvPr/>
        </p:nvSpPr>
        <p:spPr>
          <a:xfrm>
            <a:off x="10725912" y="6473952"/>
            <a:ext cx="10058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0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 / 16</a:t>
            </a:r>
            <a:endParaRPr lang="en-US" sz="9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090A1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b="1" spc="300" kern="0" dirty="0">
                <a:solidFill>
                  <a:srgbClr val="8B5C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 INFRASTRUCTURE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05156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The Autonomous Agent Wallet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548640" y="1874520"/>
            <a:ext cx="4754880" cy="4069080"/>
          </a:xfrm>
          <a:prstGeom prst="roundRect">
            <a:avLst>
              <a:gd name="adj" fmla="val 2697"/>
            </a:avLst>
          </a:prstGeom>
          <a:solidFill>
            <a:srgbClr val="0F1A16"/>
          </a:solidFill>
          <a:ln w="12700">
            <a:solidFill>
              <a:srgbClr val="22243A"/>
            </a:solidFill>
            <a:prstDash val="solid"/>
          </a:ln>
          <a:effectLst>
            <a:outerShdw sx="100000" sy="100000" kx="0" ky="0" algn="bl" rotWithShape="0" blurRad="152400" dist="38100" dir="5400000">
              <a:srgbClr val="000000">
                <a:alpha val="35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914400" y="2194560"/>
            <a:ext cx="2377440" cy="457200"/>
          </a:xfrm>
          <a:prstGeom prst="roundRect">
            <a:avLst>
              <a:gd name="adj" fmla="val 50000"/>
            </a:avLst>
          </a:prstGeom>
          <a:solidFill>
            <a:srgbClr val="12241C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914400" y="2194560"/>
            <a:ext cx="23774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spc="100" kern="0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SCA · SMART WALLET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2423160" y="2834640"/>
            <a:ext cx="1005840" cy="1005840"/>
          </a:xfrm>
          <a:prstGeom prst="ellipse">
            <a:avLst/>
          </a:prstGeom>
          <a:solidFill>
            <a:srgbClr val="12241C"/>
          </a:solidFill>
          <a:ln w="12700">
            <a:solidFill>
              <a:srgbClr val="10B981"/>
            </a:solidFill>
            <a:prstDash val="solid"/>
          </a:ln>
        </p:spPr>
      </p:sp>
      <p:pic>
        <p:nvPicPr>
          <p:cNvPr id="8" name="Image 0" descr="/home/claude/qma_deck/assets/key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553919" y="2965399"/>
            <a:ext cx="744322" cy="744322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1188720" y="4160520"/>
            <a:ext cx="36576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4400" b="1" dirty="0">
                <a:solidFill>
                  <a:srgbClr val="10B981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$10 / day</a:t>
            </a:r>
            <a:endParaRPr lang="en-US" sz="4400" dirty="0"/>
          </a:p>
        </p:txBody>
      </p:sp>
      <p:sp>
        <p:nvSpPr>
          <p:cNvPr id="10" name="Text 7"/>
          <p:cNvSpPr/>
          <p:nvPr/>
        </p:nvSpPr>
        <p:spPr>
          <a:xfrm>
            <a:off x="1188720" y="4873752"/>
            <a:ext cx="3657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9CA0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EXAMPLE AUTONOMOUS SPEND CAP</a:t>
            </a:r>
            <a:endParaRPr lang="en-US" sz="1100" dirty="0"/>
          </a:p>
        </p:txBody>
      </p:sp>
      <p:sp>
        <p:nvSpPr>
          <p:cNvPr id="11" name="Text 8"/>
          <p:cNvSpPr/>
          <p:nvPr/>
        </p:nvSpPr>
        <p:spPr>
          <a:xfrm>
            <a:off x="1188720" y="5349240"/>
            <a:ext cx="3657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9CA0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Owner's MetaMask is never exposed to the agent.</a:t>
            </a:r>
            <a:endParaRPr lang="en-US" sz="1150" dirty="0"/>
          </a:p>
        </p:txBody>
      </p:sp>
      <p:sp>
        <p:nvSpPr>
          <p:cNvPr id="12" name="Shape 9"/>
          <p:cNvSpPr/>
          <p:nvPr/>
        </p:nvSpPr>
        <p:spPr>
          <a:xfrm>
            <a:off x="5623560" y="1965960"/>
            <a:ext cx="457200" cy="457200"/>
          </a:xfrm>
          <a:prstGeom prst="ellipse">
            <a:avLst/>
          </a:prstGeom>
          <a:solidFill>
            <a:srgbClr val="1D1E30"/>
          </a:solidFill>
          <a:ln w="12700">
            <a:solidFill>
              <a:srgbClr val="10B981"/>
            </a:solidFill>
            <a:prstDash val="solid"/>
          </a:ln>
        </p:spPr>
      </p:sp>
      <p:pic>
        <p:nvPicPr>
          <p:cNvPr id="13" name="Image 1" descr="/home/claude/qma_deck/assets/clock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682996" y="2025396"/>
            <a:ext cx="338328" cy="338328"/>
          </a:xfrm>
          <a:prstGeom prst="rect">
            <a:avLst/>
          </a:prstGeom>
        </p:spPr>
      </p:pic>
      <p:sp>
        <p:nvSpPr>
          <p:cNvPr id="14" name="Text 10"/>
          <p:cNvSpPr/>
          <p:nvPr/>
        </p:nvSpPr>
        <p:spPr>
          <a:xfrm>
            <a:off x="6281928" y="1938528"/>
            <a:ext cx="5376672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Programmatic Spend Policies</a:t>
            </a:r>
            <a:endParaRPr lang="en-US" sz="1500" dirty="0"/>
          </a:p>
        </p:txBody>
      </p:sp>
      <p:sp>
        <p:nvSpPr>
          <p:cNvPr id="15" name="Text 11"/>
          <p:cNvSpPr/>
          <p:nvPr/>
        </p:nvSpPr>
        <p:spPr>
          <a:xfrm>
            <a:off x="6281928" y="2221992"/>
            <a:ext cx="5376672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9CA0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Set spending caps — hourly, daily, or monthly — so the agent can buy reports autonomously.</a:t>
            </a:r>
            <a:endParaRPr lang="en-US" sz="1200" dirty="0"/>
          </a:p>
        </p:txBody>
      </p:sp>
      <p:sp>
        <p:nvSpPr>
          <p:cNvPr id="16" name="Shape 12"/>
          <p:cNvSpPr/>
          <p:nvPr/>
        </p:nvSpPr>
        <p:spPr>
          <a:xfrm>
            <a:off x="5623560" y="3246120"/>
            <a:ext cx="457200" cy="457200"/>
          </a:xfrm>
          <a:prstGeom prst="ellipse">
            <a:avLst/>
          </a:prstGeom>
          <a:solidFill>
            <a:srgbClr val="1D1E30"/>
          </a:solidFill>
          <a:ln w="12700">
            <a:solidFill>
              <a:srgbClr val="10B981"/>
            </a:solidFill>
            <a:prstDash val="solid"/>
          </a:ln>
        </p:spPr>
      </p:sp>
      <p:pic>
        <p:nvPicPr>
          <p:cNvPr id="17" name="Image 2" descr="/home/claude/qma_deck/assets/shiel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682996" y="3305556"/>
            <a:ext cx="338328" cy="338328"/>
          </a:xfrm>
          <a:prstGeom prst="rect">
            <a:avLst/>
          </a:prstGeom>
        </p:spPr>
      </p:pic>
      <p:sp>
        <p:nvSpPr>
          <p:cNvPr id="18" name="Text 13"/>
          <p:cNvSpPr/>
          <p:nvPr/>
        </p:nvSpPr>
        <p:spPr>
          <a:xfrm>
            <a:off x="6281928" y="3218688"/>
            <a:ext cx="5376672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Non-Custodial Limits</a:t>
            </a:r>
            <a:endParaRPr lang="en-US" sz="1500" dirty="0"/>
          </a:p>
        </p:txBody>
      </p:sp>
      <p:sp>
        <p:nvSpPr>
          <p:cNvPr id="19" name="Text 14"/>
          <p:cNvSpPr/>
          <p:nvPr/>
        </p:nvSpPr>
        <p:spPr>
          <a:xfrm>
            <a:off x="6281928" y="3502152"/>
            <a:ext cx="5376672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9CA0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owner's MetaMask is never exposed to the agent, and limits are enforced on-chain.</a:t>
            </a:r>
            <a:endParaRPr lang="en-US" sz="1200" dirty="0"/>
          </a:p>
        </p:txBody>
      </p:sp>
      <p:sp>
        <p:nvSpPr>
          <p:cNvPr id="20" name="Shape 15"/>
          <p:cNvSpPr/>
          <p:nvPr/>
        </p:nvSpPr>
        <p:spPr>
          <a:xfrm>
            <a:off x="5623560" y="4526280"/>
            <a:ext cx="457200" cy="457200"/>
          </a:xfrm>
          <a:prstGeom prst="ellipse">
            <a:avLst/>
          </a:prstGeom>
          <a:solidFill>
            <a:srgbClr val="1D1E30"/>
          </a:solidFill>
          <a:ln w="12700">
            <a:solidFill>
              <a:srgbClr val="10B981"/>
            </a:solidFill>
            <a:prstDash val="solid"/>
          </a:ln>
        </p:spPr>
      </p:sp>
      <p:pic>
        <p:nvPicPr>
          <p:cNvPr id="21" name="Image 3" descr="/home/claude/qma_deck/assets/zap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682996" y="4585716"/>
            <a:ext cx="338328" cy="338328"/>
          </a:xfrm>
          <a:prstGeom prst="rect">
            <a:avLst/>
          </a:prstGeom>
        </p:spPr>
      </p:pic>
      <p:sp>
        <p:nvSpPr>
          <p:cNvPr id="22" name="Text 16"/>
          <p:cNvSpPr/>
          <p:nvPr/>
        </p:nvSpPr>
        <p:spPr>
          <a:xfrm>
            <a:off x="6281928" y="4498848"/>
            <a:ext cx="5376672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Abstracted Gas Fees</a:t>
            </a:r>
            <a:endParaRPr lang="en-US" sz="1500" dirty="0"/>
          </a:p>
        </p:txBody>
      </p:sp>
      <p:sp>
        <p:nvSpPr>
          <p:cNvPr id="23" name="Text 17"/>
          <p:cNvSpPr/>
          <p:nvPr/>
        </p:nvSpPr>
        <p:spPr>
          <a:xfrm>
            <a:off x="6281928" y="4782312"/>
            <a:ext cx="5376672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9CA0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Gas is abstracted so agent transactions execute cleanly, without holding a native token.</a:t>
            </a:r>
            <a:endParaRPr lang="en-US" sz="1200" dirty="0"/>
          </a:p>
        </p:txBody>
      </p:sp>
      <p:sp>
        <p:nvSpPr>
          <p:cNvPr id="24" name="Text 18"/>
          <p:cNvSpPr/>
          <p:nvPr/>
        </p:nvSpPr>
        <p:spPr>
          <a:xfrm>
            <a:off x="457200" y="6473952"/>
            <a:ext cx="1371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spc="200" kern="0" dirty="0">
                <a:solidFill>
                  <a:srgbClr val="6B70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QMA</a:t>
            </a:r>
            <a:endParaRPr lang="en-US" sz="900" dirty="0"/>
          </a:p>
        </p:txBody>
      </p:sp>
      <p:sp>
        <p:nvSpPr>
          <p:cNvPr id="25" name="Text 19"/>
          <p:cNvSpPr/>
          <p:nvPr/>
        </p:nvSpPr>
        <p:spPr>
          <a:xfrm>
            <a:off x="10725912" y="6473952"/>
            <a:ext cx="10058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0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 / 16</a:t>
            </a:r>
            <a:endParaRPr lang="en-US" sz="9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090A1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b="1" spc="300" kern="0" dirty="0">
                <a:solidFill>
                  <a:srgbClr val="8B5C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MARKETPLACE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05156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Creator &amp; Provider Registry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548640" y="1783080"/>
            <a:ext cx="5212080" cy="4206240"/>
          </a:xfrm>
          <a:prstGeom prst="roundRect">
            <a:avLst>
              <a:gd name="adj" fmla="val 2609"/>
            </a:avLst>
          </a:prstGeom>
          <a:solidFill>
            <a:srgbClr val="14151F"/>
          </a:solidFill>
          <a:ln w="12700">
            <a:solidFill>
              <a:srgbClr val="22243A"/>
            </a:solidFill>
            <a:prstDash val="solid"/>
          </a:ln>
          <a:effectLst>
            <a:outerShdw sx="100000" sy="100000" kx="0" ky="0" algn="bl" rotWithShape="0" blurRad="152400" dist="38100" dir="5400000">
              <a:srgbClr val="000000">
                <a:alpha val="35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868680" y="2057400"/>
            <a:ext cx="4572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Creator Dashboard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868680" y="246888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CA0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Claimable earnings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868680" y="2743200"/>
            <a:ext cx="36576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4400" b="1" dirty="0">
                <a:solidFill>
                  <a:srgbClr val="10B981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$2,148.60</a:t>
            </a:r>
            <a:endParaRPr lang="en-US" sz="4400" dirty="0"/>
          </a:p>
        </p:txBody>
      </p:sp>
      <p:sp>
        <p:nvSpPr>
          <p:cNvPr id="8" name="Text 6"/>
          <p:cNvSpPr/>
          <p:nvPr/>
        </p:nvSpPr>
        <p:spPr>
          <a:xfrm>
            <a:off x="868680" y="3456432"/>
            <a:ext cx="3657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9CA0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USDC ACCRUED THIS MONTH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868680" y="5120640"/>
            <a:ext cx="574766" cy="502920"/>
          </a:xfrm>
          <a:prstGeom prst="roundRect">
            <a:avLst>
              <a:gd name="adj" fmla="val 7273"/>
            </a:avLst>
          </a:prstGeom>
          <a:solidFill>
            <a:srgbClr val="2A2C45"/>
          </a:solidFill>
          <a:ln/>
        </p:spPr>
      </p:sp>
      <p:sp>
        <p:nvSpPr>
          <p:cNvPr id="10" name="Shape 8"/>
          <p:cNvSpPr/>
          <p:nvPr/>
        </p:nvSpPr>
        <p:spPr>
          <a:xfrm>
            <a:off x="1534886" y="4919472"/>
            <a:ext cx="574766" cy="704088"/>
          </a:xfrm>
          <a:prstGeom prst="roundRect">
            <a:avLst>
              <a:gd name="adj" fmla="val 6364"/>
            </a:avLst>
          </a:prstGeom>
          <a:solidFill>
            <a:srgbClr val="2A2C45"/>
          </a:solidFill>
          <a:ln/>
        </p:spPr>
      </p:sp>
      <p:sp>
        <p:nvSpPr>
          <p:cNvPr id="11" name="Shape 9"/>
          <p:cNvSpPr/>
          <p:nvPr/>
        </p:nvSpPr>
        <p:spPr>
          <a:xfrm>
            <a:off x="2201091" y="5221224"/>
            <a:ext cx="574766" cy="402336"/>
          </a:xfrm>
          <a:prstGeom prst="roundRect">
            <a:avLst>
              <a:gd name="adj" fmla="val 9091"/>
            </a:avLst>
          </a:prstGeom>
          <a:solidFill>
            <a:srgbClr val="2A2C45"/>
          </a:solidFill>
          <a:ln/>
        </p:spPr>
      </p:sp>
      <p:sp>
        <p:nvSpPr>
          <p:cNvPr id="12" name="Shape 10"/>
          <p:cNvSpPr/>
          <p:nvPr/>
        </p:nvSpPr>
        <p:spPr>
          <a:xfrm>
            <a:off x="2867297" y="4718304"/>
            <a:ext cx="574766" cy="905256"/>
          </a:xfrm>
          <a:prstGeom prst="roundRect">
            <a:avLst>
              <a:gd name="adj" fmla="val 6364"/>
            </a:avLst>
          </a:prstGeom>
          <a:solidFill>
            <a:srgbClr val="2A2C45"/>
          </a:solidFill>
          <a:ln/>
        </p:spPr>
      </p:sp>
      <p:sp>
        <p:nvSpPr>
          <p:cNvPr id="13" name="Shape 11"/>
          <p:cNvSpPr/>
          <p:nvPr/>
        </p:nvSpPr>
        <p:spPr>
          <a:xfrm>
            <a:off x="3533503" y="4969764"/>
            <a:ext cx="574766" cy="653796"/>
          </a:xfrm>
          <a:prstGeom prst="roundRect">
            <a:avLst>
              <a:gd name="adj" fmla="val 6364"/>
            </a:avLst>
          </a:prstGeom>
          <a:solidFill>
            <a:srgbClr val="2A2C45"/>
          </a:solidFill>
          <a:ln/>
        </p:spPr>
      </p:sp>
      <p:sp>
        <p:nvSpPr>
          <p:cNvPr id="14" name="Shape 12"/>
          <p:cNvSpPr/>
          <p:nvPr/>
        </p:nvSpPr>
        <p:spPr>
          <a:xfrm>
            <a:off x="4199709" y="4617720"/>
            <a:ext cx="574766" cy="1005840"/>
          </a:xfrm>
          <a:prstGeom prst="roundRect">
            <a:avLst>
              <a:gd name="adj" fmla="val 6364"/>
            </a:avLst>
          </a:prstGeom>
          <a:solidFill>
            <a:srgbClr val="2A2C45"/>
          </a:solidFill>
          <a:ln/>
        </p:spPr>
      </p:sp>
      <p:sp>
        <p:nvSpPr>
          <p:cNvPr id="15" name="Shape 13"/>
          <p:cNvSpPr/>
          <p:nvPr/>
        </p:nvSpPr>
        <p:spPr>
          <a:xfrm>
            <a:off x="4865914" y="4818888"/>
            <a:ext cx="574766" cy="804672"/>
          </a:xfrm>
          <a:prstGeom prst="roundRect">
            <a:avLst>
              <a:gd name="adj" fmla="val 6364"/>
            </a:avLst>
          </a:prstGeom>
          <a:solidFill>
            <a:srgbClr val="10B981"/>
          </a:solidFill>
          <a:ln/>
        </p:spPr>
      </p:sp>
      <p:sp>
        <p:nvSpPr>
          <p:cNvPr id="16" name="Shape 14"/>
          <p:cNvSpPr/>
          <p:nvPr/>
        </p:nvSpPr>
        <p:spPr>
          <a:xfrm>
            <a:off x="868680" y="5806440"/>
            <a:ext cx="4572000" cy="502920"/>
          </a:xfrm>
          <a:prstGeom prst="roundRect">
            <a:avLst>
              <a:gd name="adj" fmla="val 50909"/>
            </a:avLst>
          </a:prstGeom>
          <a:solidFill>
            <a:srgbClr val="10B981"/>
          </a:solidFill>
          <a:ln/>
        </p:spPr>
      </p:sp>
      <p:sp>
        <p:nvSpPr>
          <p:cNvPr id="17" name="Text 15"/>
          <p:cNvSpPr/>
          <p:nvPr/>
        </p:nvSpPr>
        <p:spPr>
          <a:xfrm>
            <a:off x="868680" y="5806440"/>
            <a:ext cx="45720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07110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Withdraw Earnings</a:t>
            </a:r>
            <a:endParaRPr lang="en-US" sz="1250" dirty="0"/>
          </a:p>
        </p:txBody>
      </p:sp>
      <p:sp>
        <p:nvSpPr>
          <p:cNvPr id="18" name="Shape 16"/>
          <p:cNvSpPr/>
          <p:nvPr/>
        </p:nvSpPr>
        <p:spPr>
          <a:xfrm>
            <a:off x="6263640" y="1965960"/>
            <a:ext cx="457200" cy="457200"/>
          </a:xfrm>
          <a:prstGeom prst="ellipse">
            <a:avLst/>
          </a:prstGeom>
          <a:solidFill>
            <a:srgbClr val="1D1E30"/>
          </a:solidFill>
          <a:ln w="12700">
            <a:solidFill>
              <a:srgbClr val="8B5CF6"/>
            </a:solidFill>
            <a:prstDash val="solid"/>
          </a:ln>
        </p:spPr>
      </p:sp>
      <p:pic>
        <p:nvPicPr>
          <p:cNvPr id="19" name="Image 0" descr="/home/claude/qma_deck/assets/users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323076" y="2025396"/>
            <a:ext cx="338328" cy="338328"/>
          </a:xfrm>
          <a:prstGeom prst="rect">
            <a:avLst/>
          </a:prstGeom>
        </p:spPr>
      </p:pic>
      <p:sp>
        <p:nvSpPr>
          <p:cNvPr id="20" name="Text 17"/>
          <p:cNvSpPr/>
          <p:nvPr/>
        </p:nvSpPr>
        <p:spPr>
          <a:xfrm>
            <a:off x="6922008" y="1938528"/>
            <a:ext cx="4690872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Decentralized Listings</a:t>
            </a:r>
            <a:endParaRPr lang="en-US" sz="1500" dirty="0"/>
          </a:p>
        </p:txBody>
      </p:sp>
      <p:sp>
        <p:nvSpPr>
          <p:cNvPr id="21" name="Text 18"/>
          <p:cNvSpPr/>
          <p:nvPr/>
        </p:nvSpPr>
        <p:spPr>
          <a:xfrm>
            <a:off x="6922008" y="2221992"/>
            <a:ext cx="4690872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9CA0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Creators register analytical models or data providers on the platform.</a:t>
            </a:r>
            <a:endParaRPr lang="en-US" sz="1200" dirty="0"/>
          </a:p>
        </p:txBody>
      </p:sp>
      <p:sp>
        <p:nvSpPr>
          <p:cNvPr id="22" name="Shape 19"/>
          <p:cNvSpPr/>
          <p:nvPr/>
        </p:nvSpPr>
        <p:spPr>
          <a:xfrm>
            <a:off x="6263640" y="3246120"/>
            <a:ext cx="457200" cy="457200"/>
          </a:xfrm>
          <a:prstGeom prst="ellipse">
            <a:avLst/>
          </a:prstGeom>
          <a:solidFill>
            <a:srgbClr val="1D1E30"/>
          </a:solidFill>
          <a:ln w="12700">
            <a:solidFill>
              <a:srgbClr val="8B5CF6"/>
            </a:solidFill>
            <a:prstDash val="solid"/>
          </a:ln>
        </p:spPr>
      </p:sp>
      <p:pic>
        <p:nvPicPr>
          <p:cNvPr id="23" name="Image 1" descr="/home/claude/qma_deck/assets/link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323076" y="3305556"/>
            <a:ext cx="338328" cy="338328"/>
          </a:xfrm>
          <a:prstGeom prst="rect">
            <a:avLst/>
          </a:prstGeom>
        </p:spPr>
      </p:pic>
      <p:sp>
        <p:nvSpPr>
          <p:cNvPr id="24" name="Text 20"/>
          <p:cNvSpPr/>
          <p:nvPr/>
        </p:nvSpPr>
        <p:spPr>
          <a:xfrm>
            <a:off x="6922008" y="3218688"/>
            <a:ext cx="4690872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Direct Gateway Splits</a:t>
            </a:r>
            <a:endParaRPr lang="en-US" sz="1500" dirty="0"/>
          </a:p>
        </p:txBody>
      </p:sp>
      <p:sp>
        <p:nvSpPr>
          <p:cNvPr id="25" name="Text 21"/>
          <p:cNvSpPr/>
          <p:nvPr/>
        </p:nvSpPr>
        <p:spPr>
          <a:xfrm>
            <a:off x="6922008" y="3502152"/>
            <a:ext cx="4690872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9CA0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Fees are split automatically between creators and platform at the contract level.</a:t>
            </a:r>
            <a:endParaRPr lang="en-US" sz="1200" dirty="0"/>
          </a:p>
        </p:txBody>
      </p:sp>
      <p:sp>
        <p:nvSpPr>
          <p:cNvPr id="26" name="Shape 22"/>
          <p:cNvSpPr/>
          <p:nvPr/>
        </p:nvSpPr>
        <p:spPr>
          <a:xfrm>
            <a:off x="6263640" y="4526280"/>
            <a:ext cx="457200" cy="457200"/>
          </a:xfrm>
          <a:prstGeom prst="ellipse">
            <a:avLst/>
          </a:prstGeom>
          <a:solidFill>
            <a:srgbClr val="1D1E30"/>
          </a:solidFill>
          <a:ln w="12700">
            <a:solidFill>
              <a:srgbClr val="8B5CF6"/>
            </a:solidFill>
            <a:prstDash val="solid"/>
          </a:ln>
        </p:spPr>
      </p:sp>
      <p:pic>
        <p:nvPicPr>
          <p:cNvPr id="27" name="Image 2" descr="/home/claude/qma_deck/assets/dollar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23076" y="4585716"/>
            <a:ext cx="338328" cy="338328"/>
          </a:xfrm>
          <a:prstGeom prst="rect">
            <a:avLst/>
          </a:prstGeom>
        </p:spPr>
      </p:pic>
      <p:sp>
        <p:nvSpPr>
          <p:cNvPr id="28" name="Text 23"/>
          <p:cNvSpPr/>
          <p:nvPr/>
        </p:nvSpPr>
        <p:spPr>
          <a:xfrm>
            <a:off x="6922008" y="4498848"/>
            <a:ext cx="4690872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Ledger Claims</a:t>
            </a:r>
            <a:endParaRPr lang="en-US" sz="1500" dirty="0"/>
          </a:p>
        </p:txBody>
      </p:sp>
      <p:sp>
        <p:nvSpPr>
          <p:cNvPr id="29" name="Text 24"/>
          <p:cNvSpPr/>
          <p:nvPr/>
        </p:nvSpPr>
        <p:spPr>
          <a:xfrm>
            <a:off x="6922008" y="4782312"/>
            <a:ext cx="4690872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9CA0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Creators can withdraw accrued claimable ledger earnings instantly.</a:t>
            </a:r>
            <a:endParaRPr lang="en-US" sz="1200" dirty="0"/>
          </a:p>
        </p:txBody>
      </p:sp>
      <p:sp>
        <p:nvSpPr>
          <p:cNvPr id="30" name="Text 25"/>
          <p:cNvSpPr/>
          <p:nvPr/>
        </p:nvSpPr>
        <p:spPr>
          <a:xfrm>
            <a:off x="457200" y="6473952"/>
            <a:ext cx="1371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spc="200" kern="0" dirty="0">
                <a:solidFill>
                  <a:srgbClr val="6B70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QMA</a:t>
            </a:r>
            <a:endParaRPr lang="en-US" sz="900" dirty="0"/>
          </a:p>
        </p:txBody>
      </p:sp>
      <p:sp>
        <p:nvSpPr>
          <p:cNvPr id="31" name="Text 26"/>
          <p:cNvSpPr/>
          <p:nvPr/>
        </p:nvSpPr>
        <p:spPr>
          <a:xfrm>
            <a:off x="10725912" y="6473952"/>
            <a:ext cx="10058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0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 / 16</a:t>
            </a:r>
            <a:endParaRPr lang="en-US" sz="9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090A1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b="1" spc="300" kern="0" dirty="0">
                <a:solidFill>
                  <a:srgbClr val="8B5C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UNDER THE HOOD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05156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Core Technical Stack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548640" y="1920240"/>
            <a:ext cx="5362956" cy="1828800"/>
          </a:xfrm>
          <a:prstGeom prst="roundRect">
            <a:avLst>
              <a:gd name="adj" fmla="val 6000"/>
            </a:avLst>
          </a:prstGeom>
          <a:solidFill>
            <a:srgbClr val="14151F"/>
          </a:solidFill>
          <a:ln w="12700">
            <a:solidFill>
              <a:srgbClr val="22243A"/>
            </a:solidFill>
            <a:prstDash val="solid"/>
          </a:ln>
          <a:effectLst>
            <a:outerShdw sx="100000" sy="100000" kx="0" ky="0" algn="bl" rotWithShape="0" blurRad="152400" dist="38100" dir="5400000">
              <a:srgbClr val="000000">
                <a:alpha val="35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914400" y="2423160"/>
            <a:ext cx="822960" cy="822960"/>
          </a:xfrm>
          <a:prstGeom prst="ellipse">
            <a:avLst/>
          </a:prstGeom>
          <a:solidFill>
            <a:srgbClr val="1D1E30"/>
          </a:solidFill>
          <a:ln w="12700">
            <a:solidFill>
              <a:srgbClr val="2775CA"/>
            </a:solidFill>
            <a:prstDash val="solid"/>
          </a:ln>
        </p:spPr>
      </p:sp>
      <p:pic>
        <p:nvPicPr>
          <p:cNvPr id="6" name="Image 0" descr="/home/claude/qma_deck/assets/server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21385" y="2530145"/>
            <a:ext cx="608990" cy="60899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920240" y="2286000"/>
            <a:ext cx="3717036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Backend</a:t>
            </a:r>
            <a:endParaRPr lang="en-US" sz="1600" dirty="0"/>
          </a:p>
        </p:txBody>
      </p:sp>
      <p:sp>
        <p:nvSpPr>
          <p:cNvPr id="8" name="Text 5"/>
          <p:cNvSpPr/>
          <p:nvPr/>
        </p:nvSpPr>
        <p:spPr>
          <a:xfrm>
            <a:off x="1920240" y="2697480"/>
            <a:ext cx="3717036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200" dirty="0">
                <a:solidFill>
                  <a:srgbClr val="9CA0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Python 3.11 · FastAPI</a:t>
            </a:r>
            <a:endParaRPr lang="en-US" sz="1200" dirty="0"/>
          </a:p>
        </p:txBody>
      </p:sp>
      <p:sp>
        <p:nvSpPr>
          <p:cNvPr id="9" name="Shape 6"/>
          <p:cNvSpPr/>
          <p:nvPr/>
        </p:nvSpPr>
        <p:spPr>
          <a:xfrm>
            <a:off x="6277356" y="1920240"/>
            <a:ext cx="5362956" cy="1828800"/>
          </a:xfrm>
          <a:prstGeom prst="roundRect">
            <a:avLst>
              <a:gd name="adj" fmla="val 6000"/>
            </a:avLst>
          </a:prstGeom>
          <a:solidFill>
            <a:srgbClr val="14151F"/>
          </a:solidFill>
          <a:ln w="12700">
            <a:solidFill>
              <a:srgbClr val="22243A"/>
            </a:solidFill>
            <a:prstDash val="solid"/>
          </a:ln>
          <a:effectLst>
            <a:outerShdw sx="100000" sy="100000" kx="0" ky="0" algn="bl" rotWithShape="0" blurRad="152400" dist="38100" dir="5400000">
              <a:srgbClr val="000000">
                <a:alpha val="35000"/>
              </a:srgbClr>
            </a:outerShdw>
          </a:effectLst>
        </p:spPr>
      </p:sp>
      <p:sp>
        <p:nvSpPr>
          <p:cNvPr id="10" name="Shape 7"/>
          <p:cNvSpPr/>
          <p:nvPr/>
        </p:nvSpPr>
        <p:spPr>
          <a:xfrm>
            <a:off x="6643116" y="2423160"/>
            <a:ext cx="822960" cy="822960"/>
          </a:xfrm>
          <a:prstGeom prst="ellipse">
            <a:avLst/>
          </a:prstGeom>
          <a:solidFill>
            <a:srgbClr val="1D1E30"/>
          </a:solidFill>
          <a:ln w="12700">
            <a:solidFill>
              <a:srgbClr val="3B82F6"/>
            </a:solidFill>
            <a:prstDash val="solid"/>
          </a:ln>
        </p:spPr>
      </p:sp>
      <p:pic>
        <p:nvPicPr>
          <p:cNvPr id="11" name="Image 1" descr="/home/claude/qma_deck/assets/database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750101" y="2530145"/>
            <a:ext cx="608990" cy="608990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7648956" y="2286000"/>
            <a:ext cx="3717036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Storage</a:t>
            </a:r>
            <a:endParaRPr lang="en-US" sz="1600" dirty="0"/>
          </a:p>
        </p:txBody>
      </p:sp>
      <p:sp>
        <p:nvSpPr>
          <p:cNvPr id="13" name="Text 9"/>
          <p:cNvSpPr/>
          <p:nvPr/>
        </p:nvSpPr>
        <p:spPr>
          <a:xfrm>
            <a:off x="7648956" y="2697480"/>
            <a:ext cx="3717036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200" dirty="0">
                <a:solidFill>
                  <a:srgbClr val="9CA0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Supabase PostgreSQL · payment event tables</a:t>
            </a:r>
            <a:endParaRPr lang="en-US" sz="1200" dirty="0"/>
          </a:p>
        </p:txBody>
      </p:sp>
      <p:sp>
        <p:nvSpPr>
          <p:cNvPr id="14" name="Shape 10"/>
          <p:cNvSpPr/>
          <p:nvPr/>
        </p:nvSpPr>
        <p:spPr>
          <a:xfrm>
            <a:off x="548640" y="4114800"/>
            <a:ext cx="5362956" cy="1828800"/>
          </a:xfrm>
          <a:prstGeom prst="roundRect">
            <a:avLst>
              <a:gd name="adj" fmla="val 6000"/>
            </a:avLst>
          </a:prstGeom>
          <a:solidFill>
            <a:srgbClr val="14151F"/>
          </a:solidFill>
          <a:ln w="12700">
            <a:solidFill>
              <a:srgbClr val="22243A"/>
            </a:solidFill>
            <a:prstDash val="solid"/>
          </a:ln>
          <a:effectLst>
            <a:outerShdw sx="100000" sy="100000" kx="0" ky="0" algn="bl" rotWithShape="0" blurRad="152400" dist="38100" dir="5400000">
              <a:srgbClr val="000000">
                <a:alpha val="35000"/>
              </a:srgbClr>
            </a:outerShdw>
          </a:effectLst>
        </p:spPr>
      </p:sp>
      <p:sp>
        <p:nvSpPr>
          <p:cNvPr id="15" name="Shape 11"/>
          <p:cNvSpPr/>
          <p:nvPr/>
        </p:nvSpPr>
        <p:spPr>
          <a:xfrm>
            <a:off x="914400" y="4617720"/>
            <a:ext cx="822960" cy="822960"/>
          </a:xfrm>
          <a:prstGeom prst="ellipse">
            <a:avLst/>
          </a:prstGeom>
          <a:solidFill>
            <a:srgbClr val="1D1E30"/>
          </a:solidFill>
          <a:ln w="12700">
            <a:solidFill>
              <a:srgbClr val="6366F1"/>
            </a:solidFill>
            <a:prstDash val="solid"/>
          </a:ln>
        </p:spPr>
      </p:sp>
      <p:pic>
        <p:nvPicPr>
          <p:cNvPr id="16" name="Image 2" descr="/home/claude/qma_deck/assets/code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21385" y="4724705"/>
            <a:ext cx="608990" cy="608990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1920240" y="4480560"/>
            <a:ext cx="3717036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Frontend</a:t>
            </a:r>
            <a:endParaRPr lang="en-US" sz="1600" dirty="0"/>
          </a:p>
        </p:txBody>
      </p:sp>
      <p:sp>
        <p:nvSpPr>
          <p:cNvPr id="18" name="Text 13"/>
          <p:cNvSpPr/>
          <p:nvPr/>
        </p:nvSpPr>
        <p:spPr>
          <a:xfrm>
            <a:off x="1920240" y="4892040"/>
            <a:ext cx="3717036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200" dirty="0">
                <a:solidFill>
                  <a:srgbClr val="9CA0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React 18 · Vite · TypeScript</a:t>
            </a:r>
            <a:endParaRPr lang="en-US" sz="1200" dirty="0"/>
          </a:p>
        </p:txBody>
      </p:sp>
      <p:sp>
        <p:nvSpPr>
          <p:cNvPr id="19" name="Shape 14"/>
          <p:cNvSpPr/>
          <p:nvPr/>
        </p:nvSpPr>
        <p:spPr>
          <a:xfrm>
            <a:off x="6277356" y="4114800"/>
            <a:ext cx="5362956" cy="1828800"/>
          </a:xfrm>
          <a:prstGeom prst="roundRect">
            <a:avLst>
              <a:gd name="adj" fmla="val 6000"/>
            </a:avLst>
          </a:prstGeom>
          <a:solidFill>
            <a:srgbClr val="14151F"/>
          </a:solidFill>
          <a:ln w="12700">
            <a:solidFill>
              <a:srgbClr val="22243A"/>
            </a:solidFill>
            <a:prstDash val="solid"/>
          </a:ln>
          <a:effectLst>
            <a:outerShdw sx="100000" sy="100000" kx="0" ky="0" algn="bl" rotWithShape="0" blurRad="152400" dist="38100" dir="5400000">
              <a:srgbClr val="000000">
                <a:alpha val="35000"/>
              </a:srgbClr>
            </a:outerShdw>
          </a:effectLst>
        </p:spPr>
      </p:sp>
      <p:sp>
        <p:nvSpPr>
          <p:cNvPr id="20" name="Shape 15"/>
          <p:cNvSpPr/>
          <p:nvPr/>
        </p:nvSpPr>
        <p:spPr>
          <a:xfrm>
            <a:off x="6643116" y="4617720"/>
            <a:ext cx="822960" cy="822960"/>
          </a:xfrm>
          <a:prstGeom prst="ellipse">
            <a:avLst/>
          </a:prstGeom>
          <a:solidFill>
            <a:srgbClr val="1D1E30"/>
          </a:solidFill>
          <a:ln w="12700">
            <a:solidFill>
              <a:srgbClr val="8B5CF6"/>
            </a:solidFill>
            <a:prstDash val="solid"/>
          </a:ln>
        </p:spPr>
      </p:sp>
      <p:pic>
        <p:nvPicPr>
          <p:cNvPr id="21" name="Image 3" descr="/home/claude/qma_deck/assets/link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750101" y="4724705"/>
            <a:ext cx="608990" cy="608990"/>
          </a:xfrm>
          <a:prstGeom prst="rect">
            <a:avLst/>
          </a:prstGeom>
        </p:spPr>
      </p:pic>
      <p:sp>
        <p:nvSpPr>
          <p:cNvPr id="22" name="Text 16"/>
          <p:cNvSpPr/>
          <p:nvPr/>
        </p:nvSpPr>
        <p:spPr>
          <a:xfrm>
            <a:off x="7648956" y="4480560"/>
            <a:ext cx="3717036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Blockchain</a:t>
            </a:r>
            <a:endParaRPr lang="en-US" sz="1600" dirty="0"/>
          </a:p>
        </p:txBody>
      </p:sp>
      <p:sp>
        <p:nvSpPr>
          <p:cNvPr id="23" name="Text 17"/>
          <p:cNvSpPr/>
          <p:nvPr/>
        </p:nvSpPr>
        <p:spPr>
          <a:xfrm>
            <a:off x="7648956" y="4892040"/>
            <a:ext cx="3717036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200" dirty="0">
                <a:solidFill>
                  <a:srgbClr val="9CA0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Ethers.js · MetaMask · Circle Developer Wallets SDK</a:t>
            </a:r>
            <a:endParaRPr lang="en-US" sz="1200" dirty="0"/>
          </a:p>
        </p:txBody>
      </p:sp>
      <p:sp>
        <p:nvSpPr>
          <p:cNvPr id="24" name="Text 18"/>
          <p:cNvSpPr/>
          <p:nvPr/>
        </p:nvSpPr>
        <p:spPr>
          <a:xfrm>
            <a:off x="457200" y="6473952"/>
            <a:ext cx="1371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spc="200" kern="0" dirty="0">
                <a:solidFill>
                  <a:srgbClr val="6B70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QMA</a:t>
            </a:r>
            <a:endParaRPr lang="en-US" sz="900" dirty="0"/>
          </a:p>
        </p:txBody>
      </p:sp>
      <p:sp>
        <p:nvSpPr>
          <p:cNvPr id="25" name="Text 19"/>
          <p:cNvSpPr/>
          <p:nvPr/>
        </p:nvSpPr>
        <p:spPr>
          <a:xfrm>
            <a:off x="10725912" y="6473952"/>
            <a:ext cx="10058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0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 / 16</a:t>
            </a:r>
            <a:endParaRPr lang="en-US" sz="9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090A1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b="1" spc="300" kern="0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TRUST &amp; SAFETY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05156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Security &amp; Safety Framework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548640" y="1874520"/>
            <a:ext cx="4297680" cy="4069080"/>
          </a:xfrm>
          <a:prstGeom prst="roundRect">
            <a:avLst>
              <a:gd name="adj" fmla="val 2697"/>
            </a:avLst>
          </a:prstGeom>
          <a:solidFill>
            <a:srgbClr val="0E1A16"/>
          </a:solidFill>
          <a:ln w="12700">
            <a:solidFill>
              <a:srgbClr val="22243A"/>
            </a:solidFill>
            <a:prstDash val="solid"/>
          </a:ln>
          <a:effectLst>
            <a:outerShdw sx="100000" sy="100000" kx="0" ky="0" algn="bl" rotWithShape="0" blurRad="152400" dist="38100" dir="5400000">
              <a:srgbClr val="000000">
                <a:alpha val="35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1965960" y="2651760"/>
            <a:ext cx="1463040" cy="1463040"/>
          </a:xfrm>
          <a:prstGeom prst="ellipse">
            <a:avLst/>
          </a:prstGeom>
          <a:solidFill>
            <a:srgbClr val="0F241C"/>
          </a:solidFill>
          <a:ln w="12700">
            <a:solidFill>
              <a:srgbClr val="10B981"/>
            </a:solidFill>
            <a:prstDash val="solid"/>
          </a:ln>
        </p:spPr>
      </p:sp>
      <p:pic>
        <p:nvPicPr>
          <p:cNvPr id="6" name="Image 0" descr="/home/claude/qma_deck/assets/shiel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156155" y="2841955"/>
            <a:ext cx="1082650" cy="108265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548640" y="4434840"/>
            <a:ext cx="42976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spc="100" kern="0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NON-CUSTODIAL FIRST</a:t>
            </a:r>
            <a:endParaRPr lang="en-US" sz="1600" dirty="0"/>
          </a:p>
        </p:txBody>
      </p:sp>
      <p:sp>
        <p:nvSpPr>
          <p:cNvPr id="8" name="Text 5"/>
          <p:cNvSpPr/>
          <p:nvPr/>
        </p:nvSpPr>
        <p:spPr>
          <a:xfrm>
            <a:off x="822960" y="4846320"/>
            <a:ext cx="37490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9CA0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QMA never holds user private keys.</a:t>
            </a:r>
            <a:endParaRPr lang="en-US" sz="1200" dirty="0"/>
          </a:p>
        </p:txBody>
      </p:sp>
      <p:sp>
        <p:nvSpPr>
          <p:cNvPr id="9" name="Shape 6"/>
          <p:cNvSpPr/>
          <p:nvPr/>
        </p:nvSpPr>
        <p:spPr>
          <a:xfrm>
            <a:off x="5257800" y="1965960"/>
            <a:ext cx="457200" cy="457200"/>
          </a:xfrm>
          <a:prstGeom prst="ellipse">
            <a:avLst/>
          </a:prstGeom>
          <a:solidFill>
            <a:srgbClr val="1D1E30"/>
          </a:solidFill>
          <a:ln w="12700">
            <a:solidFill>
              <a:srgbClr val="10B981"/>
            </a:solidFill>
            <a:prstDash val="solid"/>
          </a:ln>
        </p:spPr>
      </p:sp>
      <p:pic>
        <p:nvPicPr>
          <p:cNvPr id="10" name="Image 1" descr="/home/claude/qma_deck/assets/check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317236" y="2025396"/>
            <a:ext cx="338328" cy="338328"/>
          </a:xfrm>
          <a:prstGeom prst="rect">
            <a:avLst/>
          </a:prstGeom>
        </p:spPr>
      </p:pic>
      <p:sp>
        <p:nvSpPr>
          <p:cNvPr id="11" name="Text 7"/>
          <p:cNvSpPr/>
          <p:nvPr/>
        </p:nvSpPr>
        <p:spPr>
          <a:xfrm>
            <a:off x="5916168" y="1938528"/>
            <a:ext cx="5696712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EIP-712 Typed Signing</a:t>
            </a:r>
            <a:endParaRPr lang="en-US" sz="1500" dirty="0"/>
          </a:p>
        </p:txBody>
      </p:sp>
      <p:sp>
        <p:nvSpPr>
          <p:cNvPr id="12" name="Text 8"/>
          <p:cNvSpPr/>
          <p:nvPr/>
        </p:nvSpPr>
        <p:spPr>
          <a:xfrm>
            <a:off x="5916168" y="2221992"/>
            <a:ext cx="5696712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9CA0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Users explicitly sign transaction intents before anything executes.</a:t>
            </a:r>
            <a:endParaRPr lang="en-US" sz="1200" dirty="0"/>
          </a:p>
        </p:txBody>
      </p:sp>
      <p:sp>
        <p:nvSpPr>
          <p:cNvPr id="13" name="Shape 9"/>
          <p:cNvSpPr/>
          <p:nvPr/>
        </p:nvSpPr>
        <p:spPr>
          <a:xfrm>
            <a:off x="5257800" y="3291840"/>
            <a:ext cx="457200" cy="457200"/>
          </a:xfrm>
          <a:prstGeom prst="ellipse">
            <a:avLst/>
          </a:prstGeom>
          <a:solidFill>
            <a:srgbClr val="1D1E30"/>
          </a:solidFill>
          <a:ln w="12700">
            <a:solidFill>
              <a:srgbClr val="10B981"/>
            </a:solidFill>
            <a:prstDash val="solid"/>
          </a:ln>
        </p:spPr>
      </p:sp>
      <p:pic>
        <p:nvPicPr>
          <p:cNvPr id="14" name="Image 2" descr="/home/claude/qma_deck/assets/check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317236" y="3351276"/>
            <a:ext cx="338328" cy="338328"/>
          </a:xfrm>
          <a:prstGeom prst="rect">
            <a:avLst/>
          </a:prstGeom>
        </p:spPr>
      </p:pic>
      <p:sp>
        <p:nvSpPr>
          <p:cNvPr id="15" name="Text 10"/>
          <p:cNvSpPr/>
          <p:nvPr/>
        </p:nvSpPr>
        <p:spPr>
          <a:xfrm>
            <a:off x="5916168" y="3264408"/>
            <a:ext cx="5696712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Circle Vault Security</a:t>
            </a:r>
            <a:endParaRPr lang="en-US" sz="1500" dirty="0"/>
          </a:p>
        </p:txBody>
      </p:sp>
      <p:sp>
        <p:nvSpPr>
          <p:cNvPr id="16" name="Text 11"/>
          <p:cNvSpPr/>
          <p:nvPr/>
        </p:nvSpPr>
        <p:spPr>
          <a:xfrm>
            <a:off x="5916168" y="3547872"/>
            <a:ext cx="5696712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9CA0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Developer-controlled wallets are secured under Circle's enterprise-grade KMS.</a:t>
            </a:r>
            <a:endParaRPr lang="en-US" sz="1200" dirty="0"/>
          </a:p>
        </p:txBody>
      </p:sp>
      <p:sp>
        <p:nvSpPr>
          <p:cNvPr id="17" name="Shape 12"/>
          <p:cNvSpPr/>
          <p:nvPr/>
        </p:nvSpPr>
        <p:spPr>
          <a:xfrm>
            <a:off x="5257800" y="4617720"/>
            <a:ext cx="457200" cy="457200"/>
          </a:xfrm>
          <a:prstGeom prst="ellipse">
            <a:avLst/>
          </a:prstGeom>
          <a:solidFill>
            <a:srgbClr val="1D1E30"/>
          </a:solidFill>
          <a:ln w="12700">
            <a:solidFill>
              <a:srgbClr val="10B981"/>
            </a:solidFill>
            <a:prstDash val="solid"/>
          </a:ln>
        </p:spPr>
      </p:sp>
      <p:pic>
        <p:nvPicPr>
          <p:cNvPr id="18" name="Image 3" descr="/home/claude/qma_deck/assets/check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317236" y="4677156"/>
            <a:ext cx="338328" cy="338328"/>
          </a:xfrm>
          <a:prstGeom prst="rect">
            <a:avLst/>
          </a:prstGeom>
        </p:spPr>
      </p:pic>
      <p:sp>
        <p:nvSpPr>
          <p:cNvPr id="19" name="Text 13"/>
          <p:cNvSpPr/>
          <p:nvPr/>
        </p:nvSpPr>
        <p:spPr>
          <a:xfrm>
            <a:off x="5916168" y="4590288"/>
            <a:ext cx="5696712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Idempotency Keys</a:t>
            </a:r>
            <a:endParaRPr lang="en-US" sz="1500" dirty="0"/>
          </a:p>
        </p:txBody>
      </p:sp>
      <p:sp>
        <p:nvSpPr>
          <p:cNvPr id="20" name="Text 14"/>
          <p:cNvSpPr/>
          <p:nvPr/>
        </p:nvSpPr>
        <p:spPr>
          <a:xfrm>
            <a:off x="5916168" y="4873752"/>
            <a:ext cx="5696712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9CA0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Prevents double-spend and duplicate charges across every request.</a:t>
            </a:r>
            <a:endParaRPr lang="en-US" sz="1200" dirty="0"/>
          </a:p>
        </p:txBody>
      </p:sp>
      <p:sp>
        <p:nvSpPr>
          <p:cNvPr id="21" name="Text 15"/>
          <p:cNvSpPr/>
          <p:nvPr/>
        </p:nvSpPr>
        <p:spPr>
          <a:xfrm>
            <a:off x="457200" y="6473952"/>
            <a:ext cx="1371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spc="200" kern="0" dirty="0">
                <a:solidFill>
                  <a:srgbClr val="6B70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QMA</a:t>
            </a:r>
            <a:endParaRPr lang="en-US" sz="900" dirty="0"/>
          </a:p>
        </p:txBody>
      </p:sp>
      <p:sp>
        <p:nvSpPr>
          <p:cNvPr id="22" name="Text 16"/>
          <p:cNvSpPr/>
          <p:nvPr/>
        </p:nvSpPr>
        <p:spPr>
          <a:xfrm>
            <a:off x="10725912" y="6473952"/>
            <a:ext cx="10058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0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 / 16</a:t>
            </a:r>
            <a:endParaRPr lang="en-US" sz="9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090A1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b="1" spc="300" kern="0" dirty="0">
                <a:solidFill>
                  <a:srgbClr val="8B5C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WHAT'S NEXT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05156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QMA Roadmap &amp; Future Vision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1280160" y="2514600"/>
            <a:ext cx="9601200" cy="0"/>
          </a:xfrm>
          <a:prstGeom prst="line">
            <a:avLst/>
          </a:prstGeom>
          <a:noFill/>
          <a:ln w="25400">
            <a:solidFill>
              <a:srgbClr val="22243A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1982724" y="2221992"/>
            <a:ext cx="585216" cy="585216"/>
          </a:xfrm>
          <a:prstGeom prst="ellipse">
            <a:avLst/>
          </a:prstGeom>
          <a:solidFill>
            <a:srgbClr val="6366F1"/>
          </a:solidFill>
          <a:ln w="19050">
            <a:solidFill>
              <a:srgbClr val="6366F1"/>
            </a:solidFill>
            <a:prstDash val="solid"/>
          </a:ln>
        </p:spPr>
      </p:sp>
      <p:pic>
        <p:nvPicPr>
          <p:cNvPr id="6" name="Image 0" descr="/home/claude/qma_deck/assets/flag1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119884" y="2359152"/>
            <a:ext cx="310896" cy="310896"/>
          </a:xfrm>
          <a:prstGeom prst="rect">
            <a:avLst/>
          </a:prstGeom>
        </p:spPr>
      </p:pic>
      <p:sp>
        <p:nvSpPr>
          <p:cNvPr id="7" name="Shape 4"/>
          <p:cNvSpPr/>
          <p:nvPr/>
        </p:nvSpPr>
        <p:spPr>
          <a:xfrm>
            <a:off x="548640" y="2743200"/>
            <a:ext cx="3453384" cy="3200400"/>
          </a:xfrm>
          <a:prstGeom prst="roundRect">
            <a:avLst>
              <a:gd name="adj" fmla="val 3429"/>
            </a:avLst>
          </a:prstGeom>
          <a:solidFill>
            <a:srgbClr val="17172C"/>
          </a:solidFill>
          <a:ln w="12700">
            <a:solidFill>
              <a:srgbClr val="6366F1"/>
            </a:solidFill>
            <a:prstDash val="solid"/>
          </a:ln>
          <a:effectLst>
            <a:outerShdw sx="100000" sy="100000" kx="0" ky="0" algn="bl" rotWithShape="0" blurRad="152400" dist="38100" dir="5400000">
              <a:srgbClr val="000000">
                <a:alpha val="35000"/>
              </a:srgbClr>
            </a:outerShdw>
          </a:effectLst>
        </p:spPr>
      </p:sp>
      <p:sp>
        <p:nvSpPr>
          <p:cNvPr id="8" name="Text 5"/>
          <p:cNvSpPr/>
          <p:nvPr/>
        </p:nvSpPr>
        <p:spPr>
          <a:xfrm>
            <a:off x="822960" y="2999232"/>
            <a:ext cx="2904744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150" kern="0" dirty="0">
                <a:solidFill>
                  <a:srgbClr val="6366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1 · CURRENT</a:t>
            </a:r>
            <a:endParaRPr lang="en-US" sz="1000" dirty="0"/>
          </a:p>
        </p:txBody>
      </p:sp>
      <p:sp>
        <p:nvSpPr>
          <p:cNvPr id="9" name="Text 6"/>
          <p:cNvSpPr/>
          <p:nvPr/>
        </p:nvSpPr>
        <p:spPr>
          <a:xfrm>
            <a:off x="822960" y="3291840"/>
            <a:ext cx="2904744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Foundation</a:t>
            </a:r>
            <a:endParaRPr lang="en-US" sz="1800" dirty="0"/>
          </a:p>
        </p:txBody>
      </p:sp>
      <p:sp>
        <p:nvSpPr>
          <p:cNvPr id="10" name="Text 7"/>
          <p:cNvSpPr/>
          <p:nvPr/>
        </p:nvSpPr>
        <p:spPr>
          <a:xfrm>
            <a:off x="822960" y="3840480"/>
            <a:ext cx="2904744" cy="1920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152400" indent="-152400">
              <a:lnSpc>
                <a:spcPct val="120000"/>
              </a:lnSpc>
              <a:spcAft>
                <a:spcPts val="800"/>
              </a:spcAft>
              <a:buSzPct val="100000"/>
              <a:buChar char="•"/>
            </a:pPr>
            <a:r>
              <a:rPr lang="en-US" sz="1150" dirty="0">
                <a:solidFill>
                  <a:srgbClr val="9CA0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Arc Testnet deployment</a:t>
            </a:r>
            <a:endParaRPr lang="en-US" sz="1150" dirty="0"/>
          </a:p>
          <a:p>
            <a:pPr marL="152400" indent="-152400">
              <a:lnSpc>
                <a:spcPct val="120000"/>
              </a:lnSpc>
              <a:spcAft>
                <a:spcPts val="800"/>
              </a:spcAft>
              <a:buSzPct val="100000"/>
              <a:buChar char="•"/>
            </a:pPr>
            <a:r>
              <a:rPr lang="en-US" sz="1150" dirty="0">
                <a:solidFill>
                  <a:srgbClr val="9CA0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Unified wallet interfaces</a:t>
            </a:r>
            <a:endParaRPr lang="en-US" sz="1150" dirty="0"/>
          </a:p>
          <a:p>
            <a:pPr marL="152400" indent="-152400">
              <a:lnSpc>
                <a:spcPct val="120000"/>
              </a:lnSpc>
              <a:spcAft>
                <a:spcPts val="800"/>
              </a:spcAft>
              <a:buSzPct val="100000"/>
              <a:buChar char="•"/>
            </a:pPr>
            <a:r>
              <a:rPr lang="en-US" sz="1150" dirty="0">
                <a:solidFill>
                  <a:srgbClr val="9CA0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HTTP 402 middleware</a:t>
            </a:r>
            <a:endParaRPr lang="en-US" sz="1150" dirty="0"/>
          </a:p>
        </p:txBody>
      </p:sp>
      <p:sp>
        <p:nvSpPr>
          <p:cNvPr id="11" name="Shape 8"/>
          <p:cNvSpPr/>
          <p:nvPr/>
        </p:nvSpPr>
        <p:spPr>
          <a:xfrm>
            <a:off x="5801868" y="2221992"/>
            <a:ext cx="585216" cy="585216"/>
          </a:xfrm>
          <a:prstGeom prst="ellipse">
            <a:avLst/>
          </a:prstGeom>
          <a:solidFill>
            <a:srgbClr val="14151F"/>
          </a:solidFill>
          <a:ln w="19050">
            <a:solidFill>
              <a:srgbClr val="8B5CF6"/>
            </a:solidFill>
            <a:prstDash val="solid"/>
          </a:ln>
        </p:spPr>
      </p:sp>
      <p:pic>
        <p:nvPicPr>
          <p:cNvPr id="12" name="Image 1" descr="/home/claude/qma_deck/assets/flag2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39028" y="2359152"/>
            <a:ext cx="310896" cy="310896"/>
          </a:xfrm>
          <a:prstGeom prst="rect">
            <a:avLst/>
          </a:prstGeom>
        </p:spPr>
      </p:pic>
      <p:sp>
        <p:nvSpPr>
          <p:cNvPr id="13" name="Shape 9"/>
          <p:cNvSpPr/>
          <p:nvPr/>
        </p:nvSpPr>
        <p:spPr>
          <a:xfrm>
            <a:off x="4367784" y="2743200"/>
            <a:ext cx="3453384" cy="3200400"/>
          </a:xfrm>
          <a:prstGeom prst="roundRect">
            <a:avLst>
              <a:gd name="adj" fmla="val 3429"/>
            </a:avLst>
          </a:prstGeom>
          <a:solidFill>
            <a:srgbClr val="14151F"/>
          </a:solidFill>
          <a:ln w="12700">
            <a:solidFill>
              <a:srgbClr val="22243A"/>
            </a:solidFill>
            <a:prstDash val="solid"/>
          </a:ln>
          <a:effectLst>
            <a:outerShdw sx="100000" sy="100000" kx="0" ky="0" algn="bl" rotWithShape="0" blurRad="152400" dist="38100" dir="5400000">
              <a:srgbClr val="000000">
                <a:alpha val="35000"/>
              </a:srgbClr>
            </a:outerShdw>
          </a:effectLst>
        </p:spPr>
      </p:sp>
      <p:sp>
        <p:nvSpPr>
          <p:cNvPr id="14" name="Text 10"/>
          <p:cNvSpPr/>
          <p:nvPr/>
        </p:nvSpPr>
        <p:spPr>
          <a:xfrm>
            <a:off x="4642104" y="2999232"/>
            <a:ext cx="2904744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150" kern="0" dirty="0">
                <a:solidFill>
                  <a:srgbClr val="8B5C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2</a:t>
            </a:r>
            <a:endParaRPr lang="en-US" sz="1000" dirty="0"/>
          </a:p>
        </p:txBody>
      </p:sp>
      <p:sp>
        <p:nvSpPr>
          <p:cNvPr id="15" name="Text 11"/>
          <p:cNvSpPr/>
          <p:nvPr/>
        </p:nvSpPr>
        <p:spPr>
          <a:xfrm>
            <a:off x="4642104" y="3291840"/>
            <a:ext cx="2904744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Expansion</a:t>
            </a:r>
            <a:endParaRPr lang="en-US" sz="1800" dirty="0"/>
          </a:p>
        </p:txBody>
      </p:sp>
      <p:sp>
        <p:nvSpPr>
          <p:cNvPr id="16" name="Text 12"/>
          <p:cNvSpPr/>
          <p:nvPr/>
        </p:nvSpPr>
        <p:spPr>
          <a:xfrm>
            <a:off x="4642104" y="3840480"/>
            <a:ext cx="2904744" cy="1920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152400" indent="-152400">
              <a:lnSpc>
                <a:spcPct val="120000"/>
              </a:lnSpc>
              <a:spcAft>
                <a:spcPts val="800"/>
              </a:spcAft>
              <a:buSzPct val="100000"/>
              <a:buChar char="•"/>
            </a:pPr>
            <a:r>
              <a:rPr lang="en-US" sz="1150" dirty="0">
                <a:solidFill>
                  <a:srgbClr val="9CA0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Circle CCTP mainnet bridges</a:t>
            </a:r>
            <a:endParaRPr lang="en-US" sz="1150" dirty="0"/>
          </a:p>
          <a:p>
            <a:pPr marL="152400" indent="-152400">
              <a:lnSpc>
                <a:spcPct val="120000"/>
              </a:lnSpc>
              <a:spcAft>
                <a:spcPts val="800"/>
              </a:spcAft>
              <a:buSzPct val="100000"/>
              <a:buChar char="•"/>
            </a:pPr>
            <a:r>
              <a:rPr lang="en-US" sz="1150" dirty="0">
                <a:solidFill>
                  <a:srgbClr val="9CA0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Multi-agent negotiation network</a:t>
            </a:r>
            <a:endParaRPr lang="en-US" sz="1150" dirty="0"/>
          </a:p>
          <a:p>
            <a:pPr marL="152400" indent="-152400">
              <a:lnSpc>
                <a:spcPct val="120000"/>
              </a:lnSpc>
              <a:spcAft>
                <a:spcPts val="800"/>
              </a:spcAft>
              <a:buSzPct val="100000"/>
              <a:buChar char="•"/>
            </a:pPr>
            <a:r>
              <a:rPr lang="en-US" sz="1150" dirty="0">
                <a:solidFill>
                  <a:srgbClr val="9CA0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Predictive market models</a:t>
            </a:r>
            <a:endParaRPr lang="en-US" sz="1150" dirty="0"/>
          </a:p>
        </p:txBody>
      </p:sp>
      <p:sp>
        <p:nvSpPr>
          <p:cNvPr id="17" name="Shape 13"/>
          <p:cNvSpPr/>
          <p:nvPr/>
        </p:nvSpPr>
        <p:spPr>
          <a:xfrm>
            <a:off x="9621012" y="2221992"/>
            <a:ext cx="585216" cy="585216"/>
          </a:xfrm>
          <a:prstGeom prst="ellipse">
            <a:avLst/>
          </a:prstGeom>
          <a:solidFill>
            <a:srgbClr val="14151F"/>
          </a:solidFill>
          <a:ln w="19050">
            <a:solidFill>
              <a:srgbClr val="2775CA"/>
            </a:solidFill>
            <a:prstDash val="solid"/>
          </a:ln>
        </p:spPr>
      </p:sp>
      <p:pic>
        <p:nvPicPr>
          <p:cNvPr id="18" name="Image 2" descr="/home/claude/qma_deck/assets/flag3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758172" y="2359152"/>
            <a:ext cx="310896" cy="310896"/>
          </a:xfrm>
          <a:prstGeom prst="rect">
            <a:avLst/>
          </a:prstGeom>
        </p:spPr>
      </p:pic>
      <p:sp>
        <p:nvSpPr>
          <p:cNvPr id="19" name="Shape 14"/>
          <p:cNvSpPr/>
          <p:nvPr/>
        </p:nvSpPr>
        <p:spPr>
          <a:xfrm>
            <a:off x="8186928" y="2743200"/>
            <a:ext cx="3453384" cy="3200400"/>
          </a:xfrm>
          <a:prstGeom prst="roundRect">
            <a:avLst>
              <a:gd name="adj" fmla="val 3429"/>
            </a:avLst>
          </a:prstGeom>
          <a:solidFill>
            <a:srgbClr val="14151F"/>
          </a:solidFill>
          <a:ln w="12700">
            <a:solidFill>
              <a:srgbClr val="22243A"/>
            </a:solidFill>
            <a:prstDash val="solid"/>
          </a:ln>
          <a:effectLst>
            <a:outerShdw sx="100000" sy="100000" kx="0" ky="0" algn="bl" rotWithShape="0" blurRad="152400" dist="38100" dir="5400000">
              <a:srgbClr val="000000">
                <a:alpha val="35000"/>
              </a:srgbClr>
            </a:outerShdw>
          </a:effectLst>
        </p:spPr>
      </p:sp>
      <p:sp>
        <p:nvSpPr>
          <p:cNvPr id="20" name="Text 15"/>
          <p:cNvSpPr/>
          <p:nvPr/>
        </p:nvSpPr>
        <p:spPr>
          <a:xfrm>
            <a:off x="8461248" y="2999232"/>
            <a:ext cx="2904744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150" kern="0" dirty="0">
                <a:solidFill>
                  <a:srgbClr val="2775C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3</a:t>
            </a:r>
            <a:endParaRPr lang="en-US" sz="1000" dirty="0"/>
          </a:p>
        </p:txBody>
      </p:sp>
      <p:sp>
        <p:nvSpPr>
          <p:cNvPr id="21" name="Text 16"/>
          <p:cNvSpPr/>
          <p:nvPr/>
        </p:nvSpPr>
        <p:spPr>
          <a:xfrm>
            <a:off x="8461248" y="3291840"/>
            <a:ext cx="2904744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Decentralization</a:t>
            </a:r>
            <a:endParaRPr lang="en-US" sz="1800" dirty="0"/>
          </a:p>
        </p:txBody>
      </p:sp>
      <p:sp>
        <p:nvSpPr>
          <p:cNvPr id="22" name="Text 17"/>
          <p:cNvSpPr/>
          <p:nvPr/>
        </p:nvSpPr>
        <p:spPr>
          <a:xfrm>
            <a:off x="8461248" y="3840480"/>
            <a:ext cx="2904744" cy="1920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152400" indent="-152400">
              <a:lnSpc>
                <a:spcPct val="120000"/>
              </a:lnSpc>
              <a:spcAft>
                <a:spcPts val="800"/>
              </a:spcAft>
              <a:buSzPct val="100000"/>
              <a:buChar char="•"/>
            </a:pPr>
            <a:r>
              <a:rPr lang="en-US" sz="1150" dirty="0">
                <a:solidFill>
                  <a:srgbClr val="9CA0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Fully decentralized agent marketplace</a:t>
            </a:r>
            <a:endParaRPr lang="en-US" sz="1150" dirty="0"/>
          </a:p>
          <a:p>
            <a:pPr marL="152400" indent="-152400">
              <a:lnSpc>
                <a:spcPct val="120000"/>
              </a:lnSpc>
              <a:spcAft>
                <a:spcPts val="800"/>
              </a:spcAft>
              <a:buSzPct val="100000"/>
              <a:buChar char="•"/>
            </a:pPr>
            <a:r>
              <a:rPr lang="en-US" sz="1150" dirty="0">
                <a:solidFill>
                  <a:srgbClr val="9CA0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Cross-chain atomic settlement</a:t>
            </a:r>
            <a:endParaRPr lang="en-US" sz="1150" dirty="0"/>
          </a:p>
        </p:txBody>
      </p:sp>
      <p:sp>
        <p:nvSpPr>
          <p:cNvPr id="23" name="Text 18"/>
          <p:cNvSpPr/>
          <p:nvPr/>
        </p:nvSpPr>
        <p:spPr>
          <a:xfrm>
            <a:off x="457200" y="6473952"/>
            <a:ext cx="1371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spc="200" kern="0" dirty="0">
                <a:solidFill>
                  <a:srgbClr val="6B70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QMA</a:t>
            </a:r>
            <a:endParaRPr lang="en-US" sz="900" dirty="0"/>
          </a:p>
        </p:txBody>
      </p:sp>
      <p:sp>
        <p:nvSpPr>
          <p:cNvPr id="24" name="Text 19"/>
          <p:cNvSpPr/>
          <p:nvPr/>
        </p:nvSpPr>
        <p:spPr>
          <a:xfrm>
            <a:off x="10725912" y="6473952"/>
            <a:ext cx="10058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0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 / 16</a:t>
            </a:r>
            <a:endParaRPr lang="en-US" sz="9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090A1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91440" y="640080"/>
            <a:ext cx="5852160" cy="5852160"/>
          </a:xfrm>
          <a:prstGeom prst="ellipse">
            <a:avLst/>
          </a:prstGeom>
          <a:solidFill>
            <a:srgbClr val="6366F1">
              <a:alpha val="8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640080" y="1371600"/>
            <a:ext cx="4389120" cy="4389120"/>
          </a:xfrm>
          <a:prstGeom prst="ellipse">
            <a:avLst/>
          </a:prstGeom>
          <a:solidFill>
            <a:srgbClr val="8B5CF6">
              <a:alpha val="14000"/>
            </a:srgbClr>
          </a:solidFill>
          <a:ln/>
        </p:spPr>
      </p:sp>
      <p:sp>
        <p:nvSpPr>
          <p:cNvPr id="4" name="Shape 2"/>
          <p:cNvSpPr/>
          <p:nvPr/>
        </p:nvSpPr>
        <p:spPr>
          <a:xfrm>
            <a:off x="1371600" y="2103120"/>
            <a:ext cx="2926080" cy="2926080"/>
          </a:xfrm>
          <a:prstGeom prst="ellipse">
            <a:avLst/>
          </a:prstGeom>
          <a:solidFill>
            <a:srgbClr val="3B82F6">
              <a:alpha val="20000"/>
            </a:srgbClr>
          </a:solidFill>
          <a:ln/>
        </p:spPr>
      </p:sp>
      <p:sp>
        <p:nvSpPr>
          <p:cNvPr id="5" name="Shape 3"/>
          <p:cNvSpPr/>
          <p:nvPr/>
        </p:nvSpPr>
        <p:spPr>
          <a:xfrm>
            <a:off x="2057400" y="2514600"/>
            <a:ext cx="1554480" cy="1554480"/>
          </a:xfrm>
          <a:prstGeom prst="ellipse">
            <a:avLst/>
          </a:prstGeom>
          <a:solidFill>
            <a:srgbClr val="171833"/>
          </a:solidFill>
          <a:ln w="12700">
            <a:solidFill>
              <a:srgbClr val="2775CA"/>
            </a:solidFill>
            <a:prstDash val="solid"/>
          </a:ln>
        </p:spPr>
      </p:sp>
      <p:pic>
        <p:nvPicPr>
          <p:cNvPr id="6" name="Image 0" descr="/home/claude/qma_deck/assets/dollar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259482" y="2716682"/>
            <a:ext cx="1150315" cy="1150315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548640" y="4389120"/>
            <a:ext cx="45720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400" b="1" spc="300" kern="0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QMA</a:t>
            </a:r>
            <a:endParaRPr lang="en-US" sz="3400" dirty="0"/>
          </a:p>
        </p:txBody>
      </p:sp>
      <p:sp>
        <p:nvSpPr>
          <p:cNvPr id="8" name="Text 5"/>
          <p:cNvSpPr/>
          <p:nvPr/>
        </p:nvSpPr>
        <p:spPr>
          <a:xfrm>
            <a:off x="548640" y="498348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8B5C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qma.advisor.io</a:t>
            </a:r>
            <a:endParaRPr lang="en-US" sz="1400" dirty="0"/>
          </a:p>
        </p:txBody>
      </p:sp>
      <p:sp>
        <p:nvSpPr>
          <p:cNvPr id="9" name="Text 6"/>
          <p:cNvSpPr/>
          <p:nvPr/>
        </p:nvSpPr>
        <p:spPr>
          <a:xfrm>
            <a:off x="6035040" y="155448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b="1" spc="300" kern="0" dirty="0">
                <a:solidFill>
                  <a:srgbClr val="8B5C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SUMMARY</a:t>
            </a:r>
            <a:endParaRPr lang="en-US" sz="1200" dirty="0"/>
          </a:p>
        </p:txBody>
      </p:sp>
      <p:sp>
        <p:nvSpPr>
          <p:cNvPr id="10" name="Text 7"/>
          <p:cNvSpPr/>
          <p:nvPr/>
        </p:nvSpPr>
        <p:spPr>
          <a:xfrm>
            <a:off x="6035040" y="1828800"/>
            <a:ext cx="55778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The Future of Agentic FinTech</a:t>
            </a:r>
            <a:endParaRPr lang="en-US" sz="2600" dirty="0"/>
          </a:p>
        </p:txBody>
      </p:sp>
      <p:sp>
        <p:nvSpPr>
          <p:cNvPr id="11" name="Shape 8"/>
          <p:cNvSpPr/>
          <p:nvPr/>
        </p:nvSpPr>
        <p:spPr>
          <a:xfrm>
            <a:off x="6035040" y="2926080"/>
            <a:ext cx="512064" cy="512064"/>
          </a:xfrm>
          <a:prstGeom prst="ellipse">
            <a:avLst/>
          </a:prstGeom>
          <a:solidFill>
            <a:srgbClr val="1D1E30"/>
          </a:solidFill>
          <a:ln w="12700">
            <a:solidFill>
              <a:srgbClr val="10B981"/>
            </a:solidFill>
            <a:prstDash val="solid"/>
          </a:ln>
        </p:spPr>
      </p:sp>
      <p:pic>
        <p:nvPicPr>
          <p:cNvPr id="12" name="Image 1" descr="/home/claude/qma_deck/assets/check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101608" y="2992648"/>
            <a:ext cx="378927" cy="378927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6656832" y="2907792"/>
            <a:ext cx="50292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Micro-payments are the missing link for AI agent economies.</a:t>
            </a:r>
            <a:endParaRPr lang="en-US" sz="1400" dirty="0"/>
          </a:p>
        </p:txBody>
      </p:sp>
      <p:sp>
        <p:nvSpPr>
          <p:cNvPr id="14" name="Shape 10"/>
          <p:cNvSpPr/>
          <p:nvPr/>
        </p:nvSpPr>
        <p:spPr>
          <a:xfrm>
            <a:off x="6035040" y="3794760"/>
            <a:ext cx="512064" cy="512064"/>
          </a:xfrm>
          <a:prstGeom prst="ellipse">
            <a:avLst/>
          </a:prstGeom>
          <a:solidFill>
            <a:srgbClr val="1D1E30"/>
          </a:solidFill>
          <a:ln w="12700">
            <a:solidFill>
              <a:srgbClr val="10B981"/>
            </a:solidFill>
            <a:prstDash val="solid"/>
          </a:ln>
        </p:spPr>
      </p:sp>
      <p:pic>
        <p:nvPicPr>
          <p:cNvPr id="15" name="Image 2" descr="/home/claude/qma_deck/assets/check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101608" y="3861328"/>
            <a:ext cx="378927" cy="378927"/>
          </a:xfrm>
          <a:prstGeom prst="rect">
            <a:avLst/>
          </a:prstGeom>
        </p:spPr>
      </p:pic>
      <p:sp>
        <p:nvSpPr>
          <p:cNvPr id="16" name="Text 11"/>
          <p:cNvSpPr/>
          <p:nvPr/>
        </p:nvSpPr>
        <p:spPr>
          <a:xfrm>
            <a:off x="6656832" y="3776472"/>
            <a:ext cx="50292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QMA delivers market intelligence on-demand with zero paywall friction.</a:t>
            </a:r>
            <a:endParaRPr lang="en-US" sz="1400" dirty="0"/>
          </a:p>
        </p:txBody>
      </p:sp>
      <p:sp>
        <p:nvSpPr>
          <p:cNvPr id="17" name="Shape 12"/>
          <p:cNvSpPr/>
          <p:nvPr/>
        </p:nvSpPr>
        <p:spPr>
          <a:xfrm>
            <a:off x="6035040" y="4663440"/>
            <a:ext cx="512064" cy="512064"/>
          </a:xfrm>
          <a:prstGeom prst="ellipse">
            <a:avLst/>
          </a:prstGeom>
          <a:solidFill>
            <a:srgbClr val="1D1E30"/>
          </a:solidFill>
          <a:ln w="12700">
            <a:solidFill>
              <a:srgbClr val="10B981"/>
            </a:solidFill>
            <a:prstDash val="solid"/>
          </a:ln>
        </p:spPr>
      </p:sp>
      <p:pic>
        <p:nvPicPr>
          <p:cNvPr id="18" name="Image 3" descr="/home/claude/qma_deck/assets/check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101608" y="4730008"/>
            <a:ext cx="378927" cy="378927"/>
          </a:xfrm>
          <a:prstGeom prst="rect">
            <a:avLst/>
          </a:prstGeom>
        </p:spPr>
      </p:pic>
      <p:sp>
        <p:nvSpPr>
          <p:cNvPr id="19" name="Text 13"/>
          <p:cNvSpPr/>
          <p:nvPr/>
        </p:nvSpPr>
        <p:spPr>
          <a:xfrm>
            <a:off x="6656832" y="4645152"/>
            <a:ext cx="50292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Circle &amp; Arc make gas-abstracted stablecoin transactions a reality today.</a:t>
            </a:r>
            <a:endParaRPr lang="en-US" sz="1400" dirty="0"/>
          </a:p>
        </p:txBody>
      </p:sp>
      <p:sp>
        <p:nvSpPr>
          <p:cNvPr id="20" name="Text 14"/>
          <p:cNvSpPr/>
          <p:nvPr/>
        </p:nvSpPr>
        <p:spPr>
          <a:xfrm>
            <a:off x="457200" y="6473952"/>
            <a:ext cx="1371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spc="200" kern="0" dirty="0">
                <a:solidFill>
                  <a:srgbClr val="6B70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QMA</a:t>
            </a:r>
            <a:endParaRPr lang="en-US" sz="900" dirty="0"/>
          </a:p>
        </p:txBody>
      </p:sp>
      <p:sp>
        <p:nvSpPr>
          <p:cNvPr id="21" name="Text 15"/>
          <p:cNvSpPr/>
          <p:nvPr/>
        </p:nvSpPr>
        <p:spPr>
          <a:xfrm>
            <a:off x="10725912" y="6473952"/>
            <a:ext cx="10058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0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16 / 16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16</Slides>
  <Notes>16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16</vt:i4>
      </vt:variant>
    </vt:vector>
  </HeadingPairs>
  <TitlesOfParts>
    <vt:vector size="19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2026-07-26T04:56:56Z</dcterms:created>
  <dcterms:modified xsi:type="dcterms:W3CDTF">2026-07-26T04:56:56Z</dcterms:modified>
</cp:coreProperties>
</file>